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59" r:id="rId3"/>
    <p:sldId id="257" r:id="rId4"/>
    <p:sldId id="260" r:id="rId5"/>
    <p:sldId id="269" r:id="rId6"/>
    <p:sldId id="276" r:id="rId7"/>
    <p:sldId id="287" r:id="rId8"/>
    <p:sldId id="289" r:id="rId9"/>
    <p:sldId id="265" r:id="rId10"/>
    <p:sldId id="266" r:id="rId11"/>
    <p:sldId id="290" r:id="rId12"/>
    <p:sldId id="291" r:id="rId13"/>
    <p:sldId id="294" r:id="rId14"/>
    <p:sldId id="292" r:id="rId15"/>
    <p:sldId id="293" r:id="rId16"/>
    <p:sldId id="267" r:id="rId17"/>
    <p:sldId id="274" r:id="rId18"/>
    <p:sldId id="282" r:id="rId19"/>
    <p:sldId id="270" r:id="rId20"/>
    <p:sldId id="268" r:id="rId21"/>
    <p:sldId id="272" r:id="rId22"/>
    <p:sldId id="283" r:id="rId23"/>
    <p:sldId id="285" r:id="rId24"/>
    <p:sldId id="275" r:id="rId25"/>
    <p:sldId id="264" r:id="rId26"/>
    <p:sldId id="277" r:id="rId27"/>
    <p:sldId id="280" r:id="rId28"/>
    <p:sldId id="273" r:id="rId29"/>
    <p:sldId id="281" r:id="rId30"/>
    <p:sldId id="261" r:id="rId31"/>
    <p:sldId id="286" r:id="rId3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192" userDrawn="1">
          <p15:clr>
            <a:srgbClr val="A4A3A4"/>
          </p15:clr>
        </p15:guide>
        <p15:guide id="3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CAEC"/>
    <a:srgbClr val="4068E1"/>
    <a:srgbClr val="FFA200"/>
    <a:srgbClr val="006400"/>
    <a:srgbClr val="8B0000"/>
    <a:srgbClr val="4169E1"/>
    <a:srgbClr val="65A3DE"/>
    <a:srgbClr val="ABB3EB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29" autoAdjust="0"/>
    <p:restoredTop sz="95388" autoAdjust="0"/>
  </p:normalViewPr>
  <p:slideViewPr>
    <p:cSldViewPr snapToGrid="0" showGuides="1">
      <p:cViewPr>
        <p:scale>
          <a:sx n="90" d="100"/>
          <a:sy n="90" d="100"/>
        </p:scale>
        <p:origin x="576" y="53"/>
      </p:cViewPr>
      <p:guideLst>
        <p:guide orient="horz" pos="2208"/>
        <p:guide pos="19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1FED6F9-BC50-4B89-8DDA-87A9A488E372}" type="doc">
      <dgm:prSet loTypeId="urn:microsoft.com/office/officeart/2005/8/layout/chevron1" loCatId="process" qsTypeId="urn:microsoft.com/office/officeart/2005/8/quickstyle/simple1" qsCatId="simple" csTypeId="urn:microsoft.com/office/officeart/2005/8/colors/accent0_1" csCatId="mainScheme" phldr="1"/>
      <dgm:spPr/>
    </dgm:pt>
    <dgm:pt modelId="{074BFA6A-A6B5-4162-89C7-71E1990C47E2}">
      <dgm:prSet phldrT="[Текст]"/>
      <dgm:spPr>
        <a:ln>
          <a:solidFill>
            <a:srgbClr val="65A3DE"/>
          </a:solidFill>
        </a:ln>
      </dgm:spPr>
      <dgm:t>
        <a:bodyPr/>
        <a:lstStyle/>
        <a:p>
          <a:r>
            <a:rPr lang="ru-RU" b="0" smtClean="0"/>
            <a:t>1974</a:t>
          </a:r>
          <a:endParaRPr lang="ru-RU" b="0" dirty="0"/>
        </a:p>
      </dgm:t>
    </dgm:pt>
    <dgm:pt modelId="{B98BE9D3-0ED3-4E15-B536-EC40F2E7822D}" type="parTrans" cxnId="{6C861B9B-37ED-4D70-8946-F2BF00506716}">
      <dgm:prSet/>
      <dgm:spPr/>
      <dgm:t>
        <a:bodyPr/>
        <a:lstStyle/>
        <a:p>
          <a:endParaRPr lang="ru-RU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9F54F8B9-D9CC-41F5-9EEA-6734BE7CD8C7}" type="sibTrans" cxnId="{6C861B9B-37ED-4D70-8946-F2BF00506716}">
      <dgm:prSet/>
      <dgm:spPr/>
      <dgm:t>
        <a:bodyPr/>
        <a:lstStyle/>
        <a:p>
          <a:endParaRPr lang="ru-RU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0EC14E9B-B6E7-49D5-A486-861E45DE8545}">
      <dgm:prSet phldrT="[Текст]"/>
      <dgm:spPr>
        <a:ln>
          <a:solidFill>
            <a:srgbClr val="00B0F0"/>
          </a:solidFill>
        </a:ln>
      </dgm:spPr>
      <dgm:t>
        <a:bodyPr/>
        <a:lstStyle/>
        <a:p>
          <a:r>
            <a:rPr lang="ru-RU" b="0" dirty="0" smtClean="0"/>
            <a:t>1980-82 1988</a:t>
          </a:r>
          <a:endParaRPr lang="ru-RU" b="0" dirty="0"/>
        </a:p>
      </dgm:t>
    </dgm:pt>
    <dgm:pt modelId="{4028E00E-82A5-434B-B53A-E542E988D3B7}" type="parTrans" cxnId="{4760E0F6-7332-43D1-98B8-ED895C10D7F6}">
      <dgm:prSet/>
      <dgm:spPr/>
      <dgm:t>
        <a:bodyPr/>
        <a:lstStyle/>
        <a:p>
          <a:endParaRPr lang="ru-RU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73D34AEE-F45C-4DDD-B241-AF0C5D90E181}" type="sibTrans" cxnId="{4760E0F6-7332-43D1-98B8-ED895C10D7F6}">
      <dgm:prSet/>
      <dgm:spPr/>
      <dgm:t>
        <a:bodyPr/>
        <a:lstStyle/>
        <a:p>
          <a:endParaRPr lang="ru-RU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49FCC745-BD93-438B-BC3A-C1B5B4655CC8}">
      <dgm:prSet phldrT="[Текст]"/>
      <dgm:spPr>
        <a:ln>
          <a:solidFill>
            <a:srgbClr val="00B0F0"/>
          </a:solidFill>
        </a:ln>
      </dgm:spPr>
      <dgm:t>
        <a:bodyPr/>
        <a:lstStyle/>
        <a:p>
          <a:r>
            <a:rPr lang="ru-RU" b="0" dirty="0" smtClean="0"/>
            <a:t>1997-98 2004</a:t>
          </a:r>
          <a:endParaRPr lang="ru-RU" b="0" dirty="0"/>
        </a:p>
      </dgm:t>
    </dgm:pt>
    <dgm:pt modelId="{B9773EEC-D0FD-48FA-9C6B-2911C6A0ED93}" type="parTrans" cxnId="{E97F10C5-023E-4871-BC30-BA5B5CA066B8}">
      <dgm:prSet/>
      <dgm:spPr/>
      <dgm:t>
        <a:bodyPr/>
        <a:lstStyle/>
        <a:p>
          <a:endParaRPr lang="ru-RU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5B6CB70B-5EFF-49D5-925D-31694C22183E}" type="sibTrans" cxnId="{E97F10C5-023E-4871-BC30-BA5B5CA066B8}">
      <dgm:prSet/>
      <dgm:spPr/>
      <dgm:t>
        <a:bodyPr/>
        <a:lstStyle/>
        <a:p>
          <a:endParaRPr lang="ru-RU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3C4824EB-6A20-4708-9EA9-B215A0C08C2B}">
      <dgm:prSet phldrT="[Текст]"/>
      <dgm:spPr>
        <a:ln>
          <a:solidFill>
            <a:srgbClr val="00B0F0"/>
          </a:solidFill>
        </a:ln>
      </dgm:spPr>
      <dgm:t>
        <a:bodyPr/>
        <a:lstStyle/>
        <a:p>
          <a:r>
            <a:rPr lang="ru-RU" b="0" smtClean="0"/>
            <a:t>2007-09 2010</a:t>
          </a:r>
          <a:endParaRPr lang="ru-RU" b="0" dirty="0"/>
        </a:p>
      </dgm:t>
    </dgm:pt>
    <dgm:pt modelId="{EFAE4CC6-73C0-4CD6-85BF-10B3293773A2}" type="parTrans" cxnId="{52C95F3E-C7AC-41C3-8A2D-ACB264E1379A}">
      <dgm:prSet/>
      <dgm:spPr/>
      <dgm:t>
        <a:bodyPr/>
        <a:lstStyle/>
        <a:p>
          <a:endParaRPr lang="ru-RU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AA439A19-2F39-4390-8D71-9C3A9DDC8575}" type="sibTrans" cxnId="{52C95F3E-C7AC-41C3-8A2D-ACB264E1379A}">
      <dgm:prSet/>
      <dgm:spPr/>
      <dgm:t>
        <a:bodyPr/>
        <a:lstStyle/>
        <a:p>
          <a:endParaRPr lang="ru-RU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0DC27B0D-007B-4121-B9B2-EC4FCA78A6CD}" type="pres">
      <dgm:prSet presAssocID="{91FED6F9-BC50-4B89-8DDA-87A9A488E372}" presName="Name0" presStyleCnt="0">
        <dgm:presLayoutVars>
          <dgm:dir/>
          <dgm:animLvl val="lvl"/>
          <dgm:resizeHandles val="exact"/>
        </dgm:presLayoutVars>
      </dgm:prSet>
      <dgm:spPr/>
    </dgm:pt>
    <dgm:pt modelId="{B5EE70CE-1C06-4112-81E2-596AC0C7F19D}" type="pres">
      <dgm:prSet presAssocID="{074BFA6A-A6B5-4162-89C7-71E1990C47E2}" presName="parTxOnly" presStyleLbl="node1" presStyleIdx="0" presStyleCnt="4" custLinFactNeighborX="-1718" custLinFactNeighborY="860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8E34CA3-399B-494A-A22A-2594656508B9}" type="pres">
      <dgm:prSet presAssocID="{9F54F8B9-D9CC-41F5-9EEA-6734BE7CD8C7}" presName="parTxOnlySpace" presStyleCnt="0"/>
      <dgm:spPr/>
    </dgm:pt>
    <dgm:pt modelId="{2E8E3B6D-2C75-453F-AEE8-9225255D42DC}" type="pres">
      <dgm:prSet presAssocID="{0EC14E9B-B6E7-49D5-A486-861E45DE8545}" presName="parTxOnly" presStyleLbl="node1" presStyleIdx="1" presStyleCnt="4" custLinFactNeighborY="860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D9CFB06-CD9B-4A19-9FB2-CC80AAB1E2C3}" type="pres">
      <dgm:prSet presAssocID="{73D34AEE-F45C-4DDD-B241-AF0C5D90E181}" presName="parTxOnlySpace" presStyleCnt="0"/>
      <dgm:spPr/>
    </dgm:pt>
    <dgm:pt modelId="{19DE2555-7DEC-49B1-B03F-2CAEB74D53C8}" type="pres">
      <dgm:prSet presAssocID="{49FCC745-BD93-438B-BC3A-C1B5B4655CC8}" presName="parTxOnly" presStyleLbl="node1" presStyleIdx="2" presStyleCnt="4" custLinFactNeighborY="860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C4FA8B8-FD81-4905-ABC3-AAC5F0FDF851}" type="pres">
      <dgm:prSet presAssocID="{5B6CB70B-5EFF-49D5-925D-31694C22183E}" presName="parTxOnlySpace" presStyleCnt="0"/>
      <dgm:spPr/>
    </dgm:pt>
    <dgm:pt modelId="{6ED7FE6C-2DBD-4B96-A1CC-C41A1202E41E}" type="pres">
      <dgm:prSet presAssocID="{3C4824EB-6A20-4708-9EA9-B215A0C08C2B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6275B6E-1135-44A2-A7BD-25AB8CBF7EC2}" type="presOf" srcId="{0EC14E9B-B6E7-49D5-A486-861E45DE8545}" destId="{2E8E3B6D-2C75-453F-AEE8-9225255D42DC}" srcOrd="0" destOrd="0" presId="urn:microsoft.com/office/officeart/2005/8/layout/chevron1"/>
    <dgm:cxn modelId="{E97F10C5-023E-4871-BC30-BA5B5CA066B8}" srcId="{91FED6F9-BC50-4B89-8DDA-87A9A488E372}" destId="{49FCC745-BD93-438B-BC3A-C1B5B4655CC8}" srcOrd="2" destOrd="0" parTransId="{B9773EEC-D0FD-48FA-9C6B-2911C6A0ED93}" sibTransId="{5B6CB70B-5EFF-49D5-925D-31694C22183E}"/>
    <dgm:cxn modelId="{D1B714EB-755C-4927-BB39-AE8D4BB6035C}" type="presOf" srcId="{91FED6F9-BC50-4B89-8DDA-87A9A488E372}" destId="{0DC27B0D-007B-4121-B9B2-EC4FCA78A6CD}" srcOrd="0" destOrd="0" presId="urn:microsoft.com/office/officeart/2005/8/layout/chevron1"/>
    <dgm:cxn modelId="{EA7BF871-B6A9-4139-96DB-805AF95C5770}" type="presOf" srcId="{074BFA6A-A6B5-4162-89C7-71E1990C47E2}" destId="{B5EE70CE-1C06-4112-81E2-596AC0C7F19D}" srcOrd="0" destOrd="0" presId="urn:microsoft.com/office/officeart/2005/8/layout/chevron1"/>
    <dgm:cxn modelId="{52C95F3E-C7AC-41C3-8A2D-ACB264E1379A}" srcId="{91FED6F9-BC50-4B89-8DDA-87A9A488E372}" destId="{3C4824EB-6A20-4708-9EA9-B215A0C08C2B}" srcOrd="3" destOrd="0" parTransId="{EFAE4CC6-73C0-4CD6-85BF-10B3293773A2}" sibTransId="{AA439A19-2F39-4390-8D71-9C3A9DDC8575}"/>
    <dgm:cxn modelId="{4760E0F6-7332-43D1-98B8-ED895C10D7F6}" srcId="{91FED6F9-BC50-4B89-8DDA-87A9A488E372}" destId="{0EC14E9B-B6E7-49D5-A486-861E45DE8545}" srcOrd="1" destOrd="0" parTransId="{4028E00E-82A5-434B-B53A-E542E988D3B7}" sibTransId="{73D34AEE-F45C-4DDD-B241-AF0C5D90E181}"/>
    <dgm:cxn modelId="{426FC237-2E7A-4FC5-88CC-B1D5E19DB1CD}" type="presOf" srcId="{49FCC745-BD93-438B-BC3A-C1B5B4655CC8}" destId="{19DE2555-7DEC-49B1-B03F-2CAEB74D53C8}" srcOrd="0" destOrd="0" presId="urn:microsoft.com/office/officeart/2005/8/layout/chevron1"/>
    <dgm:cxn modelId="{6C861B9B-37ED-4D70-8946-F2BF00506716}" srcId="{91FED6F9-BC50-4B89-8DDA-87A9A488E372}" destId="{074BFA6A-A6B5-4162-89C7-71E1990C47E2}" srcOrd="0" destOrd="0" parTransId="{B98BE9D3-0ED3-4E15-B536-EC40F2E7822D}" sibTransId="{9F54F8B9-D9CC-41F5-9EEA-6734BE7CD8C7}"/>
    <dgm:cxn modelId="{90221D22-125F-4087-87D2-5EDAFBF8C85D}" type="presOf" srcId="{3C4824EB-6A20-4708-9EA9-B215A0C08C2B}" destId="{6ED7FE6C-2DBD-4B96-A1CC-C41A1202E41E}" srcOrd="0" destOrd="0" presId="urn:microsoft.com/office/officeart/2005/8/layout/chevron1"/>
    <dgm:cxn modelId="{03908642-FCFB-4B3D-A825-12B7E271C247}" type="presParOf" srcId="{0DC27B0D-007B-4121-B9B2-EC4FCA78A6CD}" destId="{B5EE70CE-1C06-4112-81E2-596AC0C7F19D}" srcOrd="0" destOrd="0" presId="urn:microsoft.com/office/officeart/2005/8/layout/chevron1"/>
    <dgm:cxn modelId="{34867721-DB18-4AC4-96F0-AB02345C8273}" type="presParOf" srcId="{0DC27B0D-007B-4121-B9B2-EC4FCA78A6CD}" destId="{C8E34CA3-399B-494A-A22A-2594656508B9}" srcOrd="1" destOrd="0" presId="urn:microsoft.com/office/officeart/2005/8/layout/chevron1"/>
    <dgm:cxn modelId="{7BB94A9B-B1B8-418B-A960-5A12AD635B3F}" type="presParOf" srcId="{0DC27B0D-007B-4121-B9B2-EC4FCA78A6CD}" destId="{2E8E3B6D-2C75-453F-AEE8-9225255D42DC}" srcOrd="2" destOrd="0" presId="urn:microsoft.com/office/officeart/2005/8/layout/chevron1"/>
    <dgm:cxn modelId="{ECD018AC-584C-4BBD-84E7-3454DC9EEE34}" type="presParOf" srcId="{0DC27B0D-007B-4121-B9B2-EC4FCA78A6CD}" destId="{7D9CFB06-CD9B-4A19-9FB2-CC80AAB1E2C3}" srcOrd="3" destOrd="0" presId="urn:microsoft.com/office/officeart/2005/8/layout/chevron1"/>
    <dgm:cxn modelId="{7BC9144F-64AE-422F-BDA1-D8055E79958B}" type="presParOf" srcId="{0DC27B0D-007B-4121-B9B2-EC4FCA78A6CD}" destId="{19DE2555-7DEC-49B1-B03F-2CAEB74D53C8}" srcOrd="4" destOrd="0" presId="urn:microsoft.com/office/officeart/2005/8/layout/chevron1"/>
    <dgm:cxn modelId="{EF24562F-DF74-42C7-BAA7-D555BCC6D147}" type="presParOf" srcId="{0DC27B0D-007B-4121-B9B2-EC4FCA78A6CD}" destId="{9C4FA8B8-FD81-4905-ABC3-AAC5F0FDF851}" srcOrd="5" destOrd="0" presId="urn:microsoft.com/office/officeart/2005/8/layout/chevron1"/>
    <dgm:cxn modelId="{09BD166E-5862-4F53-9A58-EFA979303EF7}" type="presParOf" srcId="{0DC27B0D-007B-4121-B9B2-EC4FCA78A6CD}" destId="{6ED7FE6C-2DBD-4B96-A1CC-C41A1202E41E}" srcOrd="6" destOrd="0" presId="urn:microsoft.com/office/officeart/2005/8/layout/chevron1"/>
  </dgm:cxnLst>
  <dgm:bg/>
  <dgm:whole>
    <a:ln w="9525" cap="flat" cmpd="sng" algn="ctr">
      <a:noFill/>
      <a:prstDash val="solid"/>
      <a:round/>
      <a:headEnd type="none" w="med" len="med"/>
      <a:tailEnd type="none" w="med" len="med"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FFEB090-AF2D-4583-9B6E-CDFBC50EF08C}" type="doc">
      <dgm:prSet loTypeId="urn:microsoft.com/office/officeart/2005/8/layout/vList5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09DDD5C-0A56-4AB4-A1DF-C95DCC27672D}">
      <dgm:prSet phldrT="[Текст]"/>
      <dgm:spPr>
        <a:solidFill>
          <a:srgbClr val="A6CAEC"/>
        </a:solidFill>
      </dgm:spPr>
      <dgm:t>
        <a:bodyPr/>
        <a:lstStyle/>
        <a:p>
          <a:r>
            <a:rPr lang="ru-RU" dirty="0" smtClean="0"/>
            <a:t>Диверсификация</a:t>
          </a:r>
          <a:endParaRPr lang="ru-RU" dirty="0"/>
        </a:p>
      </dgm:t>
    </dgm:pt>
    <dgm:pt modelId="{3029CBC3-2C61-4905-B9E8-E639CA831559}" type="parTrans" cxnId="{079E2A0E-C868-42E9-9A44-E0BDBF20F7BF}">
      <dgm:prSet/>
      <dgm:spPr/>
      <dgm:t>
        <a:bodyPr/>
        <a:lstStyle/>
        <a:p>
          <a:endParaRPr lang="ru-RU"/>
        </a:p>
      </dgm:t>
    </dgm:pt>
    <dgm:pt modelId="{3B6DDF71-078D-4C7F-B13A-2E9C1CE64510}" type="sibTrans" cxnId="{079E2A0E-C868-42E9-9A44-E0BDBF20F7BF}">
      <dgm:prSet/>
      <dgm:spPr/>
      <dgm:t>
        <a:bodyPr/>
        <a:lstStyle/>
        <a:p>
          <a:endParaRPr lang="ru-RU"/>
        </a:p>
      </dgm:t>
    </dgm:pt>
    <dgm:pt modelId="{3EC59C32-BD44-454B-ABA3-E0396C389AE8}">
      <dgm:prSet phldrT="[Текст]" custT="1"/>
      <dgm:spPr/>
      <dgm:t>
        <a:bodyPr/>
        <a:lstStyle/>
        <a:p>
          <a:r>
            <a:rPr lang="ru-RU" sz="1800" dirty="0" smtClean="0"/>
            <a:t>Отраслевая диверсификация</a:t>
          </a:r>
          <a:endParaRPr lang="ru-RU" sz="1800" dirty="0"/>
        </a:p>
      </dgm:t>
    </dgm:pt>
    <dgm:pt modelId="{64C58297-5653-4348-A261-879BFA6F26DE}" type="parTrans" cxnId="{828C3900-5D83-451B-B06A-03BAA218CE31}">
      <dgm:prSet/>
      <dgm:spPr/>
      <dgm:t>
        <a:bodyPr/>
        <a:lstStyle/>
        <a:p>
          <a:endParaRPr lang="ru-RU"/>
        </a:p>
      </dgm:t>
    </dgm:pt>
    <dgm:pt modelId="{04919E74-28BB-406B-8492-5FEC0A0312AE}" type="sibTrans" cxnId="{828C3900-5D83-451B-B06A-03BAA218CE31}">
      <dgm:prSet/>
      <dgm:spPr/>
      <dgm:t>
        <a:bodyPr/>
        <a:lstStyle/>
        <a:p>
          <a:endParaRPr lang="ru-RU"/>
        </a:p>
      </dgm:t>
    </dgm:pt>
    <dgm:pt modelId="{BB652870-4446-4E57-8CA3-0FDD66A23706}">
      <dgm:prSet phldrT="[Текст]" custT="1"/>
      <dgm:spPr/>
      <dgm:t>
        <a:bodyPr/>
        <a:lstStyle/>
        <a:p>
          <a:r>
            <a:rPr lang="ru-RU" sz="1800" dirty="0" smtClean="0"/>
            <a:t>Географическая диверсификация</a:t>
          </a:r>
          <a:endParaRPr lang="ru-RU" sz="1800" dirty="0"/>
        </a:p>
      </dgm:t>
    </dgm:pt>
    <dgm:pt modelId="{65F2CA0B-1B3C-4BCA-808A-1D3661C86C0C}" type="parTrans" cxnId="{C5810265-D0EA-473F-BC46-DF7DCC828523}">
      <dgm:prSet/>
      <dgm:spPr/>
      <dgm:t>
        <a:bodyPr/>
        <a:lstStyle/>
        <a:p>
          <a:endParaRPr lang="ru-RU"/>
        </a:p>
      </dgm:t>
    </dgm:pt>
    <dgm:pt modelId="{F051B492-7AD4-4F4D-BE99-3CB4975B43E2}" type="sibTrans" cxnId="{C5810265-D0EA-473F-BC46-DF7DCC828523}">
      <dgm:prSet/>
      <dgm:spPr/>
      <dgm:t>
        <a:bodyPr/>
        <a:lstStyle/>
        <a:p>
          <a:endParaRPr lang="ru-RU"/>
        </a:p>
      </dgm:t>
    </dgm:pt>
    <dgm:pt modelId="{1A2FDECF-DB65-4A0D-AA9E-C888473A59C6}">
      <dgm:prSet phldrT="[Текст]"/>
      <dgm:spPr>
        <a:solidFill>
          <a:srgbClr val="A6CAEC"/>
        </a:solidFill>
      </dgm:spPr>
      <dgm:t>
        <a:bodyPr/>
        <a:lstStyle/>
        <a:p>
          <a:r>
            <a:rPr lang="ru-RU" dirty="0" smtClean="0"/>
            <a:t>Оценка кредитоспособности заемщиков</a:t>
          </a:r>
          <a:endParaRPr lang="ru-RU" dirty="0"/>
        </a:p>
      </dgm:t>
    </dgm:pt>
    <dgm:pt modelId="{3F609C0B-1F3E-4CBB-AC58-CDA06F599C80}" type="parTrans" cxnId="{4DFC3B4F-48FD-4F58-BA0D-AF661828F3B0}">
      <dgm:prSet/>
      <dgm:spPr/>
      <dgm:t>
        <a:bodyPr/>
        <a:lstStyle/>
        <a:p>
          <a:endParaRPr lang="ru-RU"/>
        </a:p>
      </dgm:t>
    </dgm:pt>
    <dgm:pt modelId="{5DF992A6-63CB-423E-802B-13BFD437FE9B}" type="sibTrans" cxnId="{4DFC3B4F-48FD-4F58-BA0D-AF661828F3B0}">
      <dgm:prSet/>
      <dgm:spPr/>
      <dgm:t>
        <a:bodyPr/>
        <a:lstStyle/>
        <a:p>
          <a:endParaRPr lang="ru-RU"/>
        </a:p>
      </dgm:t>
    </dgm:pt>
    <dgm:pt modelId="{A469456F-2169-4804-B241-AE832C8C4234}">
      <dgm:prSet phldrT="[Текст]" custT="1"/>
      <dgm:spPr/>
      <dgm:t>
        <a:bodyPr/>
        <a:lstStyle/>
        <a:p>
          <a:r>
            <a:rPr lang="ru-RU" sz="1800" dirty="0" err="1" smtClean="0"/>
            <a:t>Скоринг</a:t>
          </a:r>
          <a:r>
            <a:rPr lang="ru-RU" sz="1800" dirty="0" smtClean="0"/>
            <a:t>-модели</a:t>
          </a:r>
          <a:endParaRPr lang="ru-RU" sz="1800" dirty="0"/>
        </a:p>
      </dgm:t>
    </dgm:pt>
    <dgm:pt modelId="{DA60324B-C8D1-4DF0-8C2B-50A29976C9FE}" type="parTrans" cxnId="{FAC98749-9CDD-44C7-BA05-B760C4D7D4CC}">
      <dgm:prSet/>
      <dgm:spPr/>
      <dgm:t>
        <a:bodyPr/>
        <a:lstStyle/>
        <a:p>
          <a:endParaRPr lang="ru-RU"/>
        </a:p>
      </dgm:t>
    </dgm:pt>
    <dgm:pt modelId="{DA6B5F30-F9C9-4209-9A9D-E7864E28DF4C}" type="sibTrans" cxnId="{FAC98749-9CDD-44C7-BA05-B760C4D7D4CC}">
      <dgm:prSet/>
      <dgm:spPr/>
      <dgm:t>
        <a:bodyPr/>
        <a:lstStyle/>
        <a:p>
          <a:endParaRPr lang="ru-RU"/>
        </a:p>
      </dgm:t>
    </dgm:pt>
    <dgm:pt modelId="{6CF8A410-C055-4A3A-B07F-C25BE89C9C4D}">
      <dgm:prSet phldrT="[Текст]" custT="1"/>
      <dgm:spPr/>
      <dgm:t>
        <a:bodyPr/>
        <a:lstStyle/>
        <a:p>
          <a:r>
            <a:rPr lang="ru-RU" sz="1800" dirty="0" smtClean="0"/>
            <a:t>Анализ финансовой отчетности</a:t>
          </a:r>
          <a:endParaRPr lang="ru-RU" sz="1800" dirty="0"/>
        </a:p>
      </dgm:t>
    </dgm:pt>
    <dgm:pt modelId="{F1F97B21-EF59-4C7C-B86F-083DA9692F09}" type="parTrans" cxnId="{1E345A30-CD1D-483E-BE59-18A33EB7E13A}">
      <dgm:prSet/>
      <dgm:spPr/>
      <dgm:t>
        <a:bodyPr/>
        <a:lstStyle/>
        <a:p>
          <a:endParaRPr lang="ru-RU"/>
        </a:p>
      </dgm:t>
    </dgm:pt>
    <dgm:pt modelId="{FD65C060-7502-44E3-A5EE-8837564ACE20}" type="sibTrans" cxnId="{1E345A30-CD1D-483E-BE59-18A33EB7E13A}">
      <dgm:prSet/>
      <dgm:spPr/>
      <dgm:t>
        <a:bodyPr/>
        <a:lstStyle/>
        <a:p>
          <a:endParaRPr lang="ru-RU"/>
        </a:p>
      </dgm:t>
    </dgm:pt>
    <dgm:pt modelId="{09DE5D1E-346C-4A12-8615-14FF62B6B430}">
      <dgm:prSet phldrT="[Текст]"/>
      <dgm:spPr>
        <a:solidFill>
          <a:srgbClr val="A6CAEC"/>
        </a:solidFill>
      </dgm:spPr>
      <dgm:t>
        <a:bodyPr/>
        <a:lstStyle/>
        <a:p>
          <a:r>
            <a:rPr lang="ru-RU" dirty="0" smtClean="0"/>
            <a:t>Риск менеджмент</a:t>
          </a:r>
          <a:endParaRPr lang="ru-RU" dirty="0"/>
        </a:p>
      </dgm:t>
    </dgm:pt>
    <dgm:pt modelId="{EED8A038-CFBE-4906-BA4A-B32090D0AE07}" type="parTrans" cxnId="{DB68220A-90B1-49F3-9E8A-C9CAB43CDE3E}">
      <dgm:prSet/>
      <dgm:spPr/>
      <dgm:t>
        <a:bodyPr/>
        <a:lstStyle/>
        <a:p>
          <a:endParaRPr lang="ru-RU"/>
        </a:p>
      </dgm:t>
    </dgm:pt>
    <dgm:pt modelId="{60086936-F635-4F1B-ACB8-865654A262CA}" type="sibTrans" cxnId="{DB68220A-90B1-49F3-9E8A-C9CAB43CDE3E}">
      <dgm:prSet/>
      <dgm:spPr/>
      <dgm:t>
        <a:bodyPr/>
        <a:lstStyle/>
        <a:p>
          <a:endParaRPr lang="ru-RU"/>
        </a:p>
      </dgm:t>
    </dgm:pt>
    <dgm:pt modelId="{53BC14B1-84A6-4397-80E4-0E933FE2437B}">
      <dgm:prSet phldrT="[Текст]" custT="1"/>
      <dgm:spPr/>
      <dgm:t>
        <a:bodyPr/>
        <a:lstStyle/>
        <a:p>
          <a:r>
            <a:rPr lang="ru-RU" sz="1800" dirty="0" err="1" smtClean="0"/>
            <a:t>Лимитирование</a:t>
          </a:r>
          <a:endParaRPr lang="ru-RU" sz="1800" dirty="0"/>
        </a:p>
      </dgm:t>
    </dgm:pt>
    <dgm:pt modelId="{89458296-5ABA-47AC-833F-EFB6D9FDE663}" type="parTrans" cxnId="{28FEB233-E232-46CB-914A-7BA4A1E2ECD2}">
      <dgm:prSet/>
      <dgm:spPr/>
      <dgm:t>
        <a:bodyPr/>
        <a:lstStyle/>
        <a:p>
          <a:endParaRPr lang="ru-RU"/>
        </a:p>
      </dgm:t>
    </dgm:pt>
    <dgm:pt modelId="{8FD64237-EC08-40A1-A423-FFD7185CC850}" type="sibTrans" cxnId="{28FEB233-E232-46CB-914A-7BA4A1E2ECD2}">
      <dgm:prSet/>
      <dgm:spPr/>
      <dgm:t>
        <a:bodyPr/>
        <a:lstStyle/>
        <a:p>
          <a:endParaRPr lang="ru-RU"/>
        </a:p>
      </dgm:t>
    </dgm:pt>
    <dgm:pt modelId="{68536E33-6F5C-40BC-9475-85C94E3E7097}">
      <dgm:prSet phldrT="[Текст]" custT="1"/>
      <dgm:spPr/>
      <dgm:t>
        <a:bodyPr/>
        <a:lstStyle/>
        <a:p>
          <a:r>
            <a:rPr lang="ru-RU" sz="1800" dirty="0" smtClean="0"/>
            <a:t>Хеджирование</a:t>
          </a:r>
          <a:endParaRPr lang="ru-RU" sz="1800" dirty="0"/>
        </a:p>
      </dgm:t>
    </dgm:pt>
    <dgm:pt modelId="{0387B8FC-E541-4424-8EAA-E25D50CDD25E}" type="parTrans" cxnId="{5B58B143-4661-424C-B7FF-C0189E445D9A}">
      <dgm:prSet/>
      <dgm:spPr/>
      <dgm:t>
        <a:bodyPr/>
        <a:lstStyle/>
        <a:p>
          <a:endParaRPr lang="ru-RU"/>
        </a:p>
      </dgm:t>
    </dgm:pt>
    <dgm:pt modelId="{70583759-22BD-41BE-85C1-9187CC9757F7}" type="sibTrans" cxnId="{5B58B143-4661-424C-B7FF-C0189E445D9A}">
      <dgm:prSet/>
      <dgm:spPr/>
      <dgm:t>
        <a:bodyPr/>
        <a:lstStyle/>
        <a:p>
          <a:endParaRPr lang="ru-RU"/>
        </a:p>
      </dgm:t>
    </dgm:pt>
    <dgm:pt modelId="{D2AD1B61-251C-4CE6-898F-7781CEB430F0}">
      <dgm:prSet phldrT="[Текст]" custT="1"/>
      <dgm:spPr/>
      <dgm:t>
        <a:bodyPr/>
        <a:lstStyle/>
        <a:p>
          <a:r>
            <a:rPr lang="ru-RU" sz="1800" dirty="0" smtClean="0"/>
            <a:t>По типам заемщиков</a:t>
          </a:r>
          <a:endParaRPr lang="ru-RU" sz="1800" dirty="0"/>
        </a:p>
      </dgm:t>
    </dgm:pt>
    <dgm:pt modelId="{A46950E1-C661-4A14-8943-7356AEF09D57}" type="parTrans" cxnId="{26320F30-B05B-4E81-8EB6-6AA78D63D2F5}">
      <dgm:prSet/>
      <dgm:spPr/>
      <dgm:t>
        <a:bodyPr/>
        <a:lstStyle/>
        <a:p>
          <a:endParaRPr lang="ru-RU"/>
        </a:p>
      </dgm:t>
    </dgm:pt>
    <dgm:pt modelId="{2B95F496-33E5-4573-9D6B-3F03D2F801F4}" type="sibTrans" cxnId="{26320F30-B05B-4E81-8EB6-6AA78D63D2F5}">
      <dgm:prSet/>
      <dgm:spPr/>
      <dgm:t>
        <a:bodyPr/>
        <a:lstStyle/>
        <a:p>
          <a:endParaRPr lang="ru-RU"/>
        </a:p>
      </dgm:t>
    </dgm:pt>
    <dgm:pt modelId="{79403432-D1FC-478B-83D6-DEA2F3BA2BAC}">
      <dgm:prSet phldrT="[Текст]" custT="1"/>
      <dgm:spPr/>
      <dgm:t>
        <a:bodyPr/>
        <a:lstStyle/>
        <a:p>
          <a:r>
            <a:rPr lang="ru-RU" sz="1800" dirty="0" smtClean="0"/>
            <a:t>Кредитная история</a:t>
          </a:r>
          <a:endParaRPr lang="ru-RU" sz="1800" dirty="0"/>
        </a:p>
      </dgm:t>
    </dgm:pt>
    <dgm:pt modelId="{1BED5110-0754-4AE1-B7BD-73B98AF9D461}" type="parTrans" cxnId="{2845B2FA-C0CD-4DA0-B2F5-22460C324172}">
      <dgm:prSet/>
      <dgm:spPr/>
      <dgm:t>
        <a:bodyPr/>
        <a:lstStyle/>
        <a:p>
          <a:endParaRPr lang="ru-RU"/>
        </a:p>
      </dgm:t>
    </dgm:pt>
    <dgm:pt modelId="{CB2C9D79-482A-40D6-856A-2CA50525A50F}" type="sibTrans" cxnId="{2845B2FA-C0CD-4DA0-B2F5-22460C324172}">
      <dgm:prSet/>
      <dgm:spPr/>
      <dgm:t>
        <a:bodyPr/>
        <a:lstStyle/>
        <a:p>
          <a:endParaRPr lang="ru-RU"/>
        </a:p>
      </dgm:t>
    </dgm:pt>
    <dgm:pt modelId="{AC4E205F-91F3-4CF9-90B9-84B0370AC2DA}">
      <dgm:prSet phldrT="[Текст]" custT="1"/>
      <dgm:spPr/>
      <dgm:t>
        <a:bodyPr/>
        <a:lstStyle/>
        <a:p>
          <a:r>
            <a:rPr lang="ru-RU" sz="1800" dirty="0" smtClean="0"/>
            <a:t>Стресс-тестирование</a:t>
          </a:r>
          <a:endParaRPr lang="ru-RU" sz="1800" dirty="0"/>
        </a:p>
      </dgm:t>
    </dgm:pt>
    <dgm:pt modelId="{03B3D89D-5F2C-4FDA-B90F-C630BA443094}" type="parTrans" cxnId="{1AF6F31B-DB90-425D-90B5-C9AA12972653}">
      <dgm:prSet/>
      <dgm:spPr/>
      <dgm:t>
        <a:bodyPr/>
        <a:lstStyle/>
        <a:p>
          <a:endParaRPr lang="ru-RU"/>
        </a:p>
      </dgm:t>
    </dgm:pt>
    <dgm:pt modelId="{395CF64D-EFA8-4729-9C38-416E3166D121}" type="sibTrans" cxnId="{1AF6F31B-DB90-425D-90B5-C9AA12972653}">
      <dgm:prSet/>
      <dgm:spPr/>
      <dgm:t>
        <a:bodyPr/>
        <a:lstStyle/>
        <a:p>
          <a:endParaRPr lang="ru-RU"/>
        </a:p>
      </dgm:t>
    </dgm:pt>
    <dgm:pt modelId="{DB10456F-3686-4D14-8376-ACF2FCBB4C0E}">
      <dgm:prSet/>
      <dgm:spPr>
        <a:solidFill>
          <a:srgbClr val="A6CAEC"/>
        </a:solidFill>
      </dgm:spPr>
      <dgm:t>
        <a:bodyPr/>
        <a:lstStyle/>
        <a:p>
          <a:r>
            <a:rPr lang="ru-RU" b="0" dirty="0" smtClean="0"/>
            <a:t>Соблюдение регуляторных требований</a:t>
          </a:r>
          <a:endParaRPr lang="ru-RU" b="0" dirty="0"/>
        </a:p>
      </dgm:t>
    </dgm:pt>
    <dgm:pt modelId="{2ACFE9BF-1EA9-437A-A135-C08DF804104E}" type="parTrans" cxnId="{7E5AA578-8CB7-401D-85DB-88ABAD56A2BF}">
      <dgm:prSet/>
      <dgm:spPr/>
      <dgm:t>
        <a:bodyPr/>
        <a:lstStyle/>
        <a:p>
          <a:endParaRPr lang="ru-RU"/>
        </a:p>
      </dgm:t>
    </dgm:pt>
    <dgm:pt modelId="{8A590EDC-0F55-4986-8D62-4D25D4D4627D}" type="sibTrans" cxnId="{7E5AA578-8CB7-401D-85DB-88ABAD56A2BF}">
      <dgm:prSet/>
      <dgm:spPr/>
      <dgm:t>
        <a:bodyPr/>
        <a:lstStyle/>
        <a:p>
          <a:endParaRPr lang="ru-RU"/>
        </a:p>
      </dgm:t>
    </dgm:pt>
    <dgm:pt modelId="{77FB00D7-8951-46AD-858D-14BB59E69558}">
      <dgm:prSet/>
      <dgm:spPr>
        <a:solidFill>
          <a:srgbClr val="A6CAEC"/>
        </a:solidFill>
      </dgm:spPr>
      <dgm:t>
        <a:bodyPr/>
        <a:lstStyle/>
        <a:p>
          <a:r>
            <a:rPr lang="ru-RU" b="0" dirty="0" smtClean="0"/>
            <a:t>Управление просроченной задолженностью</a:t>
          </a:r>
          <a:endParaRPr lang="ru-RU" b="0" dirty="0"/>
        </a:p>
      </dgm:t>
    </dgm:pt>
    <dgm:pt modelId="{975E3811-4D88-433B-9567-056F341AF065}" type="parTrans" cxnId="{31DBE16C-A4AF-4220-9C27-F3082861E622}">
      <dgm:prSet/>
      <dgm:spPr/>
      <dgm:t>
        <a:bodyPr/>
        <a:lstStyle/>
        <a:p>
          <a:endParaRPr lang="ru-RU"/>
        </a:p>
      </dgm:t>
    </dgm:pt>
    <dgm:pt modelId="{2545AC3D-39B6-46F1-8190-3B0D4FAEC5D0}" type="sibTrans" cxnId="{31DBE16C-A4AF-4220-9C27-F3082861E622}">
      <dgm:prSet/>
      <dgm:spPr/>
      <dgm:t>
        <a:bodyPr/>
        <a:lstStyle/>
        <a:p>
          <a:endParaRPr lang="ru-RU"/>
        </a:p>
      </dgm:t>
    </dgm:pt>
    <dgm:pt modelId="{8F07EEE8-AD83-427D-A60A-79CAD2C346B9}">
      <dgm:prSet custT="1"/>
      <dgm:spPr/>
      <dgm:t>
        <a:bodyPr/>
        <a:lstStyle/>
        <a:p>
          <a:r>
            <a:rPr lang="ru-RU" sz="1800" dirty="0" smtClean="0"/>
            <a:t>Н1(достаточность капитала)</a:t>
          </a:r>
          <a:endParaRPr lang="ru-RU" sz="1800" dirty="0"/>
        </a:p>
      </dgm:t>
    </dgm:pt>
    <dgm:pt modelId="{C7B9EB43-5CC1-4BDC-BEC1-47E38DCC4210}" type="parTrans" cxnId="{C540C8F7-5FED-4E6C-A039-6662D5553BF5}">
      <dgm:prSet/>
      <dgm:spPr/>
      <dgm:t>
        <a:bodyPr/>
        <a:lstStyle/>
        <a:p>
          <a:endParaRPr lang="ru-RU"/>
        </a:p>
      </dgm:t>
    </dgm:pt>
    <dgm:pt modelId="{A6F38536-65D4-4067-A726-19D2082F5096}" type="sibTrans" cxnId="{C540C8F7-5FED-4E6C-A039-6662D5553BF5}">
      <dgm:prSet/>
      <dgm:spPr/>
      <dgm:t>
        <a:bodyPr/>
        <a:lstStyle/>
        <a:p>
          <a:endParaRPr lang="ru-RU"/>
        </a:p>
      </dgm:t>
    </dgm:pt>
    <dgm:pt modelId="{B4B0D524-D738-4103-A193-1BF1864E9A64}">
      <dgm:prSet custT="1"/>
      <dgm:spPr/>
      <dgm:t>
        <a:bodyPr/>
        <a:lstStyle/>
        <a:p>
          <a:r>
            <a:rPr lang="ru-RU" sz="1800" dirty="0" smtClean="0"/>
            <a:t>Реструктуризация долга</a:t>
          </a:r>
          <a:endParaRPr lang="ru-RU" sz="1800" dirty="0"/>
        </a:p>
      </dgm:t>
    </dgm:pt>
    <dgm:pt modelId="{B0DA1A8D-3694-4031-BAA7-0302EF9A7B00}" type="parTrans" cxnId="{DB573013-5994-485B-97EB-BE39011D6776}">
      <dgm:prSet/>
      <dgm:spPr/>
      <dgm:t>
        <a:bodyPr/>
        <a:lstStyle/>
        <a:p>
          <a:endParaRPr lang="ru-RU"/>
        </a:p>
      </dgm:t>
    </dgm:pt>
    <dgm:pt modelId="{A8F7ADBA-A1D2-432A-A799-DF91ED40A69C}" type="sibTrans" cxnId="{DB573013-5994-485B-97EB-BE39011D6776}">
      <dgm:prSet/>
      <dgm:spPr/>
      <dgm:t>
        <a:bodyPr/>
        <a:lstStyle/>
        <a:p>
          <a:endParaRPr lang="ru-RU"/>
        </a:p>
      </dgm:t>
    </dgm:pt>
    <dgm:pt modelId="{24D02500-8BAB-4EC0-BCC4-C62AE82C5E22}">
      <dgm:prSet custT="1"/>
      <dgm:spPr/>
      <dgm:t>
        <a:bodyPr/>
        <a:lstStyle/>
        <a:p>
          <a:r>
            <a:rPr lang="ru-RU" sz="1800" dirty="0" smtClean="0"/>
            <a:t>Продажа проблемных активов</a:t>
          </a:r>
          <a:endParaRPr lang="ru-RU" sz="1800" dirty="0"/>
        </a:p>
      </dgm:t>
    </dgm:pt>
    <dgm:pt modelId="{4E59CEF2-5563-4ED8-B927-DEC7EA9C85B2}" type="parTrans" cxnId="{FA33BBF0-62EE-42E2-9695-9E42CFA91712}">
      <dgm:prSet/>
      <dgm:spPr/>
      <dgm:t>
        <a:bodyPr/>
        <a:lstStyle/>
        <a:p>
          <a:endParaRPr lang="ru-RU"/>
        </a:p>
      </dgm:t>
    </dgm:pt>
    <dgm:pt modelId="{3462BBC5-8347-43AC-AC9F-7BA33C77412B}" type="sibTrans" cxnId="{FA33BBF0-62EE-42E2-9695-9E42CFA91712}">
      <dgm:prSet/>
      <dgm:spPr/>
      <dgm:t>
        <a:bodyPr/>
        <a:lstStyle/>
        <a:p>
          <a:endParaRPr lang="ru-RU"/>
        </a:p>
      </dgm:t>
    </dgm:pt>
    <dgm:pt modelId="{7A6F9220-DF32-4315-B1D0-FABD5A32BC86}">
      <dgm:prSet custT="1"/>
      <dgm:spPr/>
      <dgm:t>
        <a:bodyPr/>
        <a:lstStyle/>
        <a:p>
          <a:r>
            <a:rPr lang="ru-RU" sz="1800" dirty="0" smtClean="0"/>
            <a:t>Судебное взыскание</a:t>
          </a:r>
          <a:endParaRPr lang="ru-RU" sz="1800" dirty="0"/>
        </a:p>
      </dgm:t>
    </dgm:pt>
    <dgm:pt modelId="{E2C6CC75-4699-4B19-85FA-A2D0B64826CB}" type="parTrans" cxnId="{3EB8F177-50CF-40C6-AE62-9081F115C3AF}">
      <dgm:prSet/>
      <dgm:spPr/>
      <dgm:t>
        <a:bodyPr/>
        <a:lstStyle/>
        <a:p>
          <a:endParaRPr lang="ru-RU"/>
        </a:p>
      </dgm:t>
    </dgm:pt>
    <dgm:pt modelId="{F96F4A8A-C9B3-48A3-B57F-C3ABC2F089F2}" type="sibTrans" cxnId="{3EB8F177-50CF-40C6-AE62-9081F115C3AF}">
      <dgm:prSet/>
      <dgm:spPr/>
      <dgm:t>
        <a:bodyPr/>
        <a:lstStyle/>
        <a:p>
          <a:endParaRPr lang="ru-RU"/>
        </a:p>
      </dgm:t>
    </dgm:pt>
    <dgm:pt modelId="{C0308E9C-73D6-4DE0-8B3D-8C2092A12B4E}">
      <dgm:prSet custT="1"/>
      <dgm:spPr/>
      <dgm:t>
        <a:bodyPr/>
        <a:lstStyle/>
        <a:p>
          <a:r>
            <a:rPr lang="ru-RU" sz="1800" dirty="0" smtClean="0"/>
            <a:t>Н6 (концентрация крупных кредитных рисков)</a:t>
          </a:r>
          <a:endParaRPr lang="ru-RU" sz="1800" dirty="0"/>
        </a:p>
      </dgm:t>
    </dgm:pt>
    <dgm:pt modelId="{75EF4080-E093-41C9-9ACF-2A0AAD813551}" type="parTrans" cxnId="{AC356D6B-1430-457B-9691-43CF48532569}">
      <dgm:prSet/>
      <dgm:spPr/>
      <dgm:t>
        <a:bodyPr/>
        <a:lstStyle/>
        <a:p>
          <a:endParaRPr lang="ru-RU"/>
        </a:p>
      </dgm:t>
    </dgm:pt>
    <dgm:pt modelId="{5138238E-2BEA-4F7C-A63C-3D4F8989A897}" type="sibTrans" cxnId="{AC356D6B-1430-457B-9691-43CF48532569}">
      <dgm:prSet/>
      <dgm:spPr/>
      <dgm:t>
        <a:bodyPr/>
        <a:lstStyle/>
        <a:p>
          <a:endParaRPr lang="ru-RU"/>
        </a:p>
      </dgm:t>
    </dgm:pt>
    <dgm:pt modelId="{B2525049-14C8-4695-880A-845E0FEEB47A}">
      <dgm:prSet custT="1"/>
      <dgm:spPr/>
      <dgm:t>
        <a:bodyPr/>
        <a:lstStyle/>
        <a:p>
          <a:r>
            <a:rPr lang="ru-RU" sz="1800" dirty="0" smtClean="0"/>
            <a:t>Резервирование</a:t>
          </a:r>
          <a:endParaRPr lang="ru-RU" sz="1800" dirty="0"/>
        </a:p>
      </dgm:t>
    </dgm:pt>
    <dgm:pt modelId="{26B93C68-5BB0-4B41-AA90-5B233B546C31}" type="parTrans" cxnId="{3FEE1E0B-4EB3-4E06-9EA6-10E65A1470AC}">
      <dgm:prSet/>
      <dgm:spPr/>
      <dgm:t>
        <a:bodyPr/>
        <a:lstStyle/>
        <a:p>
          <a:endParaRPr lang="ru-RU"/>
        </a:p>
      </dgm:t>
    </dgm:pt>
    <dgm:pt modelId="{228BBBA6-7E3F-4246-80C1-D5AD56181DC7}" type="sibTrans" cxnId="{3FEE1E0B-4EB3-4E06-9EA6-10E65A1470AC}">
      <dgm:prSet/>
      <dgm:spPr/>
      <dgm:t>
        <a:bodyPr/>
        <a:lstStyle/>
        <a:p>
          <a:endParaRPr lang="ru-RU"/>
        </a:p>
      </dgm:t>
    </dgm:pt>
    <dgm:pt modelId="{A2A66893-0033-478E-A090-9D2375213EF0}" type="pres">
      <dgm:prSet presAssocID="{7FFEB090-AF2D-4583-9B6E-CDFBC50EF08C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D9A60C6F-BFCE-40F4-BFFB-1A7B5CC27C5A}" type="pres">
      <dgm:prSet presAssocID="{B09DDD5C-0A56-4AB4-A1DF-C95DCC27672D}" presName="linNode" presStyleCnt="0"/>
      <dgm:spPr/>
    </dgm:pt>
    <dgm:pt modelId="{E2CA3236-D3FB-460F-BFD4-FDD4399CCEF8}" type="pres">
      <dgm:prSet presAssocID="{B09DDD5C-0A56-4AB4-A1DF-C95DCC27672D}" presName="parentText" presStyleLbl="node1" presStyleIdx="0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D5A24E2-7AD3-4901-AB51-5D2634FB46C8}" type="pres">
      <dgm:prSet presAssocID="{B09DDD5C-0A56-4AB4-A1DF-C95DCC27672D}" presName="descendantText" presStyleLbl="alignAccFollowNode1" presStyleIdx="0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DFB6862-F4C2-45BC-98F7-918C0D10EAD0}" type="pres">
      <dgm:prSet presAssocID="{3B6DDF71-078D-4C7F-B13A-2E9C1CE64510}" presName="sp" presStyleCnt="0"/>
      <dgm:spPr/>
    </dgm:pt>
    <dgm:pt modelId="{BD336D9B-B1F2-4130-8097-9AD1BE624958}" type="pres">
      <dgm:prSet presAssocID="{1A2FDECF-DB65-4A0D-AA9E-C888473A59C6}" presName="linNode" presStyleCnt="0"/>
      <dgm:spPr/>
    </dgm:pt>
    <dgm:pt modelId="{2A6E3A37-9661-4ECF-A283-8D8E2880C83A}" type="pres">
      <dgm:prSet presAssocID="{1A2FDECF-DB65-4A0D-AA9E-C888473A59C6}" presName="parentText" presStyleLbl="node1" presStyleIdx="1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92DD7D6-60F2-4471-B49C-1B8BC1076BAF}" type="pres">
      <dgm:prSet presAssocID="{1A2FDECF-DB65-4A0D-AA9E-C888473A59C6}" presName="descendantText" presStyleLbl="alignAccFollowNode1" presStyleIdx="1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D877535-2E5A-4664-88EB-419C2F2608A0}" type="pres">
      <dgm:prSet presAssocID="{5DF992A6-63CB-423E-802B-13BFD437FE9B}" presName="sp" presStyleCnt="0"/>
      <dgm:spPr/>
    </dgm:pt>
    <dgm:pt modelId="{83B16A5C-7EFD-450C-BA64-DC9616044B8C}" type="pres">
      <dgm:prSet presAssocID="{09DE5D1E-346C-4A12-8615-14FF62B6B430}" presName="linNode" presStyleCnt="0"/>
      <dgm:spPr/>
    </dgm:pt>
    <dgm:pt modelId="{1E5771EA-1ED9-4ACC-B450-12C9123D126B}" type="pres">
      <dgm:prSet presAssocID="{09DE5D1E-346C-4A12-8615-14FF62B6B430}" presName="parentText" presStyleLbl="node1" presStyleIdx="2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F8108FD-7666-4827-8BE0-D4F15535B3E1}" type="pres">
      <dgm:prSet presAssocID="{09DE5D1E-346C-4A12-8615-14FF62B6B430}" presName="descendantText" presStyleLbl="alignAccFollowNode1" presStyleIdx="2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D4865EB-D674-4EE9-B38D-F00C6EA1DED2}" type="pres">
      <dgm:prSet presAssocID="{60086936-F635-4F1B-ACB8-865654A262CA}" presName="sp" presStyleCnt="0"/>
      <dgm:spPr/>
    </dgm:pt>
    <dgm:pt modelId="{16A96DA6-FFEC-4626-9C32-F50671A036D1}" type="pres">
      <dgm:prSet presAssocID="{77FB00D7-8951-46AD-858D-14BB59E69558}" presName="linNode" presStyleCnt="0"/>
      <dgm:spPr/>
    </dgm:pt>
    <dgm:pt modelId="{242365AC-A4BF-42FB-8CF8-92200F861CD3}" type="pres">
      <dgm:prSet presAssocID="{77FB00D7-8951-46AD-858D-14BB59E69558}" presName="parentText" presStyleLbl="node1" presStyleIdx="3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00F32C4-11FB-46C9-BB6D-9762A37DB25D}" type="pres">
      <dgm:prSet presAssocID="{77FB00D7-8951-46AD-858D-14BB59E69558}" presName="descendantText" presStyleLbl="alignAccFollowNode1" presStyleIdx="3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3356806-D694-4940-BD2C-A40E42AD6945}" type="pres">
      <dgm:prSet presAssocID="{2545AC3D-39B6-46F1-8190-3B0D4FAEC5D0}" presName="sp" presStyleCnt="0"/>
      <dgm:spPr/>
    </dgm:pt>
    <dgm:pt modelId="{32ED57A7-2C52-408A-973A-9DDC2106BA43}" type="pres">
      <dgm:prSet presAssocID="{DB10456F-3686-4D14-8376-ACF2FCBB4C0E}" presName="linNode" presStyleCnt="0"/>
      <dgm:spPr/>
    </dgm:pt>
    <dgm:pt modelId="{4166D416-BF05-4D00-A9AD-4AD1F616F01E}" type="pres">
      <dgm:prSet presAssocID="{DB10456F-3686-4D14-8376-ACF2FCBB4C0E}" presName="parentText" presStyleLbl="node1" presStyleIdx="4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A5D7A09-3FBA-4DCB-96B8-3FC42A3EA6A8}" type="pres">
      <dgm:prSet presAssocID="{DB10456F-3686-4D14-8376-ACF2FCBB4C0E}" presName="descendantText" presStyleLbl="alignAccFollowNode1" presStyleIdx="4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DFC3B4F-48FD-4F58-BA0D-AF661828F3B0}" srcId="{7FFEB090-AF2D-4583-9B6E-CDFBC50EF08C}" destId="{1A2FDECF-DB65-4A0D-AA9E-C888473A59C6}" srcOrd="1" destOrd="0" parTransId="{3F609C0B-1F3E-4CBB-AC58-CDA06F599C80}" sibTransId="{5DF992A6-63CB-423E-802B-13BFD437FE9B}"/>
    <dgm:cxn modelId="{DB68220A-90B1-49F3-9E8A-C9CAB43CDE3E}" srcId="{7FFEB090-AF2D-4583-9B6E-CDFBC50EF08C}" destId="{09DE5D1E-346C-4A12-8615-14FF62B6B430}" srcOrd="2" destOrd="0" parTransId="{EED8A038-CFBE-4906-BA4A-B32090D0AE07}" sibTransId="{60086936-F635-4F1B-ACB8-865654A262CA}"/>
    <dgm:cxn modelId="{6BC6E1A2-05E4-4894-9DAB-29DCF470E6F6}" type="presOf" srcId="{77FB00D7-8951-46AD-858D-14BB59E69558}" destId="{242365AC-A4BF-42FB-8CF8-92200F861CD3}" srcOrd="0" destOrd="0" presId="urn:microsoft.com/office/officeart/2005/8/layout/vList5"/>
    <dgm:cxn modelId="{066A0BC4-F691-4A92-B914-8D9ABE3F65A2}" type="presOf" srcId="{B2525049-14C8-4695-880A-845E0FEEB47A}" destId="{3A5D7A09-3FBA-4DCB-96B8-3FC42A3EA6A8}" srcOrd="0" destOrd="2" presId="urn:microsoft.com/office/officeart/2005/8/layout/vList5"/>
    <dgm:cxn modelId="{FAC98749-9CDD-44C7-BA05-B760C4D7D4CC}" srcId="{1A2FDECF-DB65-4A0D-AA9E-C888473A59C6}" destId="{A469456F-2169-4804-B241-AE832C8C4234}" srcOrd="0" destOrd="0" parTransId="{DA60324B-C8D1-4DF0-8C2B-50A29976C9FE}" sibTransId="{DA6B5F30-F9C9-4209-9A9D-E7864E28DF4C}"/>
    <dgm:cxn modelId="{4B8ABD75-0928-4881-9232-50A807096BCE}" type="presOf" srcId="{53BC14B1-84A6-4397-80E4-0E933FE2437B}" destId="{6F8108FD-7666-4827-8BE0-D4F15535B3E1}" srcOrd="0" destOrd="0" presId="urn:microsoft.com/office/officeart/2005/8/layout/vList5"/>
    <dgm:cxn modelId="{2845B2FA-C0CD-4DA0-B2F5-22460C324172}" srcId="{1A2FDECF-DB65-4A0D-AA9E-C888473A59C6}" destId="{79403432-D1FC-478B-83D6-DEA2F3BA2BAC}" srcOrd="2" destOrd="0" parTransId="{1BED5110-0754-4AE1-B7BD-73B98AF9D461}" sibTransId="{CB2C9D79-482A-40D6-856A-2CA50525A50F}"/>
    <dgm:cxn modelId="{5CD872AF-553E-456D-A6B6-AAC870A606B7}" type="presOf" srcId="{7FFEB090-AF2D-4583-9B6E-CDFBC50EF08C}" destId="{A2A66893-0033-478E-A090-9D2375213EF0}" srcOrd="0" destOrd="0" presId="urn:microsoft.com/office/officeart/2005/8/layout/vList5"/>
    <dgm:cxn modelId="{DAB6C1FE-F388-4FE7-8FCF-EBF6E94AC021}" type="presOf" srcId="{7A6F9220-DF32-4315-B1D0-FABD5A32BC86}" destId="{100F32C4-11FB-46C9-BB6D-9762A37DB25D}" srcOrd="0" destOrd="2" presId="urn:microsoft.com/office/officeart/2005/8/layout/vList5"/>
    <dgm:cxn modelId="{FA33BBF0-62EE-42E2-9695-9E42CFA91712}" srcId="{77FB00D7-8951-46AD-858D-14BB59E69558}" destId="{24D02500-8BAB-4EC0-BCC4-C62AE82C5E22}" srcOrd="1" destOrd="0" parTransId="{4E59CEF2-5563-4ED8-B927-DEC7EA9C85B2}" sibTransId="{3462BBC5-8347-43AC-AC9F-7BA33C77412B}"/>
    <dgm:cxn modelId="{28FEB233-E232-46CB-914A-7BA4A1E2ECD2}" srcId="{09DE5D1E-346C-4A12-8615-14FF62B6B430}" destId="{53BC14B1-84A6-4397-80E4-0E933FE2437B}" srcOrd="0" destOrd="0" parTransId="{89458296-5ABA-47AC-833F-EFB6D9FDE663}" sibTransId="{8FD64237-EC08-40A1-A423-FFD7185CC850}"/>
    <dgm:cxn modelId="{012AE8FB-69A8-40BD-BC2A-B186F9DD65D5}" type="presOf" srcId="{79403432-D1FC-478B-83D6-DEA2F3BA2BAC}" destId="{092DD7D6-60F2-4471-B49C-1B8BC1076BAF}" srcOrd="0" destOrd="2" presId="urn:microsoft.com/office/officeart/2005/8/layout/vList5"/>
    <dgm:cxn modelId="{B038AC0F-5B01-4CC9-9F17-F326D9E1A9C6}" type="presOf" srcId="{AC4E205F-91F3-4CF9-90B9-84B0370AC2DA}" destId="{6F8108FD-7666-4827-8BE0-D4F15535B3E1}" srcOrd="0" destOrd="1" presId="urn:microsoft.com/office/officeart/2005/8/layout/vList5"/>
    <dgm:cxn modelId="{26320F30-B05B-4E81-8EB6-6AA78D63D2F5}" srcId="{B09DDD5C-0A56-4AB4-A1DF-C95DCC27672D}" destId="{D2AD1B61-251C-4CE6-898F-7781CEB430F0}" srcOrd="2" destOrd="0" parTransId="{A46950E1-C661-4A14-8943-7356AEF09D57}" sibTransId="{2B95F496-33E5-4573-9D6B-3F03D2F801F4}"/>
    <dgm:cxn modelId="{AC356D6B-1430-457B-9691-43CF48532569}" srcId="{DB10456F-3686-4D14-8376-ACF2FCBB4C0E}" destId="{C0308E9C-73D6-4DE0-8B3D-8C2092A12B4E}" srcOrd="1" destOrd="0" parTransId="{75EF4080-E093-41C9-9ACF-2A0AAD813551}" sibTransId="{5138238E-2BEA-4F7C-A63C-3D4F8989A897}"/>
    <dgm:cxn modelId="{660EA1F9-E896-44E5-8771-F81B96021738}" type="presOf" srcId="{B4B0D524-D738-4103-A193-1BF1864E9A64}" destId="{100F32C4-11FB-46C9-BB6D-9762A37DB25D}" srcOrd="0" destOrd="0" presId="urn:microsoft.com/office/officeart/2005/8/layout/vList5"/>
    <dgm:cxn modelId="{079E2A0E-C868-42E9-9A44-E0BDBF20F7BF}" srcId="{7FFEB090-AF2D-4583-9B6E-CDFBC50EF08C}" destId="{B09DDD5C-0A56-4AB4-A1DF-C95DCC27672D}" srcOrd="0" destOrd="0" parTransId="{3029CBC3-2C61-4905-B9E8-E639CA831559}" sibTransId="{3B6DDF71-078D-4C7F-B13A-2E9C1CE64510}"/>
    <dgm:cxn modelId="{5B58B143-4661-424C-B7FF-C0189E445D9A}" srcId="{09DE5D1E-346C-4A12-8615-14FF62B6B430}" destId="{68536E33-6F5C-40BC-9475-85C94E3E7097}" srcOrd="2" destOrd="0" parTransId="{0387B8FC-E541-4424-8EAA-E25D50CDD25E}" sibTransId="{70583759-22BD-41BE-85C1-9187CC9757F7}"/>
    <dgm:cxn modelId="{ACFB8B70-CB18-432E-88A7-33912EB5A9AE}" type="presOf" srcId="{68536E33-6F5C-40BC-9475-85C94E3E7097}" destId="{6F8108FD-7666-4827-8BE0-D4F15535B3E1}" srcOrd="0" destOrd="2" presId="urn:microsoft.com/office/officeart/2005/8/layout/vList5"/>
    <dgm:cxn modelId="{DB573013-5994-485B-97EB-BE39011D6776}" srcId="{77FB00D7-8951-46AD-858D-14BB59E69558}" destId="{B4B0D524-D738-4103-A193-1BF1864E9A64}" srcOrd="0" destOrd="0" parTransId="{B0DA1A8D-3694-4031-BAA7-0302EF9A7B00}" sibTransId="{A8F7ADBA-A1D2-432A-A799-DF91ED40A69C}"/>
    <dgm:cxn modelId="{7C8A7595-2335-4A1A-BB1C-FA158B0FA47A}" type="presOf" srcId="{09DE5D1E-346C-4A12-8615-14FF62B6B430}" destId="{1E5771EA-1ED9-4ACC-B450-12C9123D126B}" srcOrd="0" destOrd="0" presId="urn:microsoft.com/office/officeart/2005/8/layout/vList5"/>
    <dgm:cxn modelId="{687DF620-2058-4585-9393-8C4BD553DBFE}" type="presOf" srcId="{24D02500-8BAB-4EC0-BCC4-C62AE82C5E22}" destId="{100F32C4-11FB-46C9-BB6D-9762A37DB25D}" srcOrd="0" destOrd="1" presId="urn:microsoft.com/office/officeart/2005/8/layout/vList5"/>
    <dgm:cxn modelId="{C05D4726-9690-4A06-BAE8-4E661016B6DC}" type="presOf" srcId="{8F07EEE8-AD83-427D-A60A-79CAD2C346B9}" destId="{3A5D7A09-3FBA-4DCB-96B8-3FC42A3EA6A8}" srcOrd="0" destOrd="0" presId="urn:microsoft.com/office/officeart/2005/8/layout/vList5"/>
    <dgm:cxn modelId="{1E345A30-CD1D-483E-BE59-18A33EB7E13A}" srcId="{1A2FDECF-DB65-4A0D-AA9E-C888473A59C6}" destId="{6CF8A410-C055-4A3A-B07F-C25BE89C9C4D}" srcOrd="1" destOrd="0" parTransId="{F1F97B21-EF59-4C7C-B86F-083DA9692F09}" sibTransId="{FD65C060-7502-44E3-A5EE-8837564ACE20}"/>
    <dgm:cxn modelId="{C5810265-D0EA-473F-BC46-DF7DCC828523}" srcId="{B09DDD5C-0A56-4AB4-A1DF-C95DCC27672D}" destId="{BB652870-4446-4E57-8CA3-0FDD66A23706}" srcOrd="1" destOrd="0" parTransId="{65F2CA0B-1B3C-4BCA-808A-1D3661C86C0C}" sibTransId="{F051B492-7AD4-4F4D-BE99-3CB4975B43E2}"/>
    <dgm:cxn modelId="{7E5AA578-8CB7-401D-85DB-88ABAD56A2BF}" srcId="{7FFEB090-AF2D-4583-9B6E-CDFBC50EF08C}" destId="{DB10456F-3686-4D14-8376-ACF2FCBB4C0E}" srcOrd="4" destOrd="0" parTransId="{2ACFE9BF-1EA9-437A-A135-C08DF804104E}" sibTransId="{8A590EDC-0F55-4986-8D62-4D25D4D4627D}"/>
    <dgm:cxn modelId="{3FEE1E0B-4EB3-4E06-9EA6-10E65A1470AC}" srcId="{DB10456F-3686-4D14-8376-ACF2FCBB4C0E}" destId="{B2525049-14C8-4695-880A-845E0FEEB47A}" srcOrd="2" destOrd="0" parTransId="{26B93C68-5BB0-4B41-AA90-5B233B546C31}" sibTransId="{228BBBA6-7E3F-4246-80C1-D5AD56181DC7}"/>
    <dgm:cxn modelId="{7784FC3B-347A-4E65-842F-FE3525F60540}" type="presOf" srcId="{D2AD1B61-251C-4CE6-898F-7781CEB430F0}" destId="{6D5A24E2-7AD3-4901-AB51-5D2634FB46C8}" srcOrd="0" destOrd="2" presId="urn:microsoft.com/office/officeart/2005/8/layout/vList5"/>
    <dgm:cxn modelId="{3EB8F177-50CF-40C6-AE62-9081F115C3AF}" srcId="{77FB00D7-8951-46AD-858D-14BB59E69558}" destId="{7A6F9220-DF32-4315-B1D0-FABD5A32BC86}" srcOrd="2" destOrd="0" parTransId="{E2C6CC75-4699-4B19-85FA-A2D0B64826CB}" sibTransId="{F96F4A8A-C9B3-48A3-B57F-C3ABC2F089F2}"/>
    <dgm:cxn modelId="{6FCBB4B7-E9BD-4540-9579-6148E17BBDE9}" type="presOf" srcId="{3EC59C32-BD44-454B-ABA3-E0396C389AE8}" destId="{6D5A24E2-7AD3-4901-AB51-5D2634FB46C8}" srcOrd="0" destOrd="0" presId="urn:microsoft.com/office/officeart/2005/8/layout/vList5"/>
    <dgm:cxn modelId="{4FCCB7F3-3EBB-468B-8DAF-2C8CB300C3A9}" type="presOf" srcId="{6CF8A410-C055-4A3A-B07F-C25BE89C9C4D}" destId="{092DD7D6-60F2-4471-B49C-1B8BC1076BAF}" srcOrd="0" destOrd="1" presId="urn:microsoft.com/office/officeart/2005/8/layout/vList5"/>
    <dgm:cxn modelId="{AA381ECA-46A9-4707-9E27-01934E304814}" type="presOf" srcId="{C0308E9C-73D6-4DE0-8B3D-8C2092A12B4E}" destId="{3A5D7A09-3FBA-4DCB-96B8-3FC42A3EA6A8}" srcOrd="0" destOrd="1" presId="urn:microsoft.com/office/officeart/2005/8/layout/vList5"/>
    <dgm:cxn modelId="{24BBBB4B-6063-400B-BD3A-D71C88F7DF0F}" type="presOf" srcId="{DB10456F-3686-4D14-8376-ACF2FCBB4C0E}" destId="{4166D416-BF05-4D00-A9AD-4AD1F616F01E}" srcOrd="0" destOrd="0" presId="urn:microsoft.com/office/officeart/2005/8/layout/vList5"/>
    <dgm:cxn modelId="{08FE7C99-52AD-4F14-94A8-54C289710982}" type="presOf" srcId="{BB652870-4446-4E57-8CA3-0FDD66A23706}" destId="{6D5A24E2-7AD3-4901-AB51-5D2634FB46C8}" srcOrd="0" destOrd="1" presId="urn:microsoft.com/office/officeart/2005/8/layout/vList5"/>
    <dgm:cxn modelId="{0908CCEA-EEB0-421D-B776-980E34A54157}" type="presOf" srcId="{B09DDD5C-0A56-4AB4-A1DF-C95DCC27672D}" destId="{E2CA3236-D3FB-460F-BFD4-FDD4399CCEF8}" srcOrd="0" destOrd="0" presId="urn:microsoft.com/office/officeart/2005/8/layout/vList5"/>
    <dgm:cxn modelId="{828C3900-5D83-451B-B06A-03BAA218CE31}" srcId="{B09DDD5C-0A56-4AB4-A1DF-C95DCC27672D}" destId="{3EC59C32-BD44-454B-ABA3-E0396C389AE8}" srcOrd="0" destOrd="0" parTransId="{64C58297-5653-4348-A261-879BFA6F26DE}" sibTransId="{04919E74-28BB-406B-8492-5FEC0A0312AE}"/>
    <dgm:cxn modelId="{1AF6F31B-DB90-425D-90B5-C9AA12972653}" srcId="{09DE5D1E-346C-4A12-8615-14FF62B6B430}" destId="{AC4E205F-91F3-4CF9-90B9-84B0370AC2DA}" srcOrd="1" destOrd="0" parTransId="{03B3D89D-5F2C-4FDA-B90F-C630BA443094}" sibTransId="{395CF64D-EFA8-4729-9C38-416E3166D121}"/>
    <dgm:cxn modelId="{31DBE16C-A4AF-4220-9C27-F3082861E622}" srcId="{7FFEB090-AF2D-4583-9B6E-CDFBC50EF08C}" destId="{77FB00D7-8951-46AD-858D-14BB59E69558}" srcOrd="3" destOrd="0" parTransId="{975E3811-4D88-433B-9567-056F341AF065}" sibTransId="{2545AC3D-39B6-46F1-8190-3B0D4FAEC5D0}"/>
    <dgm:cxn modelId="{D235657C-1981-420F-BCE2-4FD48D6A29EF}" type="presOf" srcId="{A469456F-2169-4804-B241-AE832C8C4234}" destId="{092DD7D6-60F2-4471-B49C-1B8BC1076BAF}" srcOrd="0" destOrd="0" presId="urn:microsoft.com/office/officeart/2005/8/layout/vList5"/>
    <dgm:cxn modelId="{C540C8F7-5FED-4E6C-A039-6662D5553BF5}" srcId="{DB10456F-3686-4D14-8376-ACF2FCBB4C0E}" destId="{8F07EEE8-AD83-427D-A60A-79CAD2C346B9}" srcOrd="0" destOrd="0" parTransId="{C7B9EB43-5CC1-4BDC-BEC1-47E38DCC4210}" sibTransId="{A6F38536-65D4-4067-A726-19D2082F5096}"/>
    <dgm:cxn modelId="{94BC48A0-F9F8-417C-8A26-ABCFDF99841B}" type="presOf" srcId="{1A2FDECF-DB65-4A0D-AA9E-C888473A59C6}" destId="{2A6E3A37-9661-4ECF-A283-8D8E2880C83A}" srcOrd="0" destOrd="0" presId="urn:microsoft.com/office/officeart/2005/8/layout/vList5"/>
    <dgm:cxn modelId="{5BEE2BD7-5843-42EA-8322-D169CFF7F3AD}" type="presParOf" srcId="{A2A66893-0033-478E-A090-9D2375213EF0}" destId="{D9A60C6F-BFCE-40F4-BFFB-1A7B5CC27C5A}" srcOrd="0" destOrd="0" presId="urn:microsoft.com/office/officeart/2005/8/layout/vList5"/>
    <dgm:cxn modelId="{18B291BC-3E6E-4A4F-8936-8D9EF8269BAB}" type="presParOf" srcId="{D9A60C6F-BFCE-40F4-BFFB-1A7B5CC27C5A}" destId="{E2CA3236-D3FB-460F-BFD4-FDD4399CCEF8}" srcOrd="0" destOrd="0" presId="urn:microsoft.com/office/officeart/2005/8/layout/vList5"/>
    <dgm:cxn modelId="{3AA2178A-B968-493F-B05C-8CADF5E57CAD}" type="presParOf" srcId="{D9A60C6F-BFCE-40F4-BFFB-1A7B5CC27C5A}" destId="{6D5A24E2-7AD3-4901-AB51-5D2634FB46C8}" srcOrd="1" destOrd="0" presId="urn:microsoft.com/office/officeart/2005/8/layout/vList5"/>
    <dgm:cxn modelId="{B091B2B0-103B-4086-9BF0-3C7073A074F9}" type="presParOf" srcId="{A2A66893-0033-478E-A090-9D2375213EF0}" destId="{CDFB6862-F4C2-45BC-98F7-918C0D10EAD0}" srcOrd="1" destOrd="0" presId="urn:microsoft.com/office/officeart/2005/8/layout/vList5"/>
    <dgm:cxn modelId="{717CCC61-4D36-451F-9368-4D70DBF51DB3}" type="presParOf" srcId="{A2A66893-0033-478E-A090-9D2375213EF0}" destId="{BD336D9B-B1F2-4130-8097-9AD1BE624958}" srcOrd="2" destOrd="0" presId="urn:microsoft.com/office/officeart/2005/8/layout/vList5"/>
    <dgm:cxn modelId="{B7068AAE-470E-4C5D-9071-6C306CF14BF2}" type="presParOf" srcId="{BD336D9B-B1F2-4130-8097-9AD1BE624958}" destId="{2A6E3A37-9661-4ECF-A283-8D8E2880C83A}" srcOrd="0" destOrd="0" presId="urn:microsoft.com/office/officeart/2005/8/layout/vList5"/>
    <dgm:cxn modelId="{65A2529A-BAD1-44A6-B04B-5AF16D7A81AF}" type="presParOf" srcId="{BD336D9B-B1F2-4130-8097-9AD1BE624958}" destId="{092DD7D6-60F2-4471-B49C-1B8BC1076BAF}" srcOrd="1" destOrd="0" presId="urn:microsoft.com/office/officeart/2005/8/layout/vList5"/>
    <dgm:cxn modelId="{666C45A0-628C-45CA-83F6-78F01005DFEE}" type="presParOf" srcId="{A2A66893-0033-478E-A090-9D2375213EF0}" destId="{6D877535-2E5A-4664-88EB-419C2F2608A0}" srcOrd="3" destOrd="0" presId="urn:microsoft.com/office/officeart/2005/8/layout/vList5"/>
    <dgm:cxn modelId="{CA275C54-9B34-43DB-9DAB-AE6A1502F4E9}" type="presParOf" srcId="{A2A66893-0033-478E-A090-9D2375213EF0}" destId="{83B16A5C-7EFD-450C-BA64-DC9616044B8C}" srcOrd="4" destOrd="0" presId="urn:microsoft.com/office/officeart/2005/8/layout/vList5"/>
    <dgm:cxn modelId="{5A2B0449-E641-4CE8-B834-94ACE9342476}" type="presParOf" srcId="{83B16A5C-7EFD-450C-BA64-DC9616044B8C}" destId="{1E5771EA-1ED9-4ACC-B450-12C9123D126B}" srcOrd="0" destOrd="0" presId="urn:microsoft.com/office/officeart/2005/8/layout/vList5"/>
    <dgm:cxn modelId="{6F5012B5-96AD-42F2-8270-DD04CB98E34F}" type="presParOf" srcId="{83B16A5C-7EFD-450C-BA64-DC9616044B8C}" destId="{6F8108FD-7666-4827-8BE0-D4F15535B3E1}" srcOrd="1" destOrd="0" presId="urn:microsoft.com/office/officeart/2005/8/layout/vList5"/>
    <dgm:cxn modelId="{A9D6C25F-2B88-4336-A19A-9D81E7A3E018}" type="presParOf" srcId="{A2A66893-0033-478E-A090-9D2375213EF0}" destId="{ED4865EB-D674-4EE9-B38D-F00C6EA1DED2}" srcOrd="5" destOrd="0" presId="urn:microsoft.com/office/officeart/2005/8/layout/vList5"/>
    <dgm:cxn modelId="{B0BB785A-3BC6-45F4-9B8F-41E1E4D06DF9}" type="presParOf" srcId="{A2A66893-0033-478E-A090-9D2375213EF0}" destId="{16A96DA6-FFEC-4626-9C32-F50671A036D1}" srcOrd="6" destOrd="0" presId="urn:microsoft.com/office/officeart/2005/8/layout/vList5"/>
    <dgm:cxn modelId="{F01554AD-8E4C-4F9C-B52E-8AEE22473032}" type="presParOf" srcId="{16A96DA6-FFEC-4626-9C32-F50671A036D1}" destId="{242365AC-A4BF-42FB-8CF8-92200F861CD3}" srcOrd="0" destOrd="0" presId="urn:microsoft.com/office/officeart/2005/8/layout/vList5"/>
    <dgm:cxn modelId="{2C498DF2-307A-4E39-AF07-BF5800695E2E}" type="presParOf" srcId="{16A96DA6-FFEC-4626-9C32-F50671A036D1}" destId="{100F32C4-11FB-46C9-BB6D-9762A37DB25D}" srcOrd="1" destOrd="0" presId="urn:microsoft.com/office/officeart/2005/8/layout/vList5"/>
    <dgm:cxn modelId="{07A0A69F-3DE3-400E-9762-8D5909EB1A22}" type="presParOf" srcId="{A2A66893-0033-478E-A090-9D2375213EF0}" destId="{E3356806-D694-4940-BD2C-A40E42AD6945}" srcOrd="7" destOrd="0" presId="urn:microsoft.com/office/officeart/2005/8/layout/vList5"/>
    <dgm:cxn modelId="{D022DF1C-814B-4617-A785-1D494B5041D7}" type="presParOf" srcId="{A2A66893-0033-478E-A090-9D2375213EF0}" destId="{32ED57A7-2C52-408A-973A-9DDC2106BA43}" srcOrd="8" destOrd="0" presId="urn:microsoft.com/office/officeart/2005/8/layout/vList5"/>
    <dgm:cxn modelId="{8ABF9111-267D-4614-85AC-9530619B5A2E}" type="presParOf" srcId="{32ED57A7-2C52-408A-973A-9DDC2106BA43}" destId="{4166D416-BF05-4D00-A9AD-4AD1F616F01E}" srcOrd="0" destOrd="0" presId="urn:microsoft.com/office/officeart/2005/8/layout/vList5"/>
    <dgm:cxn modelId="{06FF4CD0-F667-44F3-9F20-1180F6BA17AF}" type="presParOf" srcId="{32ED57A7-2C52-408A-973A-9DDC2106BA43}" destId="{3A5D7A09-3FBA-4DCB-96B8-3FC42A3EA6A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EE70CE-1C06-4112-81E2-596AC0C7F19D}">
      <dsp:nvSpPr>
        <dsp:cNvPr id="0" name=""/>
        <dsp:cNvSpPr/>
      </dsp:nvSpPr>
      <dsp:spPr>
        <a:xfrm>
          <a:off x="0" y="0"/>
          <a:ext cx="2977916" cy="560771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65A3DE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b="0" kern="1200" smtClean="0"/>
            <a:t>1974</a:t>
          </a:r>
          <a:endParaRPr lang="ru-RU" sz="2400" b="0" kern="1200" dirty="0"/>
        </a:p>
      </dsp:txBody>
      <dsp:txXfrm>
        <a:off x="280386" y="0"/>
        <a:ext cx="2417145" cy="560771"/>
      </dsp:txXfrm>
    </dsp:sp>
    <dsp:sp modelId="{2E8E3B6D-2C75-453F-AEE8-9225255D42DC}">
      <dsp:nvSpPr>
        <dsp:cNvPr id="0" name=""/>
        <dsp:cNvSpPr/>
      </dsp:nvSpPr>
      <dsp:spPr>
        <a:xfrm>
          <a:off x="2685240" y="0"/>
          <a:ext cx="2977916" cy="560771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b="0" kern="1200" dirty="0" smtClean="0"/>
            <a:t>1980-82 1988</a:t>
          </a:r>
          <a:endParaRPr lang="ru-RU" sz="2400" b="0" kern="1200" dirty="0"/>
        </a:p>
      </dsp:txBody>
      <dsp:txXfrm>
        <a:off x="2965626" y="0"/>
        <a:ext cx="2417145" cy="560771"/>
      </dsp:txXfrm>
    </dsp:sp>
    <dsp:sp modelId="{19DE2555-7DEC-49B1-B03F-2CAEB74D53C8}">
      <dsp:nvSpPr>
        <dsp:cNvPr id="0" name=""/>
        <dsp:cNvSpPr/>
      </dsp:nvSpPr>
      <dsp:spPr>
        <a:xfrm>
          <a:off x="5365366" y="0"/>
          <a:ext cx="2977916" cy="560771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b="0" kern="1200" dirty="0" smtClean="0"/>
            <a:t>1997-98 2004</a:t>
          </a:r>
          <a:endParaRPr lang="ru-RU" sz="2400" b="0" kern="1200" dirty="0"/>
        </a:p>
      </dsp:txBody>
      <dsp:txXfrm>
        <a:off x="5645752" y="0"/>
        <a:ext cx="2417145" cy="560771"/>
      </dsp:txXfrm>
    </dsp:sp>
    <dsp:sp modelId="{6ED7FE6C-2DBD-4B96-A1CC-C41A1202E41E}">
      <dsp:nvSpPr>
        <dsp:cNvPr id="0" name=""/>
        <dsp:cNvSpPr/>
      </dsp:nvSpPr>
      <dsp:spPr>
        <a:xfrm>
          <a:off x="8045491" y="0"/>
          <a:ext cx="2977916" cy="560771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b="0" kern="1200" smtClean="0"/>
            <a:t>2007-09 2010</a:t>
          </a:r>
          <a:endParaRPr lang="ru-RU" sz="2400" b="0" kern="1200" dirty="0"/>
        </a:p>
      </dsp:txBody>
      <dsp:txXfrm>
        <a:off x="8325877" y="0"/>
        <a:ext cx="2417145" cy="5607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5A24E2-7AD3-4901-AB51-5D2634FB46C8}">
      <dsp:nvSpPr>
        <dsp:cNvPr id="0" name=""/>
        <dsp:cNvSpPr/>
      </dsp:nvSpPr>
      <dsp:spPr>
        <a:xfrm rot="5400000">
          <a:off x="7279267" y="-3108337"/>
          <a:ext cx="808018" cy="723131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kern="1200" dirty="0" smtClean="0"/>
            <a:t>Отраслевая диверсификация</a:t>
          </a:r>
          <a:endParaRPr lang="ru-RU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kern="1200" dirty="0" smtClean="0"/>
            <a:t>Географическая диверсификация</a:t>
          </a:r>
          <a:endParaRPr lang="ru-RU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kern="1200" dirty="0" smtClean="0"/>
            <a:t>По типам заемщиков</a:t>
          </a:r>
          <a:endParaRPr lang="ru-RU" sz="1800" kern="1200" dirty="0"/>
        </a:p>
      </dsp:txBody>
      <dsp:txXfrm rot="-5400000">
        <a:off x="4067617" y="142757"/>
        <a:ext cx="7191875" cy="729130"/>
      </dsp:txXfrm>
    </dsp:sp>
    <dsp:sp modelId="{E2CA3236-D3FB-460F-BFD4-FDD4399CCEF8}">
      <dsp:nvSpPr>
        <dsp:cNvPr id="0" name=""/>
        <dsp:cNvSpPr/>
      </dsp:nvSpPr>
      <dsp:spPr>
        <a:xfrm>
          <a:off x="0" y="2310"/>
          <a:ext cx="4067616" cy="1010023"/>
        </a:xfrm>
        <a:prstGeom prst="roundRect">
          <a:avLst/>
        </a:prstGeom>
        <a:solidFill>
          <a:srgbClr val="A6CAEC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 dirty="0" smtClean="0"/>
            <a:t>Диверсификация</a:t>
          </a:r>
          <a:endParaRPr lang="ru-RU" sz="2100" kern="1200" dirty="0"/>
        </a:p>
      </dsp:txBody>
      <dsp:txXfrm>
        <a:off x="49305" y="51615"/>
        <a:ext cx="3969006" cy="911413"/>
      </dsp:txXfrm>
    </dsp:sp>
    <dsp:sp modelId="{092DD7D6-60F2-4471-B49C-1B8BC1076BAF}">
      <dsp:nvSpPr>
        <dsp:cNvPr id="0" name=""/>
        <dsp:cNvSpPr/>
      </dsp:nvSpPr>
      <dsp:spPr>
        <a:xfrm rot="5400000">
          <a:off x="7279267" y="-2047813"/>
          <a:ext cx="808018" cy="723131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kern="1200" dirty="0" err="1" smtClean="0"/>
            <a:t>Скоринг</a:t>
          </a:r>
          <a:r>
            <a:rPr lang="ru-RU" sz="1800" kern="1200" dirty="0" smtClean="0"/>
            <a:t>-модели</a:t>
          </a:r>
          <a:endParaRPr lang="ru-RU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kern="1200" dirty="0" smtClean="0"/>
            <a:t>Анализ финансовой отчетности</a:t>
          </a:r>
          <a:endParaRPr lang="ru-RU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kern="1200" dirty="0" smtClean="0"/>
            <a:t>Кредитная история</a:t>
          </a:r>
          <a:endParaRPr lang="ru-RU" sz="1800" kern="1200" dirty="0"/>
        </a:p>
      </dsp:txBody>
      <dsp:txXfrm rot="-5400000">
        <a:off x="4067617" y="1203281"/>
        <a:ext cx="7191875" cy="729130"/>
      </dsp:txXfrm>
    </dsp:sp>
    <dsp:sp modelId="{2A6E3A37-9661-4ECF-A283-8D8E2880C83A}">
      <dsp:nvSpPr>
        <dsp:cNvPr id="0" name=""/>
        <dsp:cNvSpPr/>
      </dsp:nvSpPr>
      <dsp:spPr>
        <a:xfrm>
          <a:off x="0" y="1062834"/>
          <a:ext cx="4067616" cy="1010023"/>
        </a:xfrm>
        <a:prstGeom prst="roundRect">
          <a:avLst/>
        </a:prstGeom>
        <a:solidFill>
          <a:srgbClr val="A6CAEC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 dirty="0" smtClean="0"/>
            <a:t>Оценка кредитоспособности заемщиков</a:t>
          </a:r>
          <a:endParaRPr lang="ru-RU" sz="2100" kern="1200" dirty="0"/>
        </a:p>
      </dsp:txBody>
      <dsp:txXfrm>
        <a:off x="49305" y="1112139"/>
        <a:ext cx="3969006" cy="911413"/>
      </dsp:txXfrm>
    </dsp:sp>
    <dsp:sp modelId="{6F8108FD-7666-4827-8BE0-D4F15535B3E1}">
      <dsp:nvSpPr>
        <dsp:cNvPr id="0" name=""/>
        <dsp:cNvSpPr/>
      </dsp:nvSpPr>
      <dsp:spPr>
        <a:xfrm rot="5400000">
          <a:off x="7279267" y="-987289"/>
          <a:ext cx="808018" cy="723131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kern="1200" dirty="0" err="1" smtClean="0"/>
            <a:t>Лимитирование</a:t>
          </a:r>
          <a:endParaRPr lang="ru-RU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kern="1200" dirty="0" smtClean="0"/>
            <a:t>Стресс-тестирование</a:t>
          </a:r>
          <a:endParaRPr lang="ru-RU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kern="1200" dirty="0" smtClean="0"/>
            <a:t>Хеджирование</a:t>
          </a:r>
          <a:endParaRPr lang="ru-RU" sz="1800" kern="1200" dirty="0"/>
        </a:p>
      </dsp:txBody>
      <dsp:txXfrm rot="-5400000">
        <a:off x="4067617" y="2263805"/>
        <a:ext cx="7191875" cy="729130"/>
      </dsp:txXfrm>
    </dsp:sp>
    <dsp:sp modelId="{1E5771EA-1ED9-4ACC-B450-12C9123D126B}">
      <dsp:nvSpPr>
        <dsp:cNvPr id="0" name=""/>
        <dsp:cNvSpPr/>
      </dsp:nvSpPr>
      <dsp:spPr>
        <a:xfrm>
          <a:off x="0" y="2123358"/>
          <a:ext cx="4067616" cy="1010023"/>
        </a:xfrm>
        <a:prstGeom prst="roundRect">
          <a:avLst/>
        </a:prstGeom>
        <a:solidFill>
          <a:srgbClr val="A6CAEC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 dirty="0" smtClean="0"/>
            <a:t>Риск менеджмент</a:t>
          </a:r>
          <a:endParaRPr lang="ru-RU" sz="2100" kern="1200" dirty="0"/>
        </a:p>
      </dsp:txBody>
      <dsp:txXfrm>
        <a:off x="49305" y="2172663"/>
        <a:ext cx="3969006" cy="911413"/>
      </dsp:txXfrm>
    </dsp:sp>
    <dsp:sp modelId="{100F32C4-11FB-46C9-BB6D-9762A37DB25D}">
      <dsp:nvSpPr>
        <dsp:cNvPr id="0" name=""/>
        <dsp:cNvSpPr/>
      </dsp:nvSpPr>
      <dsp:spPr>
        <a:xfrm rot="5400000">
          <a:off x="7279267" y="73234"/>
          <a:ext cx="808018" cy="723131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kern="1200" dirty="0" smtClean="0"/>
            <a:t>Реструктуризация долга</a:t>
          </a:r>
          <a:endParaRPr lang="ru-RU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kern="1200" dirty="0" smtClean="0"/>
            <a:t>Продажа проблемных активов</a:t>
          </a:r>
          <a:endParaRPr lang="ru-RU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kern="1200" dirty="0" smtClean="0"/>
            <a:t>Судебное взыскание</a:t>
          </a:r>
          <a:endParaRPr lang="ru-RU" sz="1800" kern="1200" dirty="0"/>
        </a:p>
      </dsp:txBody>
      <dsp:txXfrm rot="-5400000">
        <a:off x="4067617" y="3324328"/>
        <a:ext cx="7191875" cy="729130"/>
      </dsp:txXfrm>
    </dsp:sp>
    <dsp:sp modelId="{242365AC-A4BF-42FB-8CF8-92200F861CD3}">
      <dsp:nvSpPr>
        <dsp:cNvPr id="0" name=""/>
        <dsp:cNvSpPr/>
      </dsp:nvSpPr>
      <dsp:spPr>
        <a:xfrm>
          <a:off x="0" y="3183882"/>
          <a:ext cx="4067616" cy="1010023"/>
        </a:xfrm>
        <a:prstGeom prst="roundRect">
          <a:avLst/>
        </a:prstGeom>
        <a:solidFill>
          <a:srgbClr val="A6CAEC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b="0" kern="1200" dirty="0" smtClean="0"/>
            <a:t>Управление просроченной задолженностью</a:t>
          </a:r>
          <a:endParaRPr lang="ru-RU" sz="2100" b="0" kern="1200" dirty="0"/>
        </a:p>
      </dsp:txBody>
      <dsp:txXfrm>
        <a:off x="49305" y="3233187"/>
        <a:ext cx="3969006" cy="911413"/>
      </dsp:txXfrm>
    </dsp:sp>
    <dsp:sp modelId="{3A5D7A09-3FBA-4DCB-96B8-3FC42A3EA6A8}">
      <dsp:nvSpPr>
        <dsp:cNvPr id="0" name=""/>
        <dsp:cNvSpPr/>
      </dsp:nvSpPr>
      <dsp:spPr>
        <a:xfrm rot="5400000">
          <a:off x="7279267" y="1133758"/>
          <a:ext cx="808018" cy="723131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kern="1200" dirty="0" smtClean="0"/>
            <a:t>Н1(достаточность капитала)</a:t>
          </a:r>
          <a:endParaRPr lang="ru-RU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kern="1200" dirty="0" smtClean="0"/>
            <a:t>Н6 (концентрация крупных кредитных рисков)</a:t>
          </a:r>
          <a:endParaRPr lang="ru-RU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kern="1200" dirty="0" smtClean="0"/>
            <a:t>Резервирование</a:t>
          </a:r>
          <a:endParaRPr lang="ru-RU" sz="1800" kern="1200" dirty="0"/>
        </a:p>
      </dsp:txBody>
      <dsp:txXfrm rot="-5400000">
        <a:off x="4067617" y="4384852"/>
        <a:ext cx="7191875" cy="729130"/>
      </dsp:txXfrm>
    </dsp:sp>
    <dsp:sp modelId="{4166D416-BF05-4D00-A9AD-4AD1F616F01E}">
      <dsp:nvSpPr>
        <dsp:cNvPr id="0" name=""/>
        <dsp:cNvSpPr/>
      </dsp:nvSpPr>
      <dsp:spPr>
        <a:xfrm>
          <a:off x="0" y="4244406"/>
          <a:ext cx="4067616" cy="1010023"/>
        </a:xfrm>
        <a:prstGeom prst="roundRect">
          <a:avLst/>
        </a:prstGeom>
        <a:solidFill>
          <a:srgbClr val="A6CAEC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b="0" kern="1200" dirty="0" smtClean="0"/>
            <a:t>Соблюдение регуляторных требований</a:t>
          </a:r>
          <a:endParaRPr lang="ru-RU" sz="2100" b="0" kern="1200" dirty="0"/>
        </a:p>
      </dsp:txBody>
      <dsp:txXfrm>
        <a:off x="49305" y="4293711"/>
        <a:ext cx="3969006" cy="9114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82243B-EE75-4212-BB2B-DA6BD3F409F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4D3843-0BC9-4B16-9CF0-43B68075B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166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1" dirty="0" smtClean="0"/>
              <a:t>Эмпирическая калибровка</a:t>
            </a:r>
            <a:r>
              <a:rPr lang="ru-RU" dirty="0" smtClean="0"/>
              <a:t>: EDF основана на реальных данных, а не теоретических предположениях</a:t>
            </a:r>
            <a:endParaRPr lang="ru-RU" b="1" dirty="0" smtClean="0"/>
          </a:p>
          <a:p>
            <a:r>
              <a:rPr lang="ru-RU" b="1" dirty="0" smtClean="0"/>
              <a:t>Учёт рыночной информации</a:t>
            </a:r>
            <a:r>
              <a:rPr lang="ru-RU" dirty="0" smtClean="0"/>
              <a:t>: стоимость активов оценивается через капитализацию, а не балансовые показатели</a:t>
            </a:r>
          </a:p>
          <a:p>
            <a:r>
              <a:rPr lang="ru-RU" b="1" dirty="0" smtClean="0"/>
              <a:t>Гибкость</a:t>
            </a:r>
            <a:r>
              <a:rPr lang="ru-RU" dirty="0" smtClean="0"/>
              <a:t>: применяется как к публичным, так и частным компаниям (через </a:t>
            </a:r>
            <a:r>
              <a:rPr lang="ru-RU" dirty="0" err="1" smtClean="0"/>
              <a:t>RiskCalc</a:t>
            </a:r>
            <a:r>
              <a:rPr lang="ru-RU" dirty="0" smtClean="0"/>
              <a:t>)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4D3843-0BC9-4B16-9CF0-43B68075B10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096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F04E0-6B3E-6727-6EE6-50429FA8A4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3BBD93-0C97-2C17-E6C1-AFD29F5E4E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C5422-AE98-82D1-95A1-67A2795A1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3E874-6855-4048-89B9-D7F86E5CDE00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1268D-770D-62DE-CA8E-81DF065BE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19B02-FEB5-E6F5-8EAE-5AC47C7CB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5E865-D77D-4EEE-8E64-8E4918C205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7288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16F85-9330-6E08-B07D-5A1DC2FEC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994B0-1171-B940-2DB6-E5329A3C8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DE87C-E0AB-80AE-277B-F9B670A9C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3E874-6855-4048-89B9-D7F86E5CDE00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CCB3E-5C9A-FD4D-F364-B2C0A6A78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DDAC5-D2AB-4DD8-88E8-D574FE7B2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5E865-D77D-4EEE-8E64-8E4918C205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50919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0A678-BC6E-E6B1-62E6-6449DC3DC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83638-65A8-F2A2-7253-03FDF7019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90E25-E455-6D35-E87B-9345E6664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3E874-6855-4048-89B9-D7F86E5CDE00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F14EB-39F0-33C6-F522-9B1499042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DD630E-FBC3-3EF5-CAE2-4EA0E823C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5E865-D77D-4EEE-8E64-8E4918C205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4791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75C47-4626-2961-673D-016174F33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7FA4D-2CB9-7EEC-C6DB-A14F9B9338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167704-EE3D-18F5-F9E1-3415A92B4F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A053DA-08B2-AA23-6B0A-D374584B1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3E874-6855-4048-89B9-D7F86E5CDE00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0BC16-E1AB-5656-F576-AB3DE33D4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2BA339-57B1-9FE1-238E-16EAA9B4B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5E865-D77D-4EEE-8E64-8E4918C205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175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B0E46-C425-F99A-49CD-D3346626C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0F62A-2184-51D0-2AD5-3A63C86E4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354665-930C-B073-7AFE-A2C78F3F27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B134BA-70DA-F4C6-CD42-E05E59B30B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4F4FA8-93DA-56AF-A8AC-D66503B5BC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3C78D7-37CD-BB65-C542-7AA719A36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3E874-6855-4048-89B9-D7F86E5CDE00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EC4F69-9F1B-4367-19F6-428F77E71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087FCE-FE16-BCBB-C02E-4B50C2321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5E865-D77D-4EEE-8E64-8E4918C205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394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D069B-1363-6DE0-5C33-F5F3F74E4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F5DBAC-60CF-EFA5-493A-73D7F0ED7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3E874-6855-4048-89B9-D7F86E5CDE00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700EE1-293F-847B-884F-0D6F9E13B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52E342-D88A-B26F-8B2E-28505F6C3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5E865-D77D-4EEE-8E64-8E4918C205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8782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2420B8-9E6D-7177-FC7F-4CB3FC909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3E874-6855-4048-89B9-D7F86E5CDE00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3583D5-FEB9-6022-3CD7-01553C8DA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242FD-ADE2-ED0B-1F3D-0934E4D11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5E865-D77D-4EEE-8E64-8E4918C205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6666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69FE3-67BC-757A-2436-D550FFAE0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FB907-55E4-4816-182F-7A0CAD1A8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F9A627-3E64-4FAC-D551-9B1DB13113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A59ECF-CBE3-F78E-EAAC-E88E3B513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3E874-6855-4048-89B9-D7F86E5CDE00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F48F7-7AC7-7C0D-A7DB-206A34F8D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F52265-5950-89AE-C6BE-51295D498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5E865-D77D-4EEE-8E64-8E4918C205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1419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290DC-7784-1A62-FAFF-997686DE1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5E0053-E736-5D56-113A-C2609E4713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2B29C0-226A-FEAB-60DE-9BB850FBFC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67F967-0D28-3761-4E8B-7FC42C275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3E874-6855-4048-89B9-D7F86E5CDE00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205F98-3569-7547-6DDD-03F55BF5F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5E90D6-C620-8D4F-EE7B-7826D3EC3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5E865-D77D-4EEE-8E64-8E4918C205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0665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C40F4-1A9D-C742-F717-A4EEA7926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2D12B1-4E9E-475F-D13A-00D0E93D78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79B07-EDA8-42A4-D1E7-B0A55E753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3E874-6855-4048-89B9-D7F86E5CDE00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2F84F-ABAE-321E-175A-6DA50E5E5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6D1F36-4155-721F-D4D6-B4CC53A7D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5E865-D77D-4EEE-8E64-8E4918C205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575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2F758F-9206-6B15-4BA8-2A93AB1AF2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9945C4-7F40-0C84-C552-9501F44C55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BC898-E9BA-C52B-5C5F-F52CABF34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3E874-6855-4048-89B9-D7F86E5CDE00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E4DB5-008D-72F3-6BAB-C8938F42D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E0F9B-0473-5BF6-9185-01680F7BC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5E865-D77D-4EEE-8E64-8E4918C205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640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907630-0004-FB81-E3A5-FA94759FF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636FF-1587-4885-A208-116ED2B40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A00CB-B935-9E8C-2AD6-A5A107E81D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A3E874-6855-4048-89B9-D7F86E5CDE00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D7D96-9FE5-71DD-87C4-434E37657D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939FD-0916-4A3B-B924-0FF2F296C2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65E865-D77D-4EEE-8E64-8E4918C205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3397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slideLayout" Target="../slideLayouts/slideLayout2.xml"/><Relationship Id="rId18" Type="http://schemas.openxmlformats.org/officeDocument/2006/relationships/image" Target="../media/image5.png"/><Relationship Id="rId3" Type="http://schemas.openxmlformats.org/officeDocument/2006/relationships/tags" Target="../tags/tag3.xml"/><Relationship Id="rId21" Type="http://schemas.openxmlformats.org/officeDocument/2006/relationships/image" Target="../media/image8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4.png"/><Relationship Id="rId25" Type="http://schemas.openxmlformats.org/officeDocument/2006/relationships/image" Target="../media/image12.png"/><Relationship Id="rId2" Type="http://schemas.openxmlformats.org/officeDocument/2006/relationships/tags" Target="../tags/tag2.xml"/><Relationship Id="rId16" Type="http://schemas.openxmlformats.org/officeDocument/2006/relationships/image" Target="../media/image3.png"/><Relationship Id="rId20" Type="http://schemas.openxmlformats.org/officeDocument/2006/relationships/image" Target="../media/image7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11.png"/><Relationship Id="rId5" Type="http://schemas.openxmlformats.org/officeDocument/2006/relationships/tags" Target="../tags/tag5.xml"/><Relationship Id="rId15" Type="http://schemas.openxmlformats.org/officeDocument/2006/relationships/image" Target="../media/image2.png"/><Relationship Id="rId23" Type="http://schemas.openxmlformats.org/officeDocument/2006/relationships/image" Target="../media/image10.png"/><Relationship Id="rId10" Type="http://schemas.openxmlformats.org/officeDocument/2006/relationships/tags" Target="../tags/tag10.xml"/><Relationship Id="rId19" Type="http://schemas.openxmlformats.org/officeDocument/2006/relationships/image" Target="../media/image6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1.png"/><Relationship Id="rId22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tags" Target="../tags/tag15.xml"/><Relationship Id="rId7" Type="http://schemas.openxmlformats.org/officeDocument/2006/relationships/image" Target="../media/image14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13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6.xml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4.png"/><Relationship Id="rId3" Type="http://schemas.openxmlformats.org/officeDocument/2006/relationships/tags" Target="../tags/tag19.xml"/><Relationship Id="rId7" Type="http://schemas.openxmlformats.org/officeDocument/2006/relationships/tags" Target="../tags/tag23.xml"/><Relationship Id="rId12" Type="http://schemas.openxmlformats.org/officeDocument/2006/relationships/image" Target="../media/image20.pn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image" Target="../media/image19.png"/><Relationship Id="rId5" Type="http://schemas.openxmlformats.org/officeDocument/2006/relationships/tags" Target="../tags/tag21.xml"/><Relationship Id="rId15" Type="http://schemas.openxmlformats.org/officeDocument/2006/relationships/image" Target="../media/image22.png"/><Relationship Id="rId10" Type="http://schemas.openxmlformats.org/officeDocument/2006/relationships/image" Target="../media/image18.png"/><Relationship Id="rId4" Type="http://schemas.openxmlformats.org/officeDocument/2006/relationships/tags" Target="../tags/tag20.xml"/><Relationship Id="rId9" Type="http://schemas.openxmlformats.org/officeDocument/2006/relationships/image" Target="../media/image17.png"/><Relationship Id="rId1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tags" Target="../tags/tag26.xml"/><Relationship Id="rId7" Type="http://schemas.openxmlformats.org/officeDocument/2006/relationships/image" Target="../media/image24.png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23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7.xml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tags" Target="../tags/tag30.xml"/><Relationship Id="rId7" Type="http://schemas.openxmlformats.org/officeDocument/2006/relationships/image" Target="../media/image29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46.xml"/><Relationship Id="rId13" Type="http://schemas.openxmlformats.org/officeDocument/2006/relationships/image" Target="../media/image51.png"/><Relationship Id="rId3" Type="http://schemas.openxmlformats.org/officeDocument/2006/relationships/tags" Target="../tags/tag41.xml"/><Relationship Id="rId7" Type="http://schemas.openxmlformats.org/officeDocument/2006/relationships/tags" Target="../tags/tag45.xml"/><Relationship Id="rId12" Type="http://schemas.openxmlformats.org/officeDocument/2006/relationships/image" Target="../media/image50.png"/><Relationship Id="rId17" Type="http://schemas.openxmlformats.org/officeDocument/2006/relationships/image" Target="../media/image55.png"/><Relationship Id="rId2" Type="http://schemas.openxmlformats.org/officeDocument/2006/relationships/tags" Target="../tags/tag40.xml"/><Relationship Id="rId16" Type="http://schemas.openxmlformats.org/officeDocument/2006/relationships/image" Target="../media/image54.png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11" Type="http://schemas.openxmlformats.org/officeDocument/2006/relationships/image" Target="../media/image49.png"/><Relationship Id="rId5" Type="http://schemas.openxmlformats.org/officeDocument/2006/relationships/tags" Target="../tags/tag43.xml"/><Relationship Id="rId15" Type="http://schemas.openxmlformats.org/officeDocument/2006/relationships/image" Target="../media/image53.png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42.xml"/><Relationship Id="rId9" Type="http://schemas.openxmlformats.org/officeDocument/2006/relationships/tags" Target="../tags/tag47.xml"/><Relationship Id="rId14" Type="http://schemas.openxmlformats.org/officeDocument/2006/relationships/image" Target="../media/image5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C3BF1E5-7EBF-2FCB-3E77-9B0D601D5B2E}"/>
              </a:ext>
            </a:extLst>
          </p:cNvPr>
          <p:cNvSpPr txBox="1"/>
          <p:nvPr/>
        </p:nvSpPr>
        <p:spPr>
          <a:xfrm>
            <a:off x="628650" y="671340"/>
            <a:ext cx="881062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/>
              <a:t>Моделирование управления кредитным портфелем с учетом макроэкономических условий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9BBA51-FF7A-593C-45F8-E20744EDF59E}"/>
              </a:ext>
            </a:extLst>
          </p:cNvPr>
          <p:cNvSpPr txBox="1"/>
          <p:nvPr/>
        </p:nvSpPr>
        <p:spPr>
          <a:xfrm>
            <a:off x="628650" y="5263330"/>
            <a:ext cx="4943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Подготовил студент 511 группы : </a:t>
            </a:r>
          </a:p>
          <a:p>
            <a:r>
              <a:rPr lang="ru-RU" b="1" dirty="0"/>
              <a:t>Кирякин Максим Валерьевич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D8BB10-F09E-6359-3C2A-A832BD919120}"/>
              </a:ext>
            </a:extLst>
          </p:cNvPr>
          <p:cNvSpPr txBox="1"/>
          <p:nvPr/>
        </p:nvSpPr>
        <p:spPr>
          <a:xfrm>
            <a:off x="6838337" y="5263330"/>
            <a:ext cx="51155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Научный руководитель:</a:t>
            </a:r>
          </a:p>
          <a:p>
            <a:r>
              <a:rPr lang="ru-RU" b="1" dirty="0" err="1"/>
              <a:t>к.ф.м.н</a:t>
            </a:r>
            <a:r>
              <a:rPr lang="ru-RU" b="1" dirty="0"/>
              <a:t>.</a:t>
            </a:r>
            <a:r>
              <a:rPr lang="en-US" b="1" dirty="0"/>
              <a:t>, </a:t>
            </a:r>
            <a:r>
              <a:rPr lang="ru-RU" b="1" dirty="0"/>
              <a:t>Куренной Дмитрий Святославович</a:t>
            </a:r>
          </a:p>
        </p:txBody>
      </p:sp>
    </p:spTree>
    <p:extLst>
      <p:ext uri="{BB962C8B-B14F-4D97-AF65-F5344CB8AC3E}">
        <p14:creationId xmlns:p14="http://schemas.microsoft.com/office/powerpoint/2010/main" val="1383829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997BD-4379-0CC3-174F-952BF4BF9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618" y="2026297"/>
            <a:ext cx="3488602" cy="968278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Виды риска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010D59-AAC1-5369-1079-A337C5DDF8AB}"/>
              </a:ext>
            </a:extLst>
          </p:cNvPr>
          <p:cNvSpPr txBox="1"/>
          <p:nvPr/>
        </p:nvSpPr>
        <p:spPr>
          <a:xfrm>
            <a:off x="314418" y="1084970"/>
            <a:ext cx="11289318" cy="685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ru-RU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Управление кредитным портфелем</a:t>
            </a:r>
            <a:r>
              <a:rPr lang="ru-RU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деятельность , направленная на оптимизацию портфеля выданных займов. Управление служит для увеличения прибыли по активным операциям и для снижения риска.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5D08965D-846D-BA3C-EA53-362B13841BA1}"/>
              </a:ext>
            </a:extLst>
          </p:cNvPr>
          <p:cNvSpPr txBox="1">
            <a:spLocks/>
          </p:cNvSpPr>
          <p:nvPr/>
        </p:nvSpPr>
        <p:spPr>
          <a:xfrm>
            <a:off x="314418" y="287507"/>
            <a:ext cx="10763157" cy="586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/>
              <a:t>Основные понятия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853930-ECCE-62B1-DBD4-7C8F79CF98A8}"/>
              </a:ext>
            </a:extLst>
          </p:cNvPr>
          <p:cNvCxnSpPr/>
          <p:nvPr/>
        </p:nvCxnSpPr>
        <p:spPr>
          <a:xfrm flipH="1">
            <a:off x="304800" y="829877"/>
            <a:ext cx="11298936" cy="8641"/>
          </a:xfrm>
          <a:prstGeom prst="line">
            <a:avLst/>
          </a:prstGeom>
          <a:ln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" name="Скругленный прямоугольник 4"/>
          <p:cNvSpPr/>
          <p:nvPr/>
        </p:nvSpPr>
        <p:spPr>
          <a:xfrm>
            <a:off x="304800" y="2026296"/>
            <a:ext cx="11289318" cy="167904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435160" y="2445923"/>
            <a:ext cx="2143921" cy="115582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endParaRPr lang="ru-RU" sz="2400" dirty="0"/>
          </a:p>
        </p:txBody>
      </p:sp>
      <p:sp>
        <p:nvSpPr>
          <p:cNvPr id="22" name="Скругленный прямоугольник 21"/>
          <p:cNvSpPr/>
          <p:nvPr/>
        </p:nvSpPr>
        <p:spPr>
          <a:xfrm>
            <a:off x="2656297" y="2445923"/>
            <a:ext cx="2143921" cy="115582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ru-RU" dirty="0"/>
          </a:p>
        </p:txBody>
      </p:sp>
      <p:sp>
        <p:nvSpPr>
          <p:cNvPr id="23" name="Скругленный прямоугольник 22"/>
          <p:cNvSpPr/>
          <p:nvPr/>
        </p:nvSpPr>
        <p:spPr>
          <a:xfrm>
            <a:off x="4877434" y="2445923"/>
            <a:ext cx="2143921" cy="115582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ru-RU" dirty="0"/>
          </a:p>
        </p:txBody>
      </p:sp>
      <p:sp>
        <p:nvSpPr>
          <p:cNvPr id="24" name="Скругленный прямоугольник 23"/>
          <p:cNvSpPr/>
          <p:nvPr/>
        </p:nvSpPr>
        <p:spPr>
          <a:xfrm>
            <a:off x="7098571" y="2445923"/>
            <a:ext cx="2143921" cy="115582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en-US" dirty="0"/>
          </a:p>
        </p:txBody>
      </p:sp>
      <p:sp>
        <p:nvSpPr>
          <p:cNvPr id="25" name="Скругленный прямоугольник 24"/>
          <p:cNvSpPr/>
          <p:nvPr/>
        </p:nvSpPr>
        <p:spPr>
          <a:xfrm>
            <a:off x="9319708" y="2445923"/>
            <a:ext cx="2143921" cy="115582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435160" y="2051444"/>
            <a:ext cx="3745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Виды банковских рисков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5105" y="2694451"/>
            <a:ext cx="21524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Процентный риск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47806" y="2690697"/>
            <a:ext cx="21524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Валютный</a:t>
            </a:r>
          </a:p>
          <a:p>
            <a:pPr algn="ctr"/>
            <a:r>
              <a:rPr lang="ru-RU" dirty="0" smtClean="0"/>
              <a:t>риск </a:t>
            </a:r>
            <a:endParaRPr lang="ru-RU" dirty="0"/>
          </a:p>
        </p:txBody>
      </p:sp>
      <p:sp>
        <p:nvSpPr>
          <p:cNvPr id="35" name="TextBox 34"/>
          <p:cNvSpPr txBox="1"/>
          <p:nvPr/>
        </p:nvSpPr>
        <p:spPr>
          <a:xfrm>
            <a:off x="4838614" y="2712735"/>
            <a:ext cx="21524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Кредитный</a:t>
            </a:r>
          </a:p>
          <a:p>
            <a:pPr algn="ctr"/>
            <a:r>
              <a:rPr lang="ru-RU" dirty="0" smtClean="0"/>
              <a:t>риск 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7097280" y="2700668"/>
            <a:ext cx="21524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Риск</a:t>
            </a:r>
          </a:p>
          <a:p>
            <a:pPr algn="ctr"/>
            <a:r>
              <a:rPr lang="ru-RU" dirty="0"/>
              <a:t>л</a:t>
            </a:r>
            <a:r>
              <a:rPr lang="ru-RU" dirty="0" smtClean="0"/>
              <a:t>иквидности</a:t>
            </a:r>
            <a:endParaRPr lang="ru-RU" dirty="0"/>
          </a:p>
        </p:txBody>
      </p:sp>
      <p:sp>
        <p:nvSpPr>
          <p:cNvPr id="37" name="TextBox 36"/>
          <p:cNvSpPr txBox="1"/>
          <p:nvPr/>
        </p:nvSpPr>
        <p:spPr>
          <a:xfrm>
            <a:off x="9311217" y="2690697"/>
            <a:ext cx="21524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Операционный</a:t>
            </a:r>
          </a:p>
          <a:p>
            <a:pPr algn="ctr"/>
            <a:r>
              <a:rPr lang="ru-RU" dirty="0" smtClean="0"/>
              <a:t>риск</a:t>
            </a:r>
            <a:endParaRPr lang="ru-RU" dirty="0"/>
          </a:p>
        </p:txBody>
      </p:sp>
      <p:graphicFrame>
        <p:nvGraphicFramePr>
          <p:cNvPr id="11" name="Схема 10"/>
          <p:cNvGraphicFramePr/>
          <p:nvPr>
            <p:extLst>
              <p:ext uri="{D42A27DB-BD31-4B8C-83A1-F6EECF244321}">
                <p14:modId xmlns:p14="http://schemas.microsoft.com/office/powerpoint/2010/main" val="1049302373"/>
              </p:ext>
            </p:extLst>
          </p:nvPr>
        </p:nvGraphicFramePr>
        <p:xfrm>
          <a:off x="444815" y="5215459"/>
          <a:ext cx="11028524" cy="5607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863510" y="6021735"/>
            <a:ext cx="14211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Базель 1</a:t>
            </a:r>
            <a:endParaRPr lang="en-US" sz="1600" dirty="0"/>
          </a:p>
        </p:txBody>
      </p:sp>
      <p:sp>
        <p:nvSpPr>
          <p:cNvPr id="38" name="TextBox 37"/>
          <p:cNvSpPr txBox="1"/>
          <p:nvPr/>
        </p:nvSpPr>
        <p:spPr>
          <a:xfrm>
            <a:off x="435105" y="6065379"/>
            <a:ext cx="30143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Создание </a:t>
            </a:r>
            <a:r>
              <a:rPr lang="ru-RU" sz="1600" dirty="0" err="1" smtClean="0"/>
              <a:t>Базельского</a:t>
            </a:r>
            <a:r>
              <a:rPr lang="ru-RU" sz="1600" dirty="0" smtClean="0"/>
              <a:t> комитета</a:t>
            </a:r>
            <a:endParaRPr lang="en-US" sz="1600" dirty="0"/>
          </a:p>
        </p:txBody>
      </p:sp>
      <p:sp>
        <p:nvSpPr>
          <p:cNvPr id="39" name="TextBox 38"/>
          <p:cNvSpPr txBox="1"/>
          <p:nvPr/>
        </p:nvSpPr>
        <p:spPr>
          <a:xfrm>
            <a:off x="7453006" y="6021735"/>
            <a:ext cx="14211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Базель 2</a:t>
            </a:r>
            <a:endParaRPr lang="en-US" sz="1600" dirty="0"/>
          </a:p>
        </p:txBody>
      </p:sp>
      <p:sp>
        <p:nvSpPr>
          <p:cNvPr id="40" name="TextBox 39"/>
          <p:cNvSpPr txBox="1"/>
          <p:nvPr/>
        </p:nvSpPr>
        <p:spPr>
          <a:xfrm>
            <a:off x="10140606" y="6021735"/>
            <a:ext cx="14211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Базель 3</a:t>
            </a:r>
            <a:endParaRPr lang="en-US" sz="1600" dirty="0"/>
          </a:p>
        </p:txBody>
      </p:sp>
      <p:sp>
        <p:nvSpPr>
          <p:cNvPr id="41" name="Блок-схема: извлечение 40"/>
          <p:cNvSpPr/>
          <p:nvPr/>
        </p:nvSpPr>
        <p:spPr>
          <a:xfrm>
            <a:off x="1631405" y="5708005"/>
            <a:ext cx="621792" cy="235596"/>
          </a:xfrm>
          <a:prstGeom prst="flowChartExtra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Блок-схема: извлечение 41"/>
          <p:cNvSpPr/>
          <p:nvPr/>
        </p:nvSpPr>
        <p:spPr>
          <a:xfrm rot="10800000">
            <a:off x="1631405" y="5058243"/>
            <a:ext cx="621792" cy="235596"/>
          </a:xfrm>
          <a:prstGeom prst="flowChartExtra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Блок-схема: извлечение 42"/>
          <p:cNvSpPr/>
          <p:nvPr/>
        </p:nvSpPr>
        <p:spPr>
          <a:xfrm rot="10800000">
            <a:off x="3870123" y="5058243"/>
            <a:ext cx="621792" cy="235596"/>
          </a:xfrm>
          <a:prstGeom prst="flowChartExtra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Блок-схема: извлечение 43"/>
          <p:cNvSpPr/>
          <p:nvPr/>
        </p:nvSpPr>
        <p:spPr>
          <a:xfrm rot="10800000">
            <a:off x="6598754" y="5058243"/>
            <a:ext cx="621792" cy="235596"/>
          </a:xfrm>
          <a:prstGeom prst="flowChartExtra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Блок-схема: извлечение 44"/>
          <p:cNvSpPr/>
          <p:nvPr/>
        </p:nvSpPr>
        <p:spPr>
          <a:xfrm rot="10800000">
            <a:off x="9242492" y="5063603"/>
            <a:ext cx="621792" cy="235596"/>
          </a:xfrm>
          <a:prstGeom prst="flowChartExtra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Блок-схема: извлечение 45"/>
          <p:cNvSpPr/>
          <p:nvPr/>
        </p:nvSpPr>
        <p:spPr>
          <a:xfrm>
            <a:off x="5074204" y="5705824"/>
            <a:ext cx="621792" cy="235596"/>
          </a:xfrm>
          <a:prstGeom prst="flowChartExtra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Блок-схема: извлечение 46"/>
          <p:cNvSpPr/>
          <p:nvPr/>
        </p:nvSpPr>
        <p:spPr>
          <a:xfrm>
            <a:off x="7732060" y="5705824"/>
            <a:ext cx="621792" cy="235596"/>
          </a:xfrm>
          <a:prstGeom prst="flowChartExtra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Блок-схема: извлечение 47"/>
          <p:cNvSpPr/>
          <p:nvPr/>
        </p:nvSpPr>
        <p:spPr>
          <a:xfrm>
            <a:off x="10427635" y="5705824"/>
            <a:ext cx="621792" cy="235596"/>
          </a:xfrm>
          <a:prstGeom prst="flowChartExtra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/>
          <p:cNvSpPr txBox="1"/>
          <p:nvPr/>
        </p:nvSpPr>
        <p:spPr>
          <a:xfrm>
            <a:off x="457166" y="3942461"/>
            <a:ext cx="26372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Валютный кризис вследствие краха </a:t>
            </a:r>
            <a:r>
              <a:rPr lang="ru-RU" sz="1600" dirty="0" err="1" smtClean="0"/>
              <a:t>Бреттон-Вудской</a:t>
            </a:r>
            <a:r>
              <a:rPr lang="ru-RU" sz="1600" dirty="0" smtClean="0"/>
              <a:t> системы</a:t>
            </a:r>
            <a:endParaRPr lang="en-US" sz="1600" dirty="0"/>
          </a:p>
        </p:txBody>
      </p:sp>
      <p:sp>
        <p:nvSpPr>
          <p:cNvPr id="50" name="TextBox 49"/>
          <p:cNvSpPr txBox="1"/>
          <p:nvPr/>
        </p:nvSpPr>
        <p:spPr>
          <a:xfrm>
            <a:off x="2962347" y="3920876"/>
            <a:ext cx="301439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Долговой кризис в Латинской Америке, политика по сдерживанию инфляции в США</a:t>
            </a:r>
            <a:endParaRPr lang="en-US" sz="1600" dirty="0"/>
          </a:p>
        </p:txBody>
      </p:sp>
      <p:sp>
        <p:nvSpPr>
          <p:cNvPr id="51" name="TextBox 50"/>
          <p:cNvSpPr txBox="1"/>
          <p:nvPr/>
        </p:nvSpPr>
        <p:spPr>
          <a:xfrm>
            <a:off x="6284593" y="4411191"/>
            <a:ext cx="25965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Азиатский кризис и кризис в России</a:t>
            </a:r>
            <a:endParaRPr lang="en-US" sz="1600" dirty="0"/>
          </a:p>
        </p:txBody>
      </p:sp>
      <p:sp>
        <p:nvSpPr>
          <p:cNvPr id="52" name="TextBox 51"/>
          <p:cNvSpPr txBox="1"/>
          <p:nvPr/>
        </p:nvSpPr>
        <p:spPr>
          <a:xfrm>
            <a:off x="8881094" y="4411190"/>
            <a:ext cx="26216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Мировой финансовый кризис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52895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Скругленный прямоугольник 29"/>
          <p:cNvSpPr/>
          <p:nvPr/>
        </p:nvSpPr>
        <p:spPr>
          <a:xfrm>
            <a:off x="6217047" y="1076964"/>
            <a:ext cx="5688496" cy="4954944"/>
          </a:xfrm>
          <a:prstGeom prst="roundRect">
            <a:avLst>
              <a:gd name="adj" fmla="val 3268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Скругленный прямоугольник 31"/>
          <p:cNvSpPr/>
          <p:nvPr/>
        </p:nvSpPr>
        <p:spPr>
          <a:xfrm>
            <a:off x="6224778" y="1073246"/>
            <a:ext cx="5680764" cy="621699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ru-RU" dirty="0"/>
          </a:p>
        </p:txBody>
      </p:sp>
      <p:sp>
        <p:nvSpPr>
          <p:cNvPr id="28" name="Скругленный прямоугольник 27"/>
          <p:cNvSpPr/>
          <p:nvPr/>
        </p:nvSpPr>
        <p:spPr>
          <a:xfrm>
            <a:off x="304800" y="1076966"/>
            <a:ext cx="5688496" cy="4954944"/>
          </a:xfrm>
          <a:prstGeom prst="roundRect">
            <a:avLst>
              <a:gd name="adj" fmla="val 3268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Скругленный прямоугольник 30"/>
          <p:cNvSpPr/>
          <p:nvPr/>
        </p:nvSpPr>
        <p:spPr>
          <a:xfrm>
            <a:off x="312532" y="1064524"/>
            <a:ext cx="5680764" cy="621699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B0DD3B-1C18-0836-8BC2-C708F2132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532" y="207632"/>
            <a:ext cx="10591800" cy="725957"/>
          </a:xfrm>
        </p:spPr>
        <p:txBody>
          <a:bodyPr>
            <a:normAutofit/>
          </a:bodyPr>
          <a:lstStyle/>
          <a:p>
            <a:r>
              <a:rPr lang="ru-RU" sz="3200" dirty="0"/>
              <a:t>Модели портфельного риска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C3240A-B04E-6255-5CBD-4092DBB84937}"/>
              </a:ext>
            </a:extLst>
          </p:cNvPr>
          <p:cNvSpPr txBox="1"/>
          <p:nvPr/>
        </p:nvSpPr>
        <p:spPr>
          <a:xfrm>
            <a:off x="312532" y="1190708"/>
            <a:ext cx="56807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NewRomanPS-BoldMT"/>
              </a:rPr>
              <a:t>Moody’s KMV</a:t>
            </a:r>
            <a:endParaRPr lang="ru-RU" b="1" dirty="0">
              <a:solidFill>
                <a:schemeClr val="tx1">
                  <a:lumMod val="95000"/>
                  <a:lumOff val="5000"/>
                </a:schemeClr>
              </a:solidFill>
              <a:latin typeface="TimesNewRomanPS-BoldM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693C09-98F0-6F4C-855B-4D6B85DCB29A}"/>
              </a:ext>
            </a:extLst>
          </p:cNvPr>
          <p:cNvSpPr txBox="1"/>
          <p:nvPr/>
        </p:nvSpPr>
        <p:spPr>
          <a:xfrm>
            <a:off x="6217046" y="1191038"/>
            <a:ext cx="56884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NewRomanPS-BoldMT"/>
              </a:rPr>
              <a:t>Credit Portfolio</a:t>
            </a:r>
            <a:r>
              <a:rPr lang="ru-RU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NewRomanPS-BoldMT"/>
              </a:rPr>
              <a:t> 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NewRomanPS-BoldMT"/>
              </a:rPr>
              <a:t>View of </a:t>
            </a:r>
            <a:r>
              <a:rPr lang="en-US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NewRomanPS-BoldMT"/>
              </a:rPr>
              <a:t>Mackinsey</a:t>
            </a:r>
            <a:endParaRPr lang="ru-RU" b="1" dirty="0">
              <a:solidFill>
                <a:schemeClr val="tx1">
                  <a:lumMod val="95000"/>
                  <a:lumOff val="5000"/>
                </a:schemeClr>
              </a:solidFill>
              <a:latin typeface="TimesNewRomanPS-BoldM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C2CEC3-900F-FD64-86D0-E88C195C8868}"/>
              </a:ext>
            </a:extLst>
          </p:cNvPr>
          <p:cNvSpPr txBox="1"/>
          <p:nvPr/>
        </p:nvSpPr>
        <p:spPr>
          <a:xfrm>
            <a:off x="6217046" y="1852961"/>
            <a:ext cx="568849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Идея </a:t>
            </a:r>
            <a:r>
              <a:rPr lang="ru-RU" b="1" dirty="0" smtClean="0"/>
              <a:t>модели: Циклический </a:t>
            </a:r>
            <a:r>
              <a:rPr lang="ru-RU" b="1" dirty="0"/>
              <a:t>процесс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Моделирование состояния экономики.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Присвоить каждому заемщику свою вероятность дефолта.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Настройка параметров  скорости дефолта каждой компании исходя из исторических данных для текущего состояния экономики.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Рассчитать убыток портфеля.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Повторять предыдущие шаги несколько раз, чтобы получить распределение потерь.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35F0D7-0CC5-1FD7-2EF5-AB9E3A42B86F}"/>
              </a:ext>
            </a:extLst>
          </p:cNvPr>
          <p:cNvSpPr txBox="1"/>
          <p:nvPr/>
        </p:nvSpPr>
        <p:spPr>
          <a:xfrm>
            <a:off x="304800" y="1852961"/>
            <a:ext cx="56884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Идея модели:</a:t>
            </a:r>
          </a:p>
          <a:p>
            <a:r>
              <a:rPr lang="ru-RU" dirty="0" smtClean="0"/>
              <a:t>Модель </a:t>
            </a:r>
            <a:r>
              <a:rPr lang="ru-RU" dirty="0"/>
              <a:t>базируется на структурном подходе Мертона, </a:t>
            </a:r>
            <a:r>
              <a:rPr lang="ru-RU" dirty="0" smtClean="0"/>
              <a:t>но </a:t>
            </a:r>
            <a:r>
              <a:rPr lang="ru-RU" dirty="0"/>
              <a:t>расширяет его за счёт эмпирических данных и рыночных </a:t>
            </a:r>
            <a:r>
              <a:rPr lang="ru-RU" dirty="0" smtClean="0"/>
              <a:t>показателей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940F365-3FA4-A6F2-A1D1-200BFA13C1B9}"/>
              </a:ext>
            </a:extLst>
          </p:cNvPr>
          <p:cNvSpPr txBox="1"/>
          <p:nvPr/>
        </p:nvSpPr>
        <p:spPr>
          <a:xfrm>
            <a:off x="304799" y="6171567"/>
            <a:ext cx="116007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solidFill>
                  <a:schemeClr val="bg1">
                    <a:lumMod val="65000"/>
                  </a:schemeClr>
                </a:solidFill>
              </a:rPr>
              <a:t>Источник: </a:t>
            </a:r>
            <a:r>
              <a:rPr lang="en-US" sz="1600" dirty="0" err="1" smtClean="0">
                <a:solidFill>
                  <a:schemeClr val="bg1">
                    <a:lumMod val="65000"/>
                  </a:schemeClr>
                </a:solidFill>
              </a:rPr>
              <a:t>Derbali</a:t>
            </a:r>
            <a:r>
              <a:rPr lang="en-US" sz="1600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A. M. S. The current models of credit portfolio management: a comparative theoretical analysis //Int. J.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Manag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. Bus. Res. – 2012. – Т. 2. – №. 4. – С. 271-292.</a:t>
            </a:r>
            <a:endParaRPr lang="ru-RU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20" name="Straight Connector 7">
            <a:extLst>
              <a:ext uri="{FF2B5EF4-FFF2-40B4-BE49-F238E27FC236}">
                <a16:creationId xmlns:a16="http://schemas.microsoft.com/office/drawing/2014/main" id="{0E853930-ECCE-62B1-DBD4-7C8F79CF98A8}"/>
              </a:ext>
            </a:extLst>
          </p:cNvPr>
          <p:cNvCxnSpPr/>
          <p:nvPr/>
        </p:nvCxnSpPr>
        <p:spPr>
          <a:xfrm flipH="1">
            <a:off x="304800" y="838518"/>
            <a:ext cx="11600742" cy="0"/>
          </a:xfrm>
          <a:prstGeom prst="line">
            <a:avLst/>
          </a:prstGeom>
          <a:ln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224778" y="5262492"/>
            <a:ext cx="5680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Вероятность дефолта = </a:t>
            </a:r>
          </a:p>
          <a:p>
            <a:r>
              <a:rPr lang="en-US" i="1" dirty="0" smtClean="0"/>
              <a:t>f</a:t>
            </a:r>
            <a:r>
              <a:rPr lang="en-US" dirty="0" smtClean="0"/>
              <a:t>(</a:t>
            </a:r>
            <a:r>
              <a:rPr lang="ru-RU" dirty="0" smtClean="0"/>
              <a:t>ВВП, безработица, … , обменный курс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304995" y="3497028"/>
            <a:ext cx="568830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Отличие от классической модели </a:t>
            </a:r>
            <a:r>
              <a:rPr lang="ru-RU" b="1" dirty="0" smtClean="0"/>
              <a:t>Мертона:</a:t>
            </a:r>
            <a:endParaRPr lang="ru-RU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Эмпирическая калибровка (использует реальные данные, а не теоретические </a:t>
            </a:r>
            <a:r>
              <a:rPr lang="ru-RU" dirty="0"/>
              <a:t>п</a:t>
            </a:r>
            <a:r>
              <a:rPr lang="ru-RU" dirty="0" smtClean="0"/>
              <a:t>редположения)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Учёт рыночной </a:t>
            </a:r>
            <a:r>
              <a:rPr lang="ru-RU" dirty="0" smtClean="0"/>
              <a:t>информации (оценка стоимости активов через капитализацию)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Гибкость (подходит для частных и публичных компаний)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525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1">
            <a:extLst>
              <a:ext uri="{FF2B5EF4-FFF2-40B4-BE49-F238E27FC236}">
                <a16:creationId xmlns:a16="http://schemas.microsoft.com/office/drawing/2014/main" id="{EC761AB1-4D46-AB03-67BA-05E3FC7FE023}"/>
              </a:ext>
            </a:extLst>
          </p:cNvPr>
          <p:cNvSpPr txBox="1">
            <a:spLocks/>
          </p:cNvSpPr>
          <p:nvPr/>
        </p:nvSpPr>
        <p:spPr>
          <a:xfrm>
            <a:off x="304800" y="297641"/>
            <a:ext cx="10755331" cy="538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 smtClean="0"/>
              <a:t>Примеры оптимизационных задач</a:t>
            </a:r>
            <a:endParaRPr lang="ru-RU" sz="3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A4E0848-C976-4A29-8E00-6E39B5E4F2DF}"/>
              </a:ext>
            </a:extLst>
          </p:cNvPr>
          <p:cNvSpPr txBox="1"/>
          <p:nvPr/>
        </p:nvSpPr>
        <p:spPr>
          <a:xfrm>
            <a:off x="312020" y="6216881"/>
            <a:ext cx="57912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/>
              <a:t>Источник:</a:t>
            </a:r>
          </a:p>
          <a:p>
            <a:r>
              <a:rPr lang="ru-RU" sz="1100" dirty="0" smtClean="0"/>
              <a:t>Вестник </a:t>
            </a:r>
            <a:r>
              <a:rPr lang="ru-RU" sz="1100" dirty="0"/>
              <a:t>Витебского государственного технологического университета. – 2015. – №. 1 (28). – С. 186-195.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423CDE9-26C5-DC3E-B2FD-8E9C60A28080}"/>
              </a:ext>
            </a:extLst>
          </p:cNvPr>
          <p:cNvSpPr txBox="1"/>
          <p:nvPr/>
        </p:nvSpPr>
        <p:spPr>
          <a:xfrm>
            <a:off x="6096001" y="6402008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 smtClean="0"/>
              <a:t>Источник:</a:t>
            </a:r>
            <a:r>
              <a:rPr lang="en-US" sz="1100" dirty="0" smtClean="0"/>
              <a:t> </a:t>
            </a:r>
            <a:r>
              <a:rPr lang="ru-RU" sz="1100" dirty="0" smtClean="0"/>
              <a:t>Вестник </a:t>
            </a:r>
            <a:r>
              <a:rPr lang="ru-RU" sz="1100" dirty="0"/>
              <a:t>ВГУ. Серия: Системный анализ и информационные технологии. – 2018. – №. 2. – С. 105-112</a:t>
            </a:r>
          </a:p>
        </p:txBody>
      </p:sp>
      <p:cxnSp>
        <p:nvCxnSpPr>
          <p:cNvPr id="20" name="Straight Connector 7">
            <a:extLst>
              <a:ext uri="{FF2B5EF4-FFF2-40B4-BE49-F238E27FC236}">
                <a16:creationId xmlns:a16="http://schemas.microsoft.com/office/drawing/2014/main" id="{0E853930-ECCE-62B1-DBD4-7C8F79CF98A8}"/>
              </a:ext>
            </a:extLst>
          </p:cNvPr>
          <p:cNvCxnSpPr/>
          <p:nvPr/>
        </p:nvCxnSpPr>
        <p:spPr>
          <a:xfrm flipH="1">
            <a:off x="304800" y="829877"/>
            <a:ext cx="11298936" cy="8641"/>
          </a:xfrm>
          <a:prstGeom prst="line">
            <a:avLst/>
          </a:prstGeom>
          <a:ln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22" name="Рисунок 21" descr="\documentclass{article}&#10;\usepackage{amsmath}&#10;\pagestyle{empty}&#10;\usepackage[utf8]{inputenc}    % Для кодировки UTF-8&#10;\usepackage[russian]{babel}    % Для русского языка&#10;\usepackage[T2A]{fontenc}      % Для шрифтов&#10;\begin{document}&#10;&#10;$$&#10;\begin{cases}&#10;\max \ Y = \sum_{i=1}^{N} y_i \cdot n_i \cdot w_i, \\[5pt]&#10;\sum_{i=1}^{N} w_i \cdot n_i \leq 1, \quad  \\[5pt]&#10;\sum_{i=1}^{N} PD_i \cdot n_i \cdot w_i \leq PD_{\text{допуст}}, \quad \\[5pt]&#10;n_i \in \{0, 1\}, \quad \forall i = 1, \dots, N, \\[5pt]&#10;\sum_{i \in \text{Группа } k} w_i \cdot n_i = \alpha_k, \quad \forall k \in \{A, B, C, D\}. \quad &#10;\end{cases}&#10;$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020" y="1007931"/>
            <a:ext cx="5258057" cy="23232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12020" y="3534013"/>
            <a:ext cx="57839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 </a:t>
            </a:r>
            <a:r>
              <a:rPr lang="ru-RU" dirty="0" smtClean="0"/>
              <a:t>            - минимальная доходность кредита </a:t>
            </a:r>
            <a:r>
              <a:rPr lang="en-US" dirty="0" err="1" smtClean="0"/>
              <a:t>i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    </a:t>
            </a:r>
            <a:r>
              <a:rPr lang="en-US" dirty="0" smtClean="0"/>
              <a:t>- </a:t>
            </a:r>
            <a:r>
              <a:rPr lang="ru-RU" dirty="0" smtClean="0"/>
              <a:t>доля кредита </a:t>
            </a:r>
            <a:r>
              <a:rPr lang="en-US" dirty="0" smtClean="0"/>
              <a:t>I </a:t>
            </a:r>
            <a:r>
              <a:rPr lang="ru-RU" dirty="0" smtClean="0"/>
              <a:t> </a:t>
            </a:r>
            <a:r>
              <a:rPr lang="ru-RU" dirty="0" err="1" smtClean="0"/>
              <a:t>вобщем</a:t>
            </a:r>
            <a:r>
              <a:rPr lang="ru-RU" dirty="0" smtClean="0"/>
              <a:t> объеме ресурсов </a:t>
            </a:r>
            <a:r>
              <a:rPr lang="en-US" dirty="0" smtClean="0"/>
              <a:t>V</a:t>
            </a:r>
            <a:endParaRPr lang="ru-RU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       </a:t>
            </a:r>
            <a:r>
              <a:rPr lang="ru-RU" dirty="0" smtClean="0"/>
              <a:t>- максимально допустимый средневзвешенный риск портфеля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 </a:t>
            </a:r>
            <a:r>
              <a:rPr lang="ru-RU" dirty="0" smtClean="0"/>
              <a:t>- заданная доля заем</a:t>
            </a:r>
            <a:r>
              <a:rPr lang="ru-RU" dirty="0"/>
              <a:t>щ</a:t>
            </a:r>
            <a:r>
              <a:rPr lang="ru-RU" dirty="0" smtClean="0"/>
              <a:t>иков рейтинга </a:t>
            </a:r>
            <a:r>
              <a:rPr lang="en-US" dirty="0" smtClean="0"/>
              <a:t>k</a:t>
            </a:r>
            <a:endParaRPr lang="ru-RU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       </a:t>
            </a:r>
            <a:r>
              <a:rPr lang="ru-RU" dirty="0" smtClean="0"/>
              <a:t>- </a:t>
            </a:r>
            <a:r>
              <a:rPr lang="ru-RU" dirty="0"/>
              <a:t>вероятность дефолта </a:t>
            </a:r>
            <a:r>
              <a:rPr lang="ru-RU" dirty="0" smtClean="0"/>
              <a:t>потери при дефолте</a:t>
            </a:r>
            <a:r>
              <a:rPr lang="en-US" dirty="0" smtClean="0"/>
              <a:t>, </a:t>
            </a:r>
            <a:r>
              <a:rPr lang="ru-RU" dirty="0" err="1"/>
              <a:t>безрисковая</a:t>
            </a:r>
            <a:r>
              <a:rPr lang="ru-RU" dirty="0"/>
              <a:t> </a:t>
            </a:r>
            <a:r>
              <a:rPr lang="ru-RU" dirty="0" smtClean="0"/>
              <a:t>ставка</a:t>
            </a:r>
            <a:endParaRPr lang="ru-RU" dirty="0"/>
          </a:p>
        </p:txBody>
      </p:sp>
      <p:pic>
        <p:nvPicPr>
          <p:cNvPr id="27" name="Рисунок 26" descr="\documentclass{article}&#10;\usepackage{amsmath}&#10;\pagestyle{empty}&#10;\begin{document}&#10;$&#10;y_i = \frac{1 + r_f}{PD_i \cdot (1 - LGD) + (1 - PD_i)} &#10;$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557" y="3600362"/>
            <a:ext cx="1807723" cy="240633"/>
          </a:xfrm>
          <a:prstGeom prst="rect">
            <a:avLst/>
          </a:prstGeom>
        </p:spPr>
      </p:pic>
      <p:pic>
        <p:nvPicPr>
          <p:cNvPr id="29" name="Рисунок 28" descr="\documentclass{article}&#10;\usepackage{amsmath}&#10;\pagestyle{empty}&#10;\begin{document}&#10;&#10;&#10;$w_i = \frac{V_i}{V}$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557" y="4162489"/>
            <a:ext cx="573014" cy="221655"/>
          </a:xfrm>
          <a:prstGeom prst="rect">
            <a:avLst/>
          </a:prstGeom>
        </p:spPr>
      </p:pic>
      <p:pic>
        <p:nvPicPr>
          <p:cNvPr id="34" name="Рисунок 33" descr="\documentclass{article}&#10;\usepackage{amsmath}&#10;\pagestyle{empty}&#10;\usepackage[utf8]{inputenc}    % Для кодировки UTF-8&#10;\usepackage[russian]{babel}    % Для русского языка&#10;\usepackage[T2A]{fontenc}      % Для шрифтов&#10;\begin{document}&#10;&#10;$&#10;PD_{\text{допустимый}} &#10;$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557" y="4755652"/>
            <a:ext cx="948135" cy="157056"/>
          </a:xfrm>
          <a:prstGeom prst="rect">
            <a:avLst/>
          </a:prstGeom>
        </p:spPr>
      </p:pic>
      <p:pic>
        <p:nvPicPr>
          <p:cNvPr id="41" name="Рисунок 40" descr="\documentclass{article}&#10;\usepackage{amsmath}&#10;\pagestyle{empty}&#10;\begin{document}&#10;&#10;$\alpha_k 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31" y="5306033"/>
            <a:ext cx="190676" cy="115539"/>
          </a:xfrm>
          <a:prstGeom prst="rect">
            <a:avLst/>
          </a:prstGeom>
        </p:spPr>
      </p:pic>
      <p:pic>
        <p:nvPicPr>
          <p:cNvPr id="42" name="Рисунок 41" descr="\documentclass{article}&#10;\usepackage{amsmath}&#10;\pagestyle{empty}&#10;\begin{document}&#10;&#10;&#10;$PD_i, LGD, r_f $&#10;&#10;\end{document}" title="IguanaTex Bitmap Display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557" y="5549930"/>
            <a:ext cx="1016221" cy="170947"/>
          </a:xfrm>
          <a:prstGeom prst="rect">
            <a:avLst/>
          </a:prstGeom>
        </p:spPr>
      </p:pic>
      <p:pic>
        <p:nvPicPr>
          <p:cNvPr id="5" name="Рисунок 4" descr="\documentclass{article}&#10;\usepackage{amsmath}&#10;\pagestyle{empty}&#10;\begin{document}&#10;&#10;&#10;\[&#10;\left\{&#10;\begin{aligned}&#10;&amp;f_1(x) = \left(\sum_{k=1}^n r_k b_k x_k - \sum_{j=1}^n \sigma_j y_j\right) \to \max_x, \\&#10;&amp;f_2(x) = \sum_{k=1}^n g_k b_k x_k \to \min_x.&#10;\end{aligned}&#10;\right.&#10;\]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3220" y="1012127"/>
            <a:ext cx="4807314" cy="1736229"/>
          </a:xfrm>
          <a:prstGeom prst="rect">
            <a:avLst/>
          </a:prstGeom>
        </p:spPr>
      </p:pic>
      <p:grpSp>
        <p:nvGrpSpPr>
          <p:cNvPr id="13" name="Группа 12"/>
          <p:cNvGrpSpPr/>
          <p:nvPr/>
        </p:nvGrpSpPr>
        <p:grpSpPr>
          <a:xfrm>
            <a:off x="6165011" y="2748356"/>
            <a:ext cx="6026989" cy="3693319"/>
            <a:chOff x="6096000" y="2566106"/>
            <a:chExt cx="6096000" cy="3693319"/>
          </a:xfrm>
        </p:grpSpPr>
        <p:sp>
          <p:nvSpPr>
            <p:cNvPr id="7" name="Прямоугольник 6"/>
            <p:cNvSpPr/>
            <p:nvPr/>
          </p:nvSpPr>
          <p:spPr>
            <a:xfrm>
              <a:off x="6096000" y="2566106"/>
              <a:ext cx="6096000" cy="369331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 smtClean="0"/>
                <a:t>  </a:t>
              </a:r>
              <a:r>
                <a:rPr lang="ru-RU" dirty="0" smtClean="0"/>
                <a:t>- </a:t>
              </a:r>
              <a:r>
                <a:rPr lang="ru-RU" dirty="0"/>
                <a:t>процентная ставка, по которой выдан кредит k-</a:t>
              </a:r>
              <a:r>
                <a:rPr lang="ru-RU" dirty="0" err="1"/>
                <a:t>му</a:t>
              </a:r>
              <a:r>
                <a:rPr lang="ru-RU" dirty="0"/>
                <a:t> заемщику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 smtClean="0"/>
                <a:t>  </a:t>
              </a:r>
              <a:r>
                <a:rPr lang="ru-RU" dirty="0" smtClean="0"/>
                <a:t>−</a:t>
              </a:r>
              <a:r>
                <a:rPr lang="en-US" dirty="0" smtClean="0"/>
                <a:t> </a:t>
              </a:r>
              <a:r>
                <a:rPr lang="ru-RU" dirty="0" smtClean="0"/>
                <a:t>объем </a:t>
              </a:r>
              <a:r>
                <a:rPr lang="ru-RU" dirty="0"/>
                <a:t>кредита, необходимый для 𝑘−го проекта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 smtClean="0"/>
                <a:t>  </a:t>
              </a:r>
              <a:r>
                <a:rPr lang="ru-RU" dirty="0" smtClean="0"/>
                <a:t>−</a:t>
              </a:r>
              <a:r>
                <a:rPr lang="en-US" dirty="0" smtClean="0"/>
                <a:t> </a:t>
              </a:r>
              <a:r>
                <a:rPr lang="ru-RU" dirty="0" smtClean="0"/>
                <a:t>доля </a:t>
              </a:r>
              <a:r>
                <a:rPr lang="ru-RU" dirty="0"/>
                <a:t>от запрашиваемой суммы кредита,  выданная 𝑘−му заемщику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 smtClean="0"/>
                <a:t>  </a:t>
              </a:r>
              <a:r>
                <a:rPr lang="ru-RU" dirty="0" smtClean="0"/>
                <a:t>−</a:t>
              </a:r>
              <a:r>
                <a:rPr lang="en-US" dirty="0" smtClean="0"/>
                <a:t> </a:t>
              </a:r>
              <a:r>
                <a:rPr lang="ru-RU" dirty="0" smtClean="0"/>
                <a:t>доля </a:t>
              </a:r>
              <a:r>
                <a:rPr lang="ru-RU" dirty="0"/>
                <a:t>кредита, которая берется у другого банка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ru-RU" dirty="0" smtClean="0"/>
                <a:t>  −</a:t>
              </a:r>
              <a:r>
                <a:rPr lang="en-US" dirty="0" smtClean="0"/>
                <a:t> </a:t>
              </a:r>
              <a:r>
                <a:rPr lang="ru-RU" dirty="0" smtClean="0"/>
                <a:t>процентная </a:t>
              </a:r>
              <a:r>
                <a:rPr lang="ru-RU" dirty="0"/>
                <a:t>ставка, по которой коммерческий</a:t>
              </a:r>
            </a:p>
            <a:p>
              <a:r>
                <a:rPr lang="ru-RU" dirty="0"/>
                <a:t> банк покупает кредит у j−</a:t>
              </a:r>
              <a:r>
                <a:rPr lang="ru-RU" dirty="0" err="1"/>
                <a:t>го</a:t>
              </a:r>
              <a:r>
                <a:rPr lang="ru-RU" dirty="0"/>
                <a:t> банка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ru-RU" dirty="0"/>
                <a:t>n – количество проектов, которые рассматривает </a:t>
              </a:r>
              <a:r>
                <a:rPr lang="ru-RU" dirty="0" smtClean="0"/>
                <a:t>банк</a:t>
              </a:r>
              <a:endParaRPr lang="ru-RU" dirty="0"/>
            </a:p>
          </p:txBody>
        </p:sp>
        <p:pic>
          <p:nvPicPr>
            <p:cNvPr id="8" name="Рисунок 7" descr="\documentclass{article}&#10;\usepackage{amsmath}&#10;\pagestyle{empty}&#10;\begin{document}&#10;&#10;$r_k$&#10;&#10;&#10;\end{document}" title="IguanaTex Bitmap Display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21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63913" y="2685422"/>
              <a:ext cx="186789" cy="135771"/>
            </a:xfrm>
            <a:prstGeom prst="rect">
              <a:avLst/>
            </a:prstGeom>
          </p:spPr>
        </p:pic>
        <p:pic>
          <p:nvPicPr>
            <p:cNvPr id="9" name="Рисунок 8" descr="\documentclass{article}&#10;\usepackage{amsmath}&#10;\pagestyle{empty}&#10;\begin{document}&#10;&#10;$b_k$&#10;&#10;&#10;\end{document}" title="IguanaTex Bitmap Display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2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63913" y="3239690"/>
              <a:ext cx="178560" cy="193371"/>
            </a:xfrm>
            <a:prstGeom prst="rect">
              <a:avLst/>
            </a:prstGeom>
          </p:spPr>
        </p:pic>
        <p:pic>
          <p:nvPicPr>
            <p:cNvPr id="10" name="Рисунок 9" descr="\documentclass{article}&#10;\usepackage{amsmath}&#10;\pagestyle{empty}&#10;\begin{document}&#10;&#10;$x_k$&#10;&#10;&#10;\end{document}" title="IguanaTex Bitmap Display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2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63913" y="3803860"/>
              <a:ext cx="213943" cy="135771"/>
            </a:xfrm>
            <a:prstGeom prst="rect">
              <a:avLst/>
            </a:prstGeom>
          </p:spPr>
        </p:pic>
        <p:pic>
          <p:nvPicPr>
            <p:cNvPr id="11" name="Рисунок 10" descr="\documentclass{article}&#10;\usepackage{amsmath}&#10;\pagestyle{empty}&#10;\begin{document}&#10;&#10;$y_j$&#10;&#10;&#10;\end{document}" title="IguanaTex Bitmap Display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2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02587" y="4301035"/>
              <a:ext cx="175269" cy="166217"/>
            </a:xfrm>
            <a:prstGeom prst="rect">
              <a:avLst/>
            </a:prstGeom>
          </p:spPr>
        </p:pic>
        <p:pic>
          <p:nvPicPr>
            <p:cNvPr id="12" name="Рисунок 11" descr="\documentclass{article}&#10;\usepackage{amsmath}&#10;\pagestyle{empty}&#10;\begin{document}&#10;&#10;$\sigma_j$&#10;&#10;&#10;\end{document}" title="IguanaTex Bitmap Display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2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02587" y="4900697"/>
              <a:ext cx="191726" cy="163749"/>
            </a:xfrm>
            <a:prstGeom prst="rect">
              <a:avLst/>
            </a:prstGeom>
          </p:spPr>
        </p:pic>
      </p:grpSp>
      <p:grpSp>
        <p:nvGrpSpPr>
          <p:cNvPr id="15" name="Группа 14"/>
          <p:cNvGrpSpPr/>
          <p:nvPr/>
        </p:nvGrpSpPr>
        <p:grpSpPr>
          <a:xfrm>
            <a:off x="4469716" y="879859"/>
            <a:ext cx="1576572" cy="427846"/>
            <a:chOff x="4508743" y="1035268"/>
            <a:chExt cx="1576572" cy="427846"/>
          </a:xfrm>
        </p:grpSpPr>
        <p:sp>
          <p:nvSpPr>
            <p:cNvPr id="32" name="Скругленный прямоугольник 31"/>
            <p:cNvSpPr/>
            <p:nvPr/>
          </p:nvSpPr>
          <p:spPr>
            <a:xfrm>
              <a:off x="4508744" y="1035268"/>
              <a:ext cx="1576571" cy="427846"/>
            </a:xfrm>
            <a:prstGeom prst="round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200000"/>
                </a:lnSpc>
              </a:pPr>
              <a:endParaRPr lang="ru-RU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508743" y="1064525"/>
              <a:ext cx="15765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 smtClean="0"/>
                <a:t>Задача 1</a:t>
              </a:r>
              <a:endParaRPr lang="en-US" dirty="0"/>
            </a:p>
          </p:txBody>
        </p:sp>
      </p:grpSp>
      <p:sp>
        <p:nvSpPr>
          <p:cNvPr id="44" name="Скругленный прямоугольник 43"/>
          <p:cNvSpPr/>
          <p:nvPr/>
        </p:nvSpPr>
        <p:spPr>
          <a:xfrm>
            <a:off x="10486036" y="879859"/>
            <a:ext cx="1576571" cy="427846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10486036" y="909116"/>
            <a:ext cx="1576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Задача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737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39199E-8B1C-CB78-B8E3-32113A33FB9A}"/>
              </a:ext>
            </a:extLst>
          </p:cNvPr>
          <p:cNvSpPr txBox="1"/>
          <p:nvPr/>
        </p:nvSpPr>
        <p:spPr>
          <a:xfrm>
            <a:off x="304800" y="306969"/>
            <a:ext cx="11426952" cy="547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3200" dirty="0" smtClean="0"/>
              <a:t>Формула Мертона для расчета </a:t>
            </a:r>
            <a:r>
              <a:rPr lang="en-US" sz="3200" dirty="0" smtClean="0"/>
              <a:t>PD</a:t>
            </a:r>
            <a:endParaRPr lang="ru-RU" sz="3200" dirty="0">
              <a:latin typeface="+mj-lt"/>
              <a:ea typeface="+mj-ea"/>
              <a:cs typeface="+mj-cs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04800" y="6326081"/>
            <a:ext cx="11290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chemeClr val="bg1">
                    <a:lumMod val="65000"/>
                  </a:schemeClr>
                </a:solidFill>
              </a:rPr>
              <a:t>Источник: 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https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://www.mathworks.com/help/risk/mertonmodel.html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304800" y="2588424"/>
            <a:ext cx="1129016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 </a:t>
            </a:r>
            <a:r>
              <a:rPr lang="ru-RU" dirty="0" smtClean="0"/>
              <a:t>A </a:t>
            </a:r>
            <a:r>
              <a:rPr lang="ru-RU" dirty="0"/>
              <a:t>— рыночная стоимость активов,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 </a:t>
            </a:r>
            <a:r>
              <a:rPr lang="ru-RU" dirty="0" smtClean="0"/>
              <a:t>L </a:t>
            </a:r>
            <a:r>
              <a:rPr lang="ru-RU" dirty="0"/>
              <a:t>— обязательства (долг),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 smtClean="0"/>
              <a:t> </a:t>
            </a:r>
            <a:r>
              <a:rPr lang="ru-RU" dirty="0" smtClean="0"/>
              <a:t>r </a:t>
            </a:r>
            <a:r>
              <a:rPr lang="ru-RU" dirty="0"/>
              <a:t>— </a:t>
            </a:r>
            <a:r>
              <a:rPr lang="ru-RU" dirty="0" err="1"/>
              <a:t>безрисковая</a:t>
            </a:r>
            <a:r>
              <a:rPr lang="ru-RU" dirty="0"/>
              <a:t> ставка,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 </a:t>
            </a:r>
            <a:r>
              <a:rPr lang="ru-RU" dirty="0" smtClean="0"/>
              <a:t>T </a:t>
            </a:r>
            <a:r>
              <a:rPr lang="ru-RU" dirty="0"/>
              <a:t>— срок до погашения долга,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 </a:t>
            </a:r>
            <a:r>
              <a:rPr lang="ru-RU" dirty="0" smtClean="0"/>
              <a:t>N</a:t>
            </a:r>
            <a:r>
              <a:rPr lang="ru-RU" dirty="0"/>
              <a:t>(⋅) — кумулятивная функция стандартного нормального распределения.</a:t>
            </a:r>
          </a:p>
        </p:txBody>
      </p:sp>
      <p:pic>
        <p:nvPicPr>
          <p:cNvPr id="9" name="Рисунок 8" descr="\documentclass{article}&#10;\usepackage{amsmath}&#10;\pagestyle{empty}&#10;\begin{document}&#10;$E = A \cdot N(d_1) - L \cdot e^{-rT}\cdot N(d_2)$&#10;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3943" y="1930843"/>
            <a:ext cx="3604114" cy="275200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304800" y="4090329"/>
            <a:ext cx="11290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2. Вспомогательные параметры </a:t>
            </a:r>
            <a:r>
              <a:rPr lang="en-US" b="1" dirty="0" smtClean="0"/>
              <a:t>d1​ </a:t>
            </a:r>
            <a:r>
              <a:rPr lang="ru-RU" b="1" dirty="0"/>
              <a:t>и </a:t>
            </a:r>
            <a:r>
              <a:rPr lang="en-US" b="1" dirty="0" smtClean="0"/>
              <a:t>d2:</a:t>
            </a:r>
            <a:endParaRPr lang="en-US" dirty="0"/>
          </a:p>
        </p:txBody>
      </p:sp>
      <p:pic>
        <p:nvPicPr>
          <p:cNvPr id="12" name="Рисунок 11" descr="\documentclass{article}&#10;\usepackage{amsmath}&#10;\pagestyle{empty}&#10;\begin{document}&#10;&#10;$\sigma_A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367" y="6003235"/>
            <a:ext cx="250971" cy="131657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>
          <a:xfrm>
            <a:off x="304800" y="5884398"/>
            <a:ext cx="55739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  — </a:t>
            </a:r>
            <a:r>
              <a:rPr lang="ru-RU" dirty="0"/>
              <a:t>волатильность стоимости активов.</a:t>
            </a:r>
          </a:p>
        </p:txBody>
      </p:sp>
      <p:pic>
        <p:nvPicPr>
          <p:cNvPr id="14" name="Рисунок 13" descr="\documentclass{article}&#10;\usepackage{amsmath}&#10;\pagestyle{empty}&#10;\begin{document}&#10;&#10;&#10;$$d_1 = \frac{\ln\left(\frac{A}{L}\right) + \left(r + 0.5\sigma_A^2\right)T}{\sigma_A \sqrt{T}}$$  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3532" y="4843344"/>
            <a:ext cx="3130514" cy="657371"/>
          </a:xfrm>
          <a:prstGeom prst="rect">
            <a:avLst/>
          </a:prstGeom>
        </p:spPr>
      </p:pic>
      <p:pic>
        <p:nvPicPr>
          <p:cNvPr id="15" name="Рисунок 14" descr="\documentclass{article}&#10;\usepackage{amsmath}&#10;\pagestyle{empty}&#10;\begin{document}&#10;&#10;$$d_2 = d_1 - \sigma_A \sqrt{T}$$&#10;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0396" y="5034429"/>
            <a:ext cx="1830400" cy="275200"/>
          </a:xfrm>
          <a:prstGeom prst="rect">
            <a:avLst/>
          </a:prstGeom>
        </p:spPr>
      </p:pic>
      <p:sp>
        <p:nvSpPr>
          <p:cNvPr id="17" name="Прямоугольник 16"/>
          <p:cNvSpPr/>
          <p:nvPr/>
        </p:nvSpPr>
        <p:spPr>
          <a:xfrm>
            <a:off x="304800" y="902131"/>
            <a:ext cx="112257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1. Уравнение для оценки собственного капитала (E):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Стоимость собственного капитала компании определяется как опцион </a:t>
            </a:r>
            <a:r>
              <a:rPr lang="ru-RU" dirty="0" err="1"/>
              <a:t>колл</a:t>
            </a:r>
            <a:r>
              <a:rPr lang="ru-RU" dirty="0"/>
              <a:t> на активы:</a:t>
            </a:r>
          </a:p>
        </p:txBody>
      </p:sp>
      <p:cxnSp>
        <p:nvCxnSpPr>
          <p:cNvPr id="18" name="Straight Connector 7">
            <a:extLst>
              <a:ext uri="{FF2B5EF4-FFF2-40B4-BE49-F238E27FC236}">
                <a16:creationId xmlns:a16="http://schemas.microsoft.com/office/drawing/2014/main" id="{0E853930-ECCE-62B1-DBD4-7C8F79CF98A8}"/>
              </a:ext>
            </a:extLst>
          </p:cNvPr>
          <p:cNvCxnSpPr/>
          <p:nvPr/>
        </p:nvCxnSpPr>
        <p:spPr>
          <a:xfrm flipH="1">
            <a:off x="304800" y="829877"/>
            <a:ext cx="11298936" cy="8641"/>
          </a:xfrm>
          <a:prstGeom prst="line">
            <a:avLst/>
          </a:prstGeom>
          <a:ln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4310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304800" y="4579974"/>
            <a:ext cx="112715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  — </a:t>
            </a:r>
            <a:r>
              <a:rPr lang="ru-RU" dirty="0" smtClean="0"/>
              <a:t>ожидаемая </a:t>
            </a:r>
            <a:r>
              <a:rPr lang="ru-RU" dirty="0"/>
              <a:t>доходность активов (дрейф).  </a:t>
            </a:r>
          </a:p>
        </p:txBody>
      </p:sp>
      <p:sp>
        <p:nvSpPr>
          <p:cNvPr id="16" name="Прямоугольник 15"/>
          <p:cNvSpPr/>
          <p:nvPr/>
        </p:nvSpPr>
        <p:spPr>
          <a:xfrm>
            <a:off x="304800" y="2373095"/>
            <a:ext cx="112715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Т.е. Чем выше волатильность активов (  ) и доля активов в капитале (  ), тем выше риск </a:t>
            </a:r>
            <a:r>
              <a:rPr lang="ru-RU" dirty="0" smtClean="0"/>
              <a:t>собственного капитала.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39199E-8B1C-CB78-B8E3-32113A33FB9A}"/>
              </a:ext>
            </a:extLst>
          </p:cNvPr>
          <p:cNvSpPr txBox="1"/>
          <p:nvPr/>
        </p:nvSpPr>
        <p:spPr>
          <a:xfrm>
            <a:off x="304800" y="306969"/>
            <a:ext cx="11426952" cy="547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3200" dirty="0" smtClean="0"/>
              <a:t>Формула Мертона для расчета </a:t>
            </a:r>
            <a:r>
              <a:rPr lang="en-US" sz="3200" dirty="0" smtClean="0"/>
              <a:t>PD</a:t>
            </a:r>
            <a:endParaRPr lang="ru-RU" sz="3200" dirty="0">
              <a:latin typeface="+mj-lt"/>
              <a:ea typeface="+mj-ea"/>
              <a:cs typeface="+mj-cs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04800" y="902131"/>
            <a:ext cx="112257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3</a:t>
            </a:r>
            <a:r>
              <a:rPr lang="ru-RU" b="1" dirty="0" smtClean="0"/>
              <a:t>. </a:t>
            </a:r>
            <a:r>
              <a:rPr lang="ru-RU" b="1" dirty="0"/>
              <a:t>Уравнение для волатильности собственного </a:t>
            </a:r>
            <a:r>
              <a:rPr lang="ru-RU" b="1" dirty="0" smtClean="0"/>
              <a:t>капитала (</a:t>
            </a:r>
            <a:r>
              <a:rPr lang="en-US" b="1" dirty="0" smtClean="0"/>
              <a:t>  </a:t>
            </a:r>
            <a:r>
              <a:rPr lang="ru-RU" b="1" dirty="0" smtClean="0"/>
              <a:t>):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Волатильность акций зависит от волатильности активов и их доли</a:t>
            </a:r>
            <a:r>
              <a:rPr lang="ru-RU" dirty="0" smtClean="0"/>
              <a:t>:</a:t>
            </a:r>
            <a:endParaRPr lang="ru-RU" dirty="0"/>
          </a:p>
        </p:txBody>
      </p:sp>
      <p:pic>
        <p:nvPicPr>
          <p:cNvPr id="7" name="Рисунок 6" descr="\documentclass{article}&#10;\usepackage{amsmath}&#10;\pagestyle{empty}&#10;\begin{document}&#10;&#10;$$\sigma_E = \frac{A}{E} \cdot N(d_1) \cdot \sigma_A$$  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1291" y="1724207"/>
            <a:ext cx="2009417" cy="473143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304800" y="3258770"/>
            <a:ext cx="112715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4.</a:t>
            </a:r>
            <a:r>
              <a:rPr lang="ru-RU" b="1" dirty="0"/>
              <a:t> Расстояние до дефолта (DD) и вероятность дефолта (PD):</a:t>
            </a:r>
            <a:r>
              <a:rPr lang="en-US" b="1" dirty="0" smtClean="0"/>
              <a:t> </a:t>
            </a:r>
            <a:endParaRPr lang="en-US" b="1" dirty="0"/>
          </a:p>
        </p:txBody>
      </p:sp>
      <p:pic>
        <p:nvPicPr>
          <p:cNvPr id="10" name="Рисунок 9" descr="\documentclass{article}&#10;\usepackage{amsmath}&#10;\pagestyle{empty}&#10;\begin{document}&#10;&#10;$$DD = \frac{\ln\left(\frac{A}{L}\right) + \left(\mu_A - 0.5\sigma_A^2\right)T}{\sigma_A \sqrt{T}}$$  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4468" y="3808221"/>
            <a:ext cx="3163063" cy="591634"/>
          </a:xfrm>
          <a:prstGeom prst="rect">
            <a:avLst/>
          </a:prstGeom>
        </p:spPr>
      </p:pic>
      <p:pic>
        <p:nvPicPr>
          <p:cNvPr id="12" name="Рисунок 11" descr="\documentclass{article}&#10;\usepackage{amsmath}&#10;\pagestyle{empty}&#10;\begin{document}&#10;&#10;&#10;$$PD = 1 - N(DD)$$  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1291" y="5678876"/>
            <a:ext cx="2012343" cy="253257"/>
          </a:xfrm>
          <a:prstGeom prst="rect">
            <a:avLst/>
          </a:prstGeom>
        </p:spPr>
      </p:pic>
      <p:pic>
        <p:nvPicPr>
          <p:cNvPr id="13" name="Рисунок 12" descr="\documentclass{article}&#10;\usepackage{amsmath}&#10;\pagestyle{empty}&#10;\begin{document}&#10;&#10;$\sigma_E$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7291" y="1030648"/>
            <a:ext cx="256731" cy="131657"/>
          </a:xfrm>
          <a:prstGeom prst="rect">
            <a:avLst/>
          </a:prstGeom>
        </p:spPr>
      </p:pic>
      <p:pic>
        <p:nvPicPr>
          <p:cNvPr id="14" name="Рисунок 13" descr="\documentclass{article}&#10;\usepackage{amsmath}&#10;\pagestyle{empty}&#10;\begin{document}&#10;&#10;$\sigma_A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5016" y="2505028"/>
            <a:ext cx="250971" cy="131657"/>
          </a:xfrm>
          <a:prstGeom prst="rect">
            <a:avLst/>
          </a:prstGeom>
        </p:spPr>
      </p:pic>
      <p:pic>
        <p:nvPicPr>
          <p:cNvPr id="15" name="Рисунок 14" descr="\documentclass{article}&#10;\usepackage{amsmath}&#10;\pagestyle{empty}&#10;\begin{document}&#10;&#10;$\frac{A}{E}$&#10;&#10;&#10;\end{document}" title="IguanaTex Bitmap Display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6020" y="2423143"/>
            <a:ext cx="143177" cy="281417"/>
          </a:xfrm>
          <a:prstGeom prst="rect">
            <a:avLst/>
          </a:prstGeom>
        </p:spPr>
      </p:pic>
      <p:pic>
        <p:nvPicPr>
          <p:cNvPr id="18" name="Рисунок 17" descr="\documentclass{article}&#10;\usepackage{amsmath}&#10;\pagestyle{empty}&#10;\begin{document}&#10;&#10;&#10;$\mu_A$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617" y="4689760"/>
            <a:ext cx="260023" cy="149760"/>
          </a:xfrm>
          <a:prstGeom prst="rect">
            <a:avLst/>
          </a:prstGeom>
        </p:spPr>
      </p:pic>
      <p:sp>
        <p:nvSpPr>
          <p:cNvPr id="20" name="Прямоугольник 19"/>
          <p:cNvSpPr/>
          <p:nvPr/>
        </p:nvSpPr>
        <p:spPr>
          <a:xfrm>
            <a:off x="304800" y="5129425"/>
            <a:ext cx="112715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Вероятность дефолта:</a:t>
            </a:r>
            <a:endParaRPr lang="ru-RU" b="1" dirty="0"/>
          </a:p>
        </p:txBody>
      </p:sp>
      <p:sp>
        <p:nvSpPr>
          <p:cNvPr id="21" name="Прямоугольник 20"/>
          <p:cNvSpPr/>
          <p:nvPr/>
        </p:nvSpPr>
        <p:spPr>
          <a:xfrm>
            <a:off x="304800" y="6073353"/>
            <a:ext cx="112715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DD</a:t>
            </a:r>
            <a:r>
              <a:rPr lang="ru-RU" dirty="0"/>
              <a:t> показывает, на сколько стандартных отклонений стоимость активов превышает </a:t>
            </a:r>
            <a:r>
              <a:rPr lang="ru-RU" dirty="0" smtClean="0"/>
              <a:t>долг.</a:t>
            </a:r>
            <a:r>
              <a:rPr lang="en-US" dirty="0" smtClean="0"/>
              <a:t> </a:t>
            </a:r>
            <a:r>
              <a:rPr lang="ru-RU" b="1" dirty="0" smtClean="0"/>
              <a:t>PD</a:t>
            </a:r>
            <a:r>
              <a:rPr lang="ru-RU" dirty="0" smtClean="0"/>
              <a:t> </a:t>
            </a:r>
            <a:r>
              <a:rPr lang="ru-RU" dirty="0"/>
              <a:t>— вероятность того, что активы опустятся ниже уровня </a:t>
            </a:r>
            <a:r>
              <a:rPr lang="ru-RU" dirty="0" smtClean="0"/>
              <a:t>долга</a:t>
            </a:r>
            <a:r>
              <a:rPr lang="en-US" dirty="0"/>
              <a:t>.</a:t>
            </a:r>
          </a:p>
        </p:txBody>
      </p:sp>
      <p:cxnSp>
        <p:nvCxnSpPr>
          <p:cNvPr id="22" name="Straight Connector 7">
            <a:extLst>
              <a:ext uri="{FF2B5EF4-FFF2-40B4-BE49-F238E27FC236}">
                <a16:creationId xmlns:a16="http://schemas.microsoft.com/office/drawing/2014/main" id="{0E853930-ECCE-62B1-DBD4-7C8F79CF98A8}"/>
              </a:ext>
            </a:extLst>
          </p:cNvPr>
          <p:cNvCxnSpPr/>
          <p:nvPr/>
        </p:nvCxnSpPr>
        <p:spPr>
          <a:xfrm flipH="1">
            <a:off x="304800" y="829877"/>
            <a:ext cx="11298936" cy="8641"/>
          </a:xfrm>
          <a:prstGeom prst="line">
            <a:avLst/>
          </a:prstGeom>
          <a:ln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72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E39199E-8B1C-CB78-B8E3-32113A33FB9A}"/>
              </a:ext>
            </a:extLst>
          </p:cNvPr>
          <p:cNvSpPr txBox="1"/>
          <p:nvPr/>
        </p:nvSpPr>
        <p:spPr>
          <a:xfrm>
            <a:off x="304800" y="306969"/>
            <a:ext cx="11426952" cy="547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3200" dirty="0"/>
              <a:t>Влияние </a:t>
            </a:r>
            <a:r>
              <a:rPr lang="ru-RU" sz="3200" dirty="0" err="1"/>
              <a:t>макрофакторов</a:t>
            </a:r>
            <a:r>
              <a:rPr lang="ru-RU" sz="3200" dirty="0"/>
              <a:t> на кредитный риск</a:t>
            </a:r>
            <a:endParaRPr lang="ru-RU" sz="32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853930-ECCE-62B1-DBD4-7C8F79CF98A8}"/>
              </a:ext>
            </a:extLst>
          </p:cNvPr>
          <p:cNvCxnSpPr/>
          <p:nvPr/>
        </p:nvCxnSpPr>
        <p:spPr>
          <a:xfrm flipH="1">
            <a:off x="304800" y="829877"/>
            <a:ext cx="11298936" cy="8641"/>
          </a:xfrm>
          <a:prstGeom prst="line">
            <a:avLst/>
          </a:prstGeom>
          <a:ln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4" name="Таблица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896338"/>
              </p:ext>
            </p:extLst>
          </p:nvPr>
        </p:nvGraphicFramePr>
        <p:xfrm>
          <a:off x="6207712" y="4164562"/>
          <a:ext cx="5498640" cy="16245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2880">
                  <a:extLst>
                    <a:ext uri="{9D8B030D-6E8A-4147-A177-3AD203B41FA5}">
                      <a16:colId xmlns:a16="http://schemas.microsoft.com/office/drawing/2014/main" val="2234259199"/>
                    </a:ext>
                  </a:extLst>
                </a:gridCol>
                <a:gridCol w="1832880">
                  <a:extLst>
                    <a:ext uri="{9D8B030D-6E8A-4147-A177-3AD203B41FA5}">
                      <a16:colId xmlns:a16="http://schemas.microsoft.com/office/drawing/2014/main" val="2581176690"/>
                    </a:ext>
                  </a:extLst>
                </a:gridCol>
                <a:gridCol w="1832880">
                  <a:extLst>
                    <a:ext uri="{9D8B030D-6E8A-4147-A177-3AD203B41FA5}">
                      <a16:colId xmlns:a16="http://schemas.microsoft.com/office/drawing/2014/main" val="121605709"/>
                    </a:ext>
                  </a:extLst>
                </a:gridCol>
              </a:tblGrid>
              <a:tr h="39687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6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Фактор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6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Коэффициент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p-</a:t>
                      </a:r>
                      <a:r>
                        <a:rPr lang="ru-RU" sz="16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значение 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738025"/>
                  </a:ext>
                </a:extLst>
              </a:tr>
              <a:tr h="30691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Инфляция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kern="120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-34.46 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&lt; 0.001 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429188"/>
                  </a:ext>
                </a:extLst>
              </a:tr>
              <a:tr h="30691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Ключевая ставка 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kern="120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-11.05 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0.001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011949"/>
                  </a:ext>
                </a:extLst>
              </a:tr>
              <a:tr h="30691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Безработица 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kern="120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-83.18 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&lt; 0.001 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631184"/>
                  </a:ext>
                </a:extLst>
              </a:tr>
              <a:tr h="30691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Курс </a:t>
                      </a: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RUB/USD 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0.006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0.623 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31195"/>
                  </a:ext>
                </a:extLst>
              </a:tr>
            </a:tbl>
          </a:graphicData>
        </a:graphic>
      </p:graphicFrame>
      <p:sp>
        <p:nvSpPr>
          <p:cNvPr id="16" name="Прямоугольник 15"/>
          <p:cNvSpPr/>
          <p:nvPr/>
        </p:nvSpPr>
        <p:spPr>
          <a:xfrm>
            <a:off x="304800" y="1806604"/>
            <a:ext cx="114269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DD вычисляется из модели </a:t>
            </a:r>
            <a:r>
              <a:rPr lang="ru-RU" dirty="0" smtClean="0"/>
              <a:t>Мертона</a:t>
            </a:r>
            <a:r>
              <a:rPr lang="en-US" dirty="0" smtClean="0"/>
              <a:t> </a:t>
            </a:r>
            <a:r>
              <a:rPr lang="ru-RU" dirty="0" smtClean="0"/>
              <a:t>   </a:t>
            </a:r>
            <a:r>
              <a:rPr lang="en-US" dirty="0" smtClean="0"/>
              <a:t>    </a:t>
            </a:r>
            <a:r>
              <a:rPr lang="ru-RU" dirty="0" smtClean="0"/>
              <a:t> </a:t>
            </a:r>
            <a:r>
              <a:rPr lang="en-US" dirty="0" smtClean="0"/>
              <a:t>; </a:t>
            </a:r>
            <a:r>
              <a:rPr lang="ru-RU" dirty="0" err="1" smtClean="0"/>
              <a:t>макрофакторы</a:t>
            </a:r>
            <a:r>
              <a:rPr lang="ru-RU" dirty="0" smtClean="0"/>
              <a:t> </a:t>
            </a:r>
            <a:r>
              <a:rPr lang="ru-RU" dirty="0"/>
              <a:t>влияют на DD через рыночную капитализацию и стоимость долга.</a:t>
            </a:r>
          </a:p>
        </p:txBody>
      </p:sp>
      <p:sp>
        <p:nvSpPr>
          <p:cNvPr id="17" name="Прямоугольник 16"/>
          <p:cNvSpPr/>
          <p:nvPr/>
        </p:nvSpPr>
        <p:spPr>
          <a:xfrm>
            <a:off x="304800" y="2602528"/>
            <a:ext cx="108610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Регрессионная модель (</a:t>
            </a:r>
            <a:r>
              <a:rPr lang="en-US" b="1" dirty="0"/>
              <a:t>OLS</a:t>
            </a:r>
            <a:r>
              <a:rPr lang="en-US" b="1" dirty="0" smtClean="0"/>
              <a:t>)</a:t>
            </a:r>
            <a:r>
              <a:rPr lang="ru-RU" b="1" dirty="0" smtClean="0"/>
              <a:t>:</a:t>
            </a:r>
            <a:endParaRPr lang="en-US" b="1" dirty="0"/>
          </a:p>
        </p:txBody>
      </p:sp>
      <p:pic>
        <p:nvPicPr>
          <p:cNvPr id="18" name="Рисунок 17" descr="\documentclass{article}&#10;\usepackage{amsmath}&#10;\pagestyle{empty}&#10;\begin{document}&#10;&#10;&#10;$$DD_{i,t} = \beta_{i,0} + \sum_{k=1}^{m} \beta_{i,k}\, M_{k,t} + \varepsilon_{i,t}$$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6146" y="2464154"/>
            <a:ext cx="3759708" cy="720164"/>
          </a:xfrm>
          <a:prstGeom prst="rect">
            <a:avLst/>
          </a:prstGeom>
        </p:spPr>
      </p:pic>
      <p:sp>
        <p:nvSpPr>
          <p:cNvPr id="19" name="Прямоугольник 18"/>
          <p:cNvSpPr/>
          <p:nvPr/>
        </p:nvSpPr>
        <p:spPr>
          <a:xfrm>
            <a:off x="304800" y="3136199"/>
            <a:ext cx="112989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Для каждого эмитента </a:t>
            </a:r>
            <a:r>
              <a:rPr lang="en-US" dirty="0" err="1" smtClean="0"/>
              <a:t>i</a:t>
            </a:r>
            <a:r>
              <a:rPr lang="ru-RU" dirty="0" smtClean="0"/>
              <a:t> </a:t>
            </a:r>
            <a:r>
              <a:rPr lang="ru-RU" dirty="0"/>
              <a:t>оценивается индивидуальная регрессия. Выбор факторов </a:t>
            </a:r>
            <a:r>
              <a:rPr lang="ru-RU" dirty="0" smtClean="0"/>
              <a:t>- </a:t>
            </a:r>
            <a:r>
              <a:rPr lang="ru-RU" dirty="0"/>
              <a:t>по AIC и p-</a:t>
            </a:r>
            <a:r>
              <a:rPr lang="ru-RU" dirty="0" err="1"/>
              <a:t>value</a:t>
            </a:r>
            <a:r>
              <a:rPr lang="ru-RU" dirty="0"/>
              <a:t>.</a:t>
            </a:r>
          </a:p>
        </p:txBody>
      </p:sp>
      <p:sp>
        <p:nvSpPr>
          <p:cNvPr id="20" name="Прямоугольник 19"/>
          <p:cNvSpPr/>
          <p:nvPr/>
        </p:nvSpPr>
        <p:spPr>
          <a:xfrm>
            <a:off x="304800" y="3719030"/>
            <a:ext cx="5791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i="1" dirty="0" smtClean="0">
                <a:latin typeface="Consolas" panose="020B0609020204030204" pitchFamily="49" charset="0"/>
              </a:rPr>
              <a:t>Таблица 1: </a:t>
            </a:r>
            <a:r>
              <a:rPr lang="ru-RU" i="1" dirty="0">
                <a:latin typeface="Consolas" panose="020B0609020204030204" pitchFamily="49" charset="0"/>
              </a:rPr>
              <a:t>Результаты по </a:t>
            </a:r>
            <a:r>
              <a:rPr lang="ru-RU" i="1" dirty="0" smtClean="0">
                <a:latin typeface="Consolas" panose="020B0609020204030204" pitchFamily="49" charset="0"/>
              </a:rPr>
              <a:t>компаниям</a:t>
            </a:r>
            <a:endParaRPr lang="ru-RU" i="1" dirty="0">
              <a:latin typeface="Consolas" panose="020B0609020204030204" pitchFamily="49" charset="0"/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304800" y="5848779"/>
            <a:ext cx="1186688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Выводы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ru-RU" dirty="0" smtClean="0">
                <a:latin typeface="Consolas" panose="020B0609020204030204" pitchFamily="49" charset="0"/>
              </a:rPr>
              <a:t>Инфляция</a:t>
            </a:r>
            <a:r>
              <a:rPr lang="ru-RU" dirty="0">
                <a:latin typeface="Consolas" panose="020B0609020204030204" pitchFamily="49" charset="0"/>
              </a:rPr>
              <a:t>, ставка и безработица </a:t>
            </a:r>
            <a:r>
              <a:rPr lang="ru-RU" dirty="0" smtClean="0">
                <a:latin typeface="Consolas" panose="020B0609020204030204" pitchFamily="49" charset="0"/>
              </a:rPr>
              <a:t>значимо </a:t>
            </a:r>
            <a:r>
              <a:rPr lang="ru-RU" dirty="0">
                <a:latin typeface="Consolas" panose="020B0609020204030204" pitchFamily="49" charset="0"/>
              </a:rPr>
              <a:t>снижают </a:t>
            </a:r>
            <a:r>
              <a:rPr lang="ru-RU" dirty="0" smtClean="0">
                <a:latin typeface="Consolas" panose="020B0609020204030204" pitchFamily="49" charset="0"/>
              </a:rPr>
              <a:t>DD </a:t>
            </a:r>
            <a:endParaRPr lang="en-US" dirty="0" smtClean="0">
              <a:latin typeface="Consolas" panose="020B0609020204030204" pitchFamily="49" charset="0"/>
            </a:endParaRPr>
          </a:p>
          <a:p>
            <a:r>
              <a:rPr lang="ru-RU" dirty="0" smtClean="0">
                <a:latin typeface="Consolas" panose="020B0609020204030204" pitchFamily="49" charset="0"/>
              </a:rPr>
              <a:t>Курс </a:t>
            </a:r>
            <a:r>
              <a:rPr lang="ru-RU" dirty="0">
                <a:latin typeface="Consolas" panose="020B0609020204030204" pitchFamily="49" charset="0"/>
              </a:rPr>
              <a:t>RUB/USD незначим </a:t>
            </a:r>
            <a:r>
              <a:rPr lang="ru-RU" dirty="0" err="1">
                <a:latin typeface="Consolas" panose="020B0609020204030204" pitchFamily="49" charset="0"/>
              </a:rPr>
              <a:t>агрегированно</a:t>
            </a:r>
            <a:r>
              <a:rPr lang="ru-RU" dirty="0">
                <a:latin typeface="Consolas" panose="020B0609020204030204" pitchFamily="49" charset="0"/>
              </a:rPr>
              <a:t>, но </a:t>
            </a:r>
            <a:r>
              <a:rPr lang="ru-RU" dirty="0" smtClean="0">
                <a:latin typeface="Consolas" panose="020B0609020204030204" pitchFamily="49" charset="0"/>
              </a:rPr>
              <a:t>значим индивидуально </a:t>
            </a:r>
            <a:r>
              <a:rPr lang="ru-RU" dirty="0">
                <a:latin typeface="Consolas" panose="020B0609020204030204" pitchFamily="49" charset="0"/>
              </a:rPr>
              <a:t>для </a:t>
            </a:r>
            <a:r>
              <a:rPr lang="ru-RU" dirty="0" smtClean="0">
                <a:latin typeface="Consolas" panose="020B0609020204030204" pitchFamily="49" charset="0"/>
              </a:rPr>
              <a:t>экспортёров (GMKN:        )</a:t>
            </a:r>
            <a:endParaRPr lang="ru-RU" b="0" dirty="0">
              <a:effectLst/>
              <a:latin typeface="Consolas" panose="020B0609020204030204" pitchFamily="49" charset="0"/>
            </a:endParaRPr>
          </a:p>
        </p:txBody>
      </p:sp>
      <p:graphicFrame>
        <p:nvGraphicFramePr>
          <p:cNvPr id="22" name="Таблица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1856048"/>
              </p:ext>
            </p:extLst>
          </p:nvPr>
        </p:nvGraphicFramePr>
        <p:xfrm>
          <a:off x="373402" y="4164562"/>
          <a:ext cx="5653996" cy="16245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3499">
                  <a:extLst>
                    <a:ext uri="{9D8B030D-6E8A-4147-A177-3AD203B41FA5}">
                      <a16:colId xmlns:a16="http://schemas.microsoft.com/office/drawing/2014/main" val="3493972646"/>
                    </a:ext>
                  </a:extLst>
                </a:gridCol>
                <a:gridCol w="1413499">
                  <a:extLst>
                    <a:ext uri="{9D8B030D-6E8A-4147-A177-3AD203B41FA5}">
                      <a16:colId xmlns:a16="http://schemas.microsoft.com/office/drawing/2014/main" val="1720749452"/>
                    </a:ext>
                  </a:extLst>
                </a:gridCol>
                <a:gridCol w="1413499">
                  <a:extLst>
                    <a:ext uri="{9D8B030D-6E8A-4147-A177-3AD203B41FA5}">
                      <a16:colId xmlns:a16="http://schemas.microsoft.com/office/drawing/2014/main" val="3550132544"/>
                    </a:ext>
                  </a:extLst>
                </a:gridCol>
                <a:gridCol w="1413499">
                  <a:extLst>
                    <a:ext uri="{9D8B030D-6E8A-4147-A177-3AD203B41FA5}">
                      <a16:colId xmlns:a16="http://schemas.microsoft.com/office/drawing/2014/main" val="2422874501"/>
                    </a:ext>
                  </a:extLst>
                </a:gridCol>
              </a:tblGrid>
              <a:tr h="405337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 err="1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Тикер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R²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USD/RUB 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MSE 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51644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GAZP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0.851 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0.051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0.003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000872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GMKN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0.632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0.073 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0.016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6043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LKOH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0.564 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-0.082 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0.036 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887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SBER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0.253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0.035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0.023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531046"/>
                  </a:ext>
                </a:extLst>
              </a:tr>
            </a:tbl>
          </a:graphicData>
        </a:graphic>
      </p:graphicFrame>
      <p:pic>
        <p:nvPicPr>
          <p:cNvPr id="25" name="Рисунок 24" descr="\documentclass{article}&#10;\usepackage{amsmath}&#10;\pagestyle{empty}&#10;\begin{document}&#10;&#10;&#10;$$\underbrace{\text{Inflation, Interest Rate, Unemployment, USD/RUB}}_{M_t} \;\xrightarrow{\text{OLS}}\; DD_{i,t} \;\xrightarrow{\Phi(-DD)}\; PD_i$$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291" y="985820"/>
            <a:ext cx="9957144" cy="818032"/>
          </a:xfrm>
          <a:prstGeom prst="rect">
            <a:avLst/>
          </a:prstGeom>
        </p:spPr>
      </p:pic>
      <p:pic>
        <p:nvPicPr>
          <p:cNvPr id="27" name="Рисунок 26" descr="\documentclass{article}&#10;\usepackage{amsmath}&#10;\pagestyle{empty}&#10;\begin{document}&#10;($V$, $L$, $\sigma_V$)&#10;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173" y="1886219"/>
            <a:ext cx="1037623" cy="227931"/>
          </a:xfrm>
          <a:prstGeom prst="rect">
            <a:avLst/>
          </a:prstGeom>
        </p:spPr>
      </p:pic>
      <p:pic>
        <p:nvPicPr>
          <p:cNvPr id="29" name="Рисунок 28" descr="\documentclass{article}&#10;\usepackage{amsmath}&#10;\pagestyle{empty}&#10;\begin{document}&#10;&#10;$\beta = 0.073$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602" y="6477495"/>
            <a:ext cx="946286" cy="205714"/>
          </a:xfrm>
          <a:prstGeom prst="rect">
            <a:avLst/>
          </a:prstGeom>
        </p:spPr>
      </p:pic>
      <p:sp>
        <p:nvSpPr>
          <p:cNvPr id="30" name="Прямоугольник 29"/>
          <p:cNvSpPr/>
          <p:nvPr/>
        </p:nvSpPr>
        <p:spPr>
          <a:xfrm>
            <a:off x="6096000" y="3719030"/>
            <a:ext cx="5969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i="1" dirty="0">
                <a:latin typeface="Consolas" panose="020B0609020204030204" pitchFamily="49" charset="0"/>
              </a:rPr>
              <a:t>Таблица </a:t>
            </a:r>
            <a:r>
              <a:rPr lang="ru-RU" i="1" dirty="0">
                <a:latin typeface="Consolas" panose="020B0609020204030204" pitchFamily="49" charset="0"/>
              </a:rPr>
              <a:t>2: регрессия </a:t>
            </a:r>
            <a:r>
              <a:rPr lang="ru-RU" i="1" dirty="0">
                <a:latin typeface="Consolas" panose="020B0609020204030204" pitchFamily="49" charset="0"/>
              </a:rPr>
              <a:t>(14 эмитентов, N = 1092)</a:t>
            </a:r>
          </a:p>
        </p:txBody>
      </p:sp>
    </p:spTree>
    <p:extLst>
      <p:ext uri="{BB962C8B-B14F-4D97-AF65-F5344CB8AC3E}">
        <p14:creationId xmlns:p14="http://schemas.microsoft.com/office/powerpoint/2010/main" val="2899100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\documentclass{article}&#10;\usepackage{amsmath}&#10;\pagestyle{empty}&#10;\begin{document}&#10;&#10;$$M_t = \nu + A_1 M_{t-1} + A_2 M_{t-2} + \dots + A_p M_{t-p} + u_t$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2515" y="1106735"/>
            <a:ext cx="5554286" cy="253257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304800" y="1007548"/>
            <a:ext cx="44177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VAR </a:t>
            </a:r>
            <a:r>
              <a:rPr lang="ru-RU" b="1" dirty="0"/>
              <a:t>(векторная авторегрессия</a:t>
            </a:r>
            <a:r>
              <a:rPr lang="ru-RU" b="1" dirty="0" smtClean="0"/>
              <a:t>):</a:t>
            </a:r>
            <a:endParaRPr lang="ru-RU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304800" y="1449809"/>
            <a:ext cx="1142695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Моделирует взаимозависимости всех </a:t>
            </a:r>
            <a:r>
              <a:rPr lang="ru-RU" sz="1600" dirty="0" err="1"/>
              <a:t>макрофакторов</a:t>
            </a:r>
            <a:r>
              <a:rPr lang="ru-RU" sz="1600" dirty="0"/>
              <a:t> как единую систему. </a:t>
            </a:r>
            <a:r>
              <a:rPr lang="ru-RU" sz="1600" dirty="0"/>
              <a:t>Порядок </a:t>
            </a:r>
            <a:r>
              <a:rPr lang="en-US" sz="1600" i="1" dirty="0" smtClean="0"/>
              <a:t>p</a:t>
            </a:r>
            <a:r>
              <a:rPr lang="ru-RU" sz="1600" dirty="0" smtClean="0"/>
              <a:t> </a:t>
            </a:r>
            <a:r>
              <a:rPr lang="ru-RU" sz="1600" dirty="0"/>
              <a:t>выбирается по BIC.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293221" y="2146100"/>
            <a:ext cx="17539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SARIMAX</a:t>
            </a:r>
            <a:r>
              <a:rPr lang="ru-RU" b="1" dirty="0" smtClean="0"/>
              <a:t>:</a:t>
            </a:r>
            <a:endParaRPr lang="en-US" b="1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304800" y="2904155"/>
            <a:ext cx="113171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Учитывает тренд, сезонность </a:t>
            </a:r>
            <a:r>
              <a:rPr lang="ru-RU" sz="1600" dirty="0" smtClean="0"/>
              <a:t>(s </a:t>
            </a:r>
            <a:r>
              <a:rPr lang="ru-RU" sz="1600" dirty="0"/>
              <a:t>= </a:t>
            </a:r>
            <a:r>
              <a:rPr lang="ru-RU" sz="1600" dirty="0" smtClean="0"/>
              <a:t>12) </a:t>
            </a:r>
            <a:r>
              <a:rPr lang="ru-RU" sz="1600" dirty="0"/>
              <a:t>и внешние экзогенные факторы.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304800" y="3326368"/>
            <a:ext cx="17307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Prophet</a:t>
            </a:r>
            <a:r>
              <a:rPr lang="ru-RU" b="1" dirty="0" smtClean="0"/>
              <a:t>:</a:t>
            </a:r>
            <a:endParaRPr lang="en-US" b="1" dirty="0"/>
          </a:p>
        </p:txBody>
      </p:sp>
      <p:pic>
        <p:nvPicPr>
          <p:cNvPr id="11" name="Рисунок 10" descr="\documentclass{article}&#10;\usepackage{amsmath}&#10;\pagestyle{empty}&#10;\begin{document}&#10;&#10;$$y(t) = g(t) + s(t) + h(t) + \varepsilon_t$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466" y="3385262"/>
            <a:ext cx="3123200" cy="253257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293221" y="3726290"/>
            <a:ext cx="679577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Байесовская декомпозиция: тренд </a:t>
            </a:r>
            <a:r>
              <a:rPr lang="ru-RU" sz="1600" dirty="0" smtClean="0"/>
              <a:t>g(t) </a:t>
            </a:r>
            <a:r>
              <a:rPr lang="ru-RU" sz="1600" dirty="0"/>
              <a:t>+ сезонность </a:t>
            </a:r>
            <a:r>
              <a:rPr lang="ru-RU" sz="1600" dirty="0" smtClean="0"/>
              <a:t>s(t) </a:t>
            </a:r>
            <a:r>
              <a:rPr lang="ru-RU" sz="1600" dirty="0"/>
              <a:t>(ряды Фурье) + шоки </a:t>
            </a:r>
            <a:r>
              <a:rPr lang="ru-RU" sz="1600" dirty="0" smtClean="0"/>
              <a:t>h(t).</a:t>
            </a:r>
            <a:endParaRPr lang="ru-RU" sz="1600" dirty="0"/>
          </a:p>
        </p:txBody>
      </p:sp>
      <p:graphicFrame>
        <p:nvGraphicFramePr>
          <p:cNvPr id="14" name="Таблица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575349"/>
              </p:ext>
            </p:extLst>
          </p:nvPr>
        </p:nvGraphicFramePr>
        <p:xfrm>
          <a:off x="7560734" y="3505199"/>
          <a:ext cx="4444747" cy="3154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666">
                  <a:extLst>
                    <a:ext uri="{9D8B030D-6E8A-4147-A177-3AD203B41FA5}">
                      <a16:colId xmlns:a16="http://schemas.microsoft.com/office/drawing/2014/main" val="1522360658"/>
                    </a:ext>
                  </a:extLst>
                </a:gridCol>
                <a:gridCol w="931333">
                  <a:extLst>
                    <a:ext uri="{9D8B030D-6E8A-4147-A177-3AD203B41FA5}">
                      <a16:colId xmlns:a16="http://schemas.microsoft.com/office/drawing/2014/main" val="2098399412"/>
                    </a:ext>
                  </a:extLst>
                </a:gridCol>
                <a:gridCol w="1039623">
                  <a:extLst>
                    <a:ext uri="{9D8B030D-6E8A-4147-A177-3AD203B41FA5}">
                      <a16:colId xmlns:a16="http://schemas.microsoft.com/office/drawing/2014/main" val="4254974520"/>
                    </a:ext>
                  </a:extLst>
                </a:gridCol>
                <a:gridCol w="992125">
                  <a:extLst>
                    <a:ext uri="{9D8B030D-6E8A-4147-A177-3AD203B41FA5}">
                      <a16:colId xmlns:a16="http://schemas.microsoft.com/office/drawing/2014/main" val="3880293862"/>
                    </a:ext>
                  </a:extLst>
                </a:gridCol>
              </a:tblGrid>
              <a:tr h="611349">
                <a:tc>
                  <a:txBody>
                    <a:bodyPr/>
                    <a:lstStyle/>
                    <a:p>
                      <a:pPr algn="l"/>
                      <a:r>
                        <a:rPr lang="ru-RU" sz="14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Переменная</a:t>
                      </a:r>
                      <a:endParaRPr lang="en-US" sz="14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VAR</a:t>
                      </a:r>
                      <a:endParaRPr lang="en-US" sz="14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SARIMAX</a:t>
                      </a:r>
                      <a:endParaRPr lang="en-US" sz="14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Prophet</a:t>
                      </a:r>
                      <a:endParaRPr lang="en-US" sz="14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774817"/>
                  </a:ext>
                </a:extLst>
              </a:tr>
              <a:tr h="48293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Инфляция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9056541"/>
                  </a:ext>
                </a:extLst>
              </a:tr>
              <a:tr h="61134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Ключевая ставка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3.62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710003"/>
                  </a:ext>
                </a:extLst>
              </a:tr>
              <a:tr h="48293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Безработица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4.55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1923951"/>
                  </a:ext>
                </a:extLst>
              </a:tr>
              <a:tr h="48293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Курс </a:t>
                      </a:r>
                      <a:r>
                        <a:rPr lang="en-US" sz="14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RUB/USD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2.94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2.72 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12.24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5703413"/>
                  </a:ext>
                </a:extLst>
              </a:tr>
              <a:tr h="48293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10.77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21.99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897313"/>
                  </a:ext>
                </a:extLst>
              </a:tr>
            </a:tbl>
          </a:graphicData>
        </a:graphic>
      </p:graphicFrame>
      <p:cxnSp>
        <p:nvCxnSpPr>
          <p:cNvPr id="15" name="Straight Connector 7">
            <a:extLst>
              <a:ext uri="{FF2B5EF4-FFF2-40B4-BE49-F238E27FC236}">
                <a16:creationId xmlns:a16="http://schemas.microsoft.com/office/drawing/2014/main" id="{0E853930-ECCE-62B1-DBD4-7C8F79CF98A8}"/>
              </a:ext>
            </a:extLst>
          </p:cNvPr>
          <p:cNvCxnSpPr/>
          <p:nvPr/>
        </p:nvCxnSpPr>
        <p:spPr>
          <a:xfrm flipH="1">
            <a:off x="304800" y="829877"/>
            <a:ext cx="11298936" cy="8641"/>
          </a:xfrm>
          <a:prstGeom prst="line">
            <a:avLst/>
          </a:prstGeom>
          <a:ln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E39199E-8B1C-CB78-B8E3-32113A33FB9A}"/>
              </a:ext>
            </a:extLst>
          </p:cNvPr>
          <p:cNvSpPr txBox="1"/>
          <p:nvPr/>
        </p:nvSpPr>
        <p:spPr>
          <a:xfrm>
            <a:off x="304800" y="306969"/>
            <a:ext cx="11426952" cy="547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3200" dirty="0" smtClean="0"/>
              <a:t>VAR,SARIMAX </a:t>
            </a:r>
            <a:r>
              <a:rPr lang="ru-RU" sz="3200" dirty="0"/>
              <a:t>и </a:t>
            </a:r>
            <a:r>
              <a:rPr lang="en-US" sz="3200" dirty="0"/>
              <a:t>Prophet</a:t>
            </a:r>
            <a:endParaRPr lang="ru-RU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18" name="Рисунок 17" descr="\documentclass{article}&#10;\usepackage{amsmath}&#10;\pagestyle{empty}&#10;\begin{document}&#10;&#10;$$y_t = \underbrace{\text{AR}(p)}_{\text{memory}} + \underbrace{\text{MA}(q)}_{\text{errors}} + \underbrace{\text{Seasonal}(s{=}12)}_{\text{yearly cycles}} + \underbrace{X_t \beta}_{\text{exogenous factors}} + \varepsilon_t$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8150" y="2172476"/>
            <a:ext cx="6679922" cy="636343"/>
          </a:xfrm>
          <a:prstGeom prst="rect">
            <a:avLst/>
          </a:prstGeom>
        </p:spPr>
      </p:pic>
      <p:grpSp>
        <p:nvGrpSpPr>
          <p:cNvPr id="39" name="Группа 38"/>
          <p:cNvGrpSpPr/>
          <p:nvPr/>
        </p:nvGrpSpPr>
        <p:grpSpPr>
          <a:xfrm>
            <a:off x="160420" y="4318264"/>
            <a:ext cx="7216167" cy="2505983"/>
            <a:chOff x="158301" y="4406063"/>
            <a:chExt cx="7216167" cy="2505983"/>
          </a:xfrm>
        </p:grpSpPr>
        <p:pic>
          <p:nvPicPr>
            <p:cNvPr id="19" name="Рисунок 18"/>
            <p:cNvPicPr>
              <a:picLocks noChangeAspect="1"/>
            </p:cNvPicPr>
            <p:nvPr/>
          </p:nvPicPr>
          <p:blipFill rotWithShape="1">
            <a:blip r:embed="rId8"/>
            <a:srcRect l="5045" t="71552" r="235" b="9184"/>
            <a:stretch/>
          </p:blipFill>
          <p:spPr>
            <a:xfrm>
              <a:off x="548640" y="4715933"/>
              <a:ext cx="6825828" cy="1456267"/>
            </a:xfrm>
            <a:prstGeom prst="rect">
              <a:avLst/>
            </a:prstGeom>
          </p:spPr>
        </p:pic>
        <p:sp>
          <p:nvSpPr>
            <p:cNvPr id="23" name="TextBox 22"/>
            <p:cNvSpPr txBox="1"/>
            <p:nvPr/>
          </p:nvSpPr>
          <p:spPr>
            <a:xfrm>
              <a:off x="2058714" y="4406063"/>
              <a:ext cx="38495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b="1" dirty="0" smtClean="0"/>
                <a:t>Прогноз валютной пары рубль</a:t>
              </a:r>
              <a:r>
                <a:rPr lang="en-US" sz="1400" b="1" dirty="0" smtClean="0"/>
                <a:t>/</a:t>
              </a:r>
              <a:r>
                <a:rPr lang="ru-RU" sz="1400" b="1" dirty="0" smtClean="0"/>
                <a:t>доллар</a:t>
              </a:r>
              <a:endParaRPr lang="en-US" sz="1400" b="1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58301" y="4793187"/>
              <a:ext cx="4843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200" dirty="0" smtClean="0"/>
                <a:t>100</a:t>
              </a:r>
              <a:endParaRPr lang="en-US" sz="1200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17566" y="5061242"/>
              <a:ext cx="4250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200" dirty="0" smtClean="0"/>
                <a:t>95</a:t>
              </a:r>
              <a:endParaRPr lang="en-US" sz="1200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28214" y="5329297"/>
              <a:ext cx="4144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200" dirty="0" smtClean="0"/>
                <a:t>90</a:t>
              </a:r>
              <a:endParaRPr lang="en-US" sz="1200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30398" y="5597351"/>
              <a:ext cx="4122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200" dirty="0" smtClean="0"/>
                <a:t>85</a:t>
              </a:r>
              <a:endParaRPr lang="en-US" sz="1200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44275" y="5865405"/>
              <a:ext cx="3983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200" dirty="0" smtClean="0"/>
                <a:t>80</a:t>
              </a:r>
              <a:endParaRPr lang="en-US" sz="1200" dirty="0"/>
            </a:p>
          </p:txBody>
        </p:sp>
        <p:sp>
          <p:nvSpPr>
            <p:cNvPr id="29" name="TextBox 28"/>
            <p:cNvSpPr txBox="1"/>
            <p:nvPr/>
          </p:nvSpPr>
          <p:spPr>
            <a:xfrm rot="16200000">
              <a:off x="250295" y="6365596"/>
              <a:ext cx="83128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100" dirty="0" smtClean="0"/>
                <a:t>2023-10</a:t>
              </a:r>
              <a:endParaRPr lang="en-US" sz="1100" dirty="0"/>
            </a:p>
          </p:txBody>
        </p:sp>
        <p:sp>
          <p:nvSpPr>
            <p:cNvPr id="30" name="TextBox 29"/>
            <p:cNvSpPr txBox="1"/>
            <p:nvPr/>
          </p:nvSpPr>
          <p:spPr>
            <a:xfrm rot="16200000">
              <a:off x="958503" y="6365596"/>
              <a:ext cx="83128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100" dirty="0" smtClean="0"/>
                <a:t>2024-01</a:t>
              </a:r>
              <a:endParaRPr lang="en-US" sz="1100" dirty="0"/>
            </a:p>
          </p:txBody>
        </p:sp>
        <p:sp>
          <p:nvSpPr>
            <p:cNvPr id="31" name="TextBox 30"/>
            <p:cNvSpPr txBox="1"/>
            <p:nvPr/>
          </p:nvSpPr>
          <p:spPr>
            <a:xfrm rot="16200000">
              <a:off x="1666711" y="6365596"/>
              <a:ext cx="83128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100" dirty="0" smtClean="0"/>
                <a:t>2024-04</a:t>
              </a:r>
              <a:endParaRPr lang="en-US" sz="1100" dirty="0"/>
            </a:p>
          </p:txBody>
        </p:sp>
        <p:sp>
          <p:nvSpPr>
            <p:cNvPr id="32" name="TextBox 31"/>
            <p:cNvSpPr txBox="1"/>
            <p:nvPr/>
          </p:nvSpPr>
          <p:spPr>
            <a:xfrm rot="16200000">
              <a:off x="2374919" y="6365596"/>
              <a:ext cx="83128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100" dirty="0" smtClean="0"/>
                <a:t>2024-07</a:t>
              </a:r>
              <a:endParaRPr lang="en-US" sz="1100" dirty="0"/>
            </a:p>
          </p:txBody>
        </p:sp>
        <p:sp>
          <p:nvSpPr>
            <p:cNvPr id="33" name="TextBox 32"/>
            <p:cNvSpPr txBox="1"/>
            <p:nvPr/>
          </p:nvSpPr>
          <p:spPr>
            <a:xfrm rot="16200000">
              <a:off x="3083127" y="6365596"/>
              <a:ext cx="83128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100" dirty="0" smtClean="0"/>
                <a:t>2024-10</a:t>
              </a:r>
              <a:endParaRPr lang="en-US" sz="1100" dirty="0"/>
            </a:p>
          </p:txBody>
        </p:sp>
        <p:sp>
          <p:nvSpPr>
            <p:cNvPr id="34" name="TextBox 33"/>
            <p:cNvSpPr txBox="1"/>
            <p:nvPr/>
          </p:nvSpPr>
          <p:spPr>
            <a:xfrm rot="16200000">
              <a:off x="3791335" y="6365597"/>
              <a:ext cx="83128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100" dirty="0" smtClean="0"/>
                <a:t>2025-01</a:t>
              </a:r>
              <a:endParaRPr lang="en-US" sz="1100" dirty="0"/>
            </a:p>
          </p:txBody>
        </p:sp>
        <p:sp>
          <p:nvSpPr>
            <p:cNvPr id="35" name="TextBox 34"/>
            <p:cNvSpPr txBox="1"/>
            <p:nvPr/>
          </p:nvSpPr>
          <p:spPr>
            <a:xfrm rot="16200000">
              <a:off x="4499543" y="6365597"/>
              <a:ext cx="83128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100" dirty="0" smtClean="0"/>
                <a:t>2025-04</a:t>
              </a:r>
              <a:endParaRPr lang="en-US" sz="1100" dirty="0"/>
            </a:p>
          </p:txBody>
        </p:sp>
        <p:sp>
          <p:nvSpPr>
            <p:cNvPr id="36" name="TextBox 35"/>
            <p:cNvSpPr txBox="1"/>
            <p:nvPr/>
          </p:nvSpPr>
          <p:spPr>
            <a:xfrm rot="16200000">
              <a:off x="5207751" y="6365597"/>
              <a:ext cx="83128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100" dirty="0" smtClean="0"/>
                <a:t>2025-07</a:t>
              </a:r>
              <a:endParaRPr lang="en-US" sz="1100" dirty="0"/>
            </a:p>
          </p:txBody>
        </p:sp>
        <p:sp>
          <p:nvSpPr>
            <p:cNvPr id="37" name="TextBox 36"/>
            <p:cNvSpPr txBox="1"/>
            <p:nvPr/>
          </p:nvSpPr>
          <p:spPr>
            <a:xfrm rot="16200000">
              <a:off x="5915959" y="6365597"/>
              <a:ext cx="83128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100" dirty="0" smtClean="0"/>
                <a:t>2025-10</a:t>
              </a:r>
              <a:endParaRPr lang="en-US" sz="1100" dirty="0"/>
            </a:p>
          </p:txBody>
        </p:sp>
        <p:sp>
          <p:nvSpPr>
            <p:cNvPr id="38" name="TextBox 37"/>
            <p:cNvSpPr txBox="1"/>
            <p:nvPr/>
          </p:nvSpPr>
          <p:spPr>
            <a:xfrm rot="16200000">
              <a:off x="6624169" y="6365597"/>
              <a:ext cx="83128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100" dirty="0" smtClean="0"/>
                <a:t>2026-01</a:t>
              </a:r>
              <a:endParaRPr lang="en-US" sz="1100" dirty="0"/>
            </a:p>
          </p:txBody>
        </p:sp>
      </p:grpSp>
      <p:sp>
        <p:nvSpPr>
          <p:cNvPr id="85" name="Прямоугольник 84"/>
          <p:cNvSpPr/>
          <p:nvPr/>
        </p:nvSpPr>
        <p:spPr>
          <a:xfrm>
            <a:off x="621782" y="5372196"/>
            <a:ext cx="771525" cy="6523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6" name="Группа 85"/>
          <p:cNvGrpSpPr/>
          <p:nvPr/>
        </p:nvGrpSpPr>
        <p:grpSpPr>
          <a:xfrm>
            <a:off x="676268" y="5366090"/>
            <a:ext cx="1057918" cy="691935"/>
            <a:chOff x="1776283" y="5362670"/>
            <a:chExt cx="1057918" cy="691935"/>
          </a:xfrm>
        </p:grpSpPr>
        <p:grpSp>
          <p:nvGrpSpPr>
            <p:cNvPr id="45" name="Группа 44"/>
            <p:cNvGrpSpPr/>
            <p:nvPr/>
          </p:nvGrpSpPr>
          <p:grpSpPr>
            <a:xfrm>
              <a:off x="2078298" y="5362670"/>
              <a:ext cx="755903" cy="691935"/>
              <a:chOff x="792226" y="5341530"/>
              <a:chExt cx="755903" cy="691935"/>
            </a:xfrm>
          </p:grpSpPr>
          <p:sp>
            <p:nvSpPr>
              <p:cNvPr id="40" name="TextBox 39"/>
              <p:cNvSpPr txBox="1"/>
              <p:nvPr/>
            </p:nvSpPr>
            <p:spPr>
              <a:xfrm>
                <a:off x="792226" y="5341530"/>
                <a:ext cx="65388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/>
                  <a:t>Fact</a:t>
                </a:r>
                <a:endParaRPr lang="en-US" sz="1000" dirty="0"/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792226" y="5490101"/>
                <a:ext cx="61102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ru-RU"/>
                </a:defPPr>
                <a:lvl1pPr>
                  <a:defRPr sz="1000"/>
                </a:lvl1pPr>
              </a:lstStyle>
              <a:p>
                <a:r>
                  <a:rPr lang="en-US" dirty="0"/>
                  <a:t>VAR</a:t>
                </a:r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792226" y="5638672"/>
                <a:ext cx="73636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/>
                  <a:t>SARIMAX</a:t>
                </a:r>
                <a:endParaRPr lang="en-US" sz="1000" dirty="0"/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792226" y="5787244"/>
                <a:ext cx="75590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 smtClean="0"/>
                  <a:t>Prophet</a:t>
                </a:r>
                <a:endParaRPr lang="en-US" sz="1000" dirty="0"/>
              </a:p>
            </p:txBody>
          </p:sp>
        </p:grpSp>
        <p:cxnSp>
          <p:nvCxnSpPr>
            <p:cNvPr id="48" name="Прямая соединительная линия 47"/>
            <p:cNvCxnSpPr/>
            <p:nvPr/>
          </p:nvCxnSpPr>
          <p:spPr>
            <a:xfrm>
              <a:off x="1776283" y="5627679"/>
              <a:ext cx="353353" cy="2879"/>
            </a:xfrm>
            <a:prstGeom prst="line">
              <a:avLst/>
            </a:prstGeom>
            <a:ln w="31750">
              <a:solidFill>
                <a:srgbClr val="8B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Прямая соединительная линия 48"/>
            <p:cNvCxnSpPr/>
            <p:nvPr/>
          </p:nvCxnSpPr>
          <p:spPr>
            <a:xfrm>
              <a:off x="1776283" y="5775889"/>
              <a:ext cx="353353" cy="2163"/>
            </a:xfrm>
            <a:prstGeom prst="line">
              <a:avLst/>
            </a:prstGeom>
            <a:ln w="31750">
              <a:solidFill>
                <a:srgbClr val="0064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Прямая соединительная линия 49"/>
            <p:cNvCxnSpPr/>
            <p:nvPr/>
          </p:nvCxnSpPr>
          <p:spPr>
            <a:xfrm flipV="1">
              <a:off x="1776283" y="5923384"/>
              <a:ext cx="353353" cy="1080"/>
            </a:xfrm>
            <a:prstGeom prst="line">
              <a:avLst/>
            </a:prstGeom>
            <a:ln w="31750">
              <a:solidFill>
                <a:srgbClr val="FFA2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Прямая соединительная линия 50"/>
            <p:cNvCxnSpPr/>
            <p:nvPr/>
          </p:nvCxnSpPr>
          <p:spPr>
            <a:xfrm>
              <a:off x="1776283" y="5477370"/>
              <a:ext cx="353353" cy="4978"/>
            </a:xfrm>
            <a:prstGeom prst="line">
              <a:avLst/>
            </a:prstGeom>
            <a:ln w="31750" cmpd="sng">
              <a:solidFill>
                <a:srgbClr val="4068E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36805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Скругленный прямоугольник 42"/>
          <p:cNvSpPr/>
          <p:nvPr/>
        </p:nvSpPr>
        <p:spPr>
          <a:xfrm>
            <a:off x="7366685" y="2117037"/>
            <a:ext cx="2079961" cy="859562"/>
          </a:xfrm>
          <a:prstGeom prst="roundRect">
            <a:avLst>
              <a:gd name="adj" fmla="val 9935"/>
            </a:avLst>
          </a:prstGeom>
          <a:solidFill>
            <a:schemeClr val="accent4">
              <a:lumMod val="40000"/>
              <a:lumOff val="60000"/>
              <a:alpha val="5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Скругленный прямоугольник 43"/>
          <p:cNvSpPr/>
          <p:nvPr/>
        </p:nvSpPr>
        <p:spPr>
          <a:xfrm>
            <a:off x="9716990" y="2123080"/>
            <a:ext cx="2079961" cy="859562"/>
          </a:xfrm>
          <a:prstGeom prst="roundRect">
            <a:avLst>
              <a:gd name="adj" fmla="val 9935"/>
            </a:avLst>
          </a:prstGeom>
          <a:solidFill>
            <a:schemeClr val="accent4">
              <a:lumMod val="40000"/>
              <a:lumOff val="60000"/>
              <a:alpha val="5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Скругленный прямоугольник 41"/>
          <p:cNvSpPr/>
          <p:nvPr/>
        </p:nvSpPr>
        <p:spPr>
          <a:xfrm>
            <a:off x="5021170" y="2123080"/>
            <a:ext cx="2079961" cy="859562"/>
          </a:xfrm>
          <a:prstGeom prst="roundRect">
            <a:avLst>
              <a:gd name="adj" fmla="val 9935"/>
            </a:avLst>
          </a:prstGeom>
          <a:solidFill>
            <a:schemeClr val="accent4">
              <a:lumMod val="40000"/>
              <a:lumOff val="60000"/>
              <a:alpha val="5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Скругленный прямоугольник 40"/>
          <p:cNvSpPr/>
          <p:nvPr/>
        </p:nvSpPr>
        <p:spPr>
          <a:xfrm>
            <a:off x="2666071" y="2117037"/>
            <a:ext cx="2079961" cy="859562"/>
          </a:xfrm>
          <a:prstGeom prst="roundRect">
            <a:avLst>
              <a:gd name="adj" fmla="val 9935"/>
            </a:avLst>
          </a:prstGeom>
          <a:solidFill>
            <a:schemeClr val="accent4">
              <a:lumMod val="40000"/>
              <a:lumOff val="60000"/>
              <a:alpha val="5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Скругленный прямоугольник 39"/>
          <p:cNvSpPr/>
          <p:nvPr/>
        </p:nvSpPr>
        <p:spPr>
          <a:xfrm>
            <a:off x="315766" y="2117037"/>
            <a:ext cx="2079961" cy="859562"/>
          </a:xfrm>
          <a:prstGeom prst="roundRect">
            <a:avLst>
              <a:gd name="adj" fmla="val 9935"/>
            </a:avLst>
          </a:prstGeom>
          <a:solidFill>
            <a:schemeClr val="accent4">
              <a:lumMod val="40000"/>
              <a:lumOff val="60000"/>
              <a:alpha val="5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323285" y="2117037"/>
            <a:ext cx="2079961" cy="4141437"/>
          </a:xfrm>
          <a:prstGeom prst="roundRect">
            <a:avLst>
              <a:gd name="adj" fmla="val 4128"/>
            </a:avLst>
          </a:prstGeom>
          <a:solidFill>
            <a:schemeClr val="accent1">
              <a:lumMod val="20000"/>
              <a:lumOff val="80000"/>
              <a:alpha val="5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2666073" y="2117037"/>
            <a:ext cx="2079961" cy="4141437"/>
          </a:xfrm>
          <a:prstGeom prst="roundRect">
            <a:avLst>
              <a:gd name="adj" fmla="val 4128"/>
            </a:avLst>
          </a:prstGeom>
          <a:solidFill>
            <a:schemeClr val="accent1">
              <a:lumMod val="20000"/>
              <a:lumOff val="80000"/>
              <a:alpha val="5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Скругленный прямоугольник 18"/>
          <p:cNvSpPr/>
          <p:nvPr/>
        </p:nvSpPr>
        <p:spPr>
          <a:xfrm>
            <a:off x="5016379" y="2117037"/>
            <a:ext cx="2079961" cy="4141437"/>
          </a:xfrm>
          <a:prstGeom prst="roundRect">
            <a:avLst>
              <a:gd name="adj" fmla="val 4128"/>
            </a:avLst>
          </a:prstGeom>
          <a:solidFill>
            <a:schemeClr val="accent1">
              <a:lumMod val="20000"/>
              <a:lumOff val="80000"/>
              <a:alpha val="5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7366685" y="2117037"/>
            <a:ext cx="2079961" cy="4141437"/>
          </a:xfrm>
          <a:prstGeom prst="roundRect">
            <a:avLst>
              <a:gd name="adj" fmla="val 4128"/>
            </a:avLst>
          </a:prstGeom>
          <a:solidFill>
            <a:schemeClr val="accent1">
              <a:lumMod val="20000"/>
              <a:lumOff val="80000"/>
              <a:alpha val="5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Скругленный прямоугольник 20"/>
          <p:cNvSpPr/>
          <p:nvPr/>
        </p:nvSpPr>
        <p:spPr>
          <a:xfrm>
            <a:off x="9716990" y="2117037"/>
            <a:ext cx="2079961" cy="4141437"/>
          </a:xfrm>
          <a:prstGeom prst="roundRect">
            <a:avLst>
              <a:gd name="adj" fmla="val 4128"/>
            </a:avLst>
          </a:prstGeom>
          <a:solidFill>
            <a:schemeClr val="accent1">
              <a:lumMod val="20000"/>
              <a:lumOff val="80000"/>
              <a:alpha val="5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39199E-8B1C-CB78-B8E3-32113A33FB9A}"/>
              </a:ext>
            </a:extLst>
          </p:cNvPr>
          <p:cNvSpPr txBox="1"/>
          <p:nvPr/>
        </p:nvSpPr>
        <p:spPr>
          <a:xfrm>
            <a:off x="304800" y="306969"/>
            <a:ext cx="8180832" cy="547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3200" dirty="0"/>
              <a:t>Формирование портфеля</a:t>
            </a:r>
            <a:endParaRPr lang="ru-RU" sz="3200" dirty="0">
              <a:latin typeface="+mj-lt"/>
              <a:ea typeface="+mj-ea"/>
              <a:cs typeface="+mj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15937" y="2217636"/>
            <a:ext cx="20767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/>
              <a:t>Нефтегазовый</a:t>
            </a:r>
          </a:p>
          <a:p>
            <a:pPr algn="ctr"/>
            <a:r>
              <a:rPr lang="ru-RU" b="1" dirty="0" smtClean="0"/>
              <a:t> сектор</a:t>
            </a:r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2685655" y="2217636"/>
            <a:ext cx="20799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/>
              <a:t>Финансовый</a:t>
            </a:r>
          </a:p>
          <a:p>
            <a:pPr algn="ctr"/>
            <a:r>
              <a:rPr lang="ru-RU" b="1" dirty="0" smtClean="0"/>
              <a:t> сектор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5035960" y="2217636"/>
            <a:ext cx="2079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/>
              <a:t>Промышленный сектор</a:t>
            </a:r>
            <a:endParaRPr 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7378744" y="2217636"/>
            <a:ext cx="2079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err="1" smtClean="0"/>
              <a:t>Телекомм-ый</a:t>
            </a:r>
            <a:r>
              <a:rPr lang="ru-RU" b="1" dirty="0" smtClean="0"/>
              <a:t> сектор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9744093" y="2217636"/>
            <a:ext cx="20799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/>
              <a:t>Торговый</a:t>
            </a:r>
          </a:p>
          <a:p>
            <a:pPr algn="ctr"/>
            <a:r>
              <a:rPr lang="ru-RU" b="1" dirty="0" smtClean="0"/>
              <a:t> сектор</a:t>
            </a:r>
            <a:endParaRPr lang="en-US" b="1" dirty="0"/>
          </a:p>
        </p:txBody>
      </p:sp>
      <p:sp>
        <p:nvSpPr>
          <p:cNvPr id="23" name="Прямоугольник 22"/>
          <p:cNvSpPr/>
          <p:nvPr/>
        </p:nvSpPr>
        <p:spPr>
          <a:xfrm>
            <a:off x="323791" y="3072244"/>
            <a:ext cx="207415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/>
              <a:t>ПАО</a:t>
            </a:r>
          </a:p>
          <a:p>
            <a:pPr algn="ctr"/>
            <a:r>
              <a:rPr lang="ru-RU" dirty="0" smtClean="0"/>
              <a:t>«</a:t>
            </a:r>
            <a:r>
              <a:rPr lang="ru-RU" dirty="0"/>
              <a:t>Газпром</a:t>
            </a:r>
            <a:r>
              <a:rPr lang="ru-RU" dirty="0" smtClean="0"/>
              <a:t>»</a:t>
            </a:r>
          </a:p>
          <a:p>
            <a:pPr algn="ctr"/>
            <a:r>
              <a:rPr lang="ru-RU" dirty="0" smtClean="0"/>
              <a:t>(</a:t>
            </a:r>
            <a:r>
              <a:rPr lang="en-US" dirty="0" smtClean="0"/>
              <a:t>GAZP</a:t>
            </a:r>
            <a:r>
              <a:rPr lang="ru-RU" dirty="0" smtClean="0"/>
              <a:t>)</a:t>
            </a:r>
            <a:endParaRPr lang="en-US" dirty="0"/>
          </a:p>
        </p:txBody>
      </p:sp>
      <p:sp>
        <p:nvSpPr>
          <p:cNvPr id="24" name="Прямоугольник 23"/>
          <p:cNvSpPr/>
          <p:nvPr/>
        </p:nvSpPr>
        <p:spPr>
          <a:xfrm>
            <a:off x="320889" y="4099634"/>
            <a:ext cx="207996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/>
              <a:t>ПАО</a:t>
            </a:r>
          </a:p>
          <a:p>
            <a:pPr algn="ctr"/>
            <a:r>
              <a:rPr lang="ru-RU" dirty="0" smtClean="0"/>
              <a:t>«</a:t>
            </a:r>
            <a:r>
              <a:rPr lang="ru-RU" dirty="0"/>
              <a:t>Лукойл» </a:t>
            </a:r>
            <a:endParaRPr lang="ru-RU" dirty="0" smtClean="0"/>
          </a:p>
          <a:p>
            <a:pPr algn="ctr"/>
            <a:r>
              <a:rPr lang="ru-RU" dirty="0" smtClean="0"/>
              <a:t>(</a:t>
            </a:r>
            <a:r>
              <a:rPr lang="en-US" dirty="0" smtClean="0"/>
              <a:t>LKOH</a:t>
            </a:r>
            <a:r>
              <a:rPr lang="ru-RU" dirty="0" smtClean="0"/>
              <a:t>)</a:t>
            </a:r>
            <a:endParaRPr lang="en-US" dirty="0"/>
          </a:p>
        </p:txBody>
      </p:sp>
      <p:sp>
        <p:nvSpPr>
          <p:cNvPr id="25" name="Прямоугольник 24"/>
          <p:cNvSpPr/>
          <p:nvPr/>
        </p:nvSpPr>
        <p:spPr>
          <a:xfrm>
            <a:off x="322252" y="5127024"/>
            <a:ext cx="207723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/>
              <a:t>ПАО</a:t>
            </a:r>
          </a:p>
          <a:p>
            <a:pPr algn="ctr"/>
            <a:r>
              <a:rPr lang="ru-RU" dirty="0" smtClean="0"/>
              <a:t>«Роснефть</a:t>
            </a:r>
            <a:r>
              <a:rPr lang="ru-RU" dirty="0"/>
              <a:t>» </a:t>
            </a:r>
            <a:r>
              <a:rPr lang="ru-RU" dirty="0" smtClean="0"/>
              <a:t>(</a:t>
            </a:r>
            <a:r>
              <a:rPr lang="en-US" dirty="0" smtClean="0"/>
              <a:t>ROSN</a:t>
            </a:r>
            <a:r>
              <a:rPr lang="ru-RU" dirty="0" smtClean="0"/>
              <a:t>)</a:t>
            </a:r>
            <a:endParaRPr lang="en-US" dirty="0"/>
          </a:p>
        </p:txBody>
      </p:sp>
      <p:sp>
        <p:nvSpPr>
          <p:cNvPr id="26" name="Прямоугольник 25"/>
          <p:cNvSpPr/>
          <p:nvPr/>
        </p:nvSpPr>
        <p:spPr>
          <a:xfrm>
            <a:off x="2671327" y="3072244"/>
            <a:ext cx="207697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/>
              <a:t>ПАО</a:t>
            </a:r>
          </a:p>
          <a:p>
            <a:pPr algn="ctr"/>
            <a:r>
              <a:rPr lang="ru-RU" dirty="0" smtClean="0"/>
              <a:t>«Сбербанк»</a:t>
            </a:r>
          </a:p>
          <a:p>
            <a:pPr algn="ctr"/>
            <a:r>
              <a:rPr lang="ru-RU" dirty="0" smtClean="0"/>
              <a:t>(</a:t>
            </a:r>
            <a:r>
              <a:rPr lang="en-US" dirty="0" smtClean="0"/>
              <a:t>SBER</a:t>
            </a:r>
            <a:r>
              <a:rPr lang="ru-RU" dirty="0" smtClean="0"/>
              <a:t>)</a:t>
            </a:r>
            <a:endParaRPr lang="en-US" dirty="0"/>
          </a:p>
        </p:txBody>
      </p:sp>
      <p:sp>
        <p:nvSpPr>
          <p:cNvPr id="27" name="Прямоугольник 26"/>
          <p:cNvSpPr/>
          <p:nvPr/>
        </p:nvSpPr>
        <p:spPr>
          <a:xfrm>
            <a:off x="2655798" y="4099634"/>
            <a:ext cx="208137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/>
              <a:t>ПАО</a:t>
            </a:r>
          </a:p>
          <a:p>
            <a:pPr algn="ctr"/>
            <a:r>
              <a:rPr lang="ru-RU" dirty="0" smtClean="0"/>
              <a:t>«Банк ВТБ»</a:t>
            </a:r>
          </a:p>
          <a:p>
            <a:pPr algn="ctr"/>
            <a:r>
              <a:rPr lang="ru-RU" dirty="0" smtClean="0"/>
              <a:t>(</a:t>
            </a:r>
            <a:r>
              <a:rPr lang="en-US" dirty="0" smtClean="0"/>
              <a:t>VTBR</a:t>
            </a:r>
            <a:r>
              <a:rPr lang="ru-RU" dirty="0" smtClean="0"/>
              <a:t>)</a:t>
            </a:r>
            <a:endParaRPr lang="en-US" dirty="0"/>
          </a:p>
        </p:txBody>
      </p:sp>
      <p:sp>
        <p:nvSpPr>
          <p:cNvPr id="28" name="Прямоугольник 27"/>
          <p:cNvSpPr/>
          <p:nvPr/>
        </p:nvSpPr>
        <p:spPr>
          <a:xfrm>
            <a:off x="2664855" y="5022964"/>
            <a:ext cx="207231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/>
              <a:t>ПАО </a:t>
            </a:r>
            <a:r>
              <a:rPr lang="ru-RU" dirty="0"/>
              <a:t>«Московская Биржа</a:t>
            </a:r>
            <a:r>
              <a:rPr lang="ru-RU" dirty="0" smtClean="0"/>
              <a:t>»</a:t>
            </a:r>
          </a:p>
          <a:p>
            <a:pPr algn="ctr"/>
            <a:r>
              <a:rPr lang="ru-RU" dirty="0" smtClean="0"/>
              <a:t>(</a:t>
            </a:r>
            <a:r>
              <a:rPr lang="en-US" dirty="0" smtClean="0"/>
              <a:t>MOEX</a:t>
            </a:r>
            <a:r>
              <a:rPr lang="ru-RU" dirty="0" smtClean="0"/>
              <a:t>)</a:t>
            </a:r>
            <a:endParaRPr lang="en-US" dirty="0"/>
          </a:p>
        </p:txBody>
      </p:sp>
      <p:sp>
        <p:nvSpPr>
          <p:cNvPr id="29" name="Прямоугольник 28"/>
          <p:cNvSpPr/>
          <p:nvPr/>
        </p:nvSpPr>
        <p:spPr>
          <a:xfrm>
            <a:off x="7354623" y="5125974"/>
            <a:ext cx="209202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/>
              <a:t>ПАО</a:t>
            </a:r>
          </a:p>
          <a:p>
            <a:pPr algn="ctr"/>
            <a:r>
              <a:rPr lang="ru-RU" dirty="0" smtClean="0"/>
              <a:t>«</a:t>
            </a:r>
            <a:r>
              <a:rPr lang="ru-RU" dirty="0" err="1" smtClean="0"/>
              <a:t>Таттелеком</a:t>
            </a:r>
            <a:r>
              <a:rPr lang="ru-RU" dirty="0" smtClean="0"/>
              <a:t>»</a:t>
            </a:r>
          </a:p>
          <a:p>
            <a:pPr algn="ctr"/>
            <a:r>
              <a:rPr lang="ru-RU" dirty="0" smtClean="0"/>
              <a:t>(TTLK)</a:t>
            </a:r>
            <a:endParaRPr lang="ru-RU" dirty="0"/>
          </a:p>
        </p:txBody>
      </p:sp>
      <p:sp>
        <p:nvSpPr>
          <p:cNvPr id="30" name="Прямоугольник 29"/>
          <p:cNvSpPr/>
          <p:nvPr/>
        </p:nvSpPr>
        <p:spPr>
          <a:xfrm>
            <a:off x="5018714" y="4272573"/>
            <a:ext cx="206641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/>
              <a:t>ПАО</a:t>
            </a:r>
          </a:p>
          <a:p>
            <a:pPr algn="ctr"/>
            <a:r>
              <a:rPr lang="ru-RU" dirty="0" smtClean="0"/>
              <a:t>«</a:t>
            </a:r>
            <a:r>
              <a:rPr lang="ru-RU" dirty="0"/>
              <a:t>НЛМК</a:t>
            </a:r>
            <a:r>
              <a:rPr lang="ru-RU" dirty="0" smtClean="0"/>
              <a:t>»</a:t>
            </a:r>
          </a:p>
          <a:p>
            <a:pPr algn="ctr"/>
            <a:r>
              <a:rPr lang="ru-RU" dirty="0" smtClean="0"/>
              <a:t>(</a:t>
            </a:r>
            <a:r>
              <a:rPr lang="en-US" dirty="0" smtClean="0"/>
              <a:t>NLMK</a:t>
            </a:r>
            <a:r>
              <a:rPr lang="ru-RU" dirty="0"/>
              <a:t>)</a:t>
            </a:r>
            <a:endParaRPr lang="en-US" dirty="0"/>
          </a:p>
        </p:txBody>
      </p:sp>
      <p:sp>
        <p:nvSpPr>
          <p:cNvPr id="31" name="Прямоугольник 30"/>
          <p:cNvSpPr/>
          <p:nvPr/>
        </p:nvSpPr>
        <p:spPr>
          <a:xfrm>
            <a:off x="4981748" y="5127024"/>
            <a:ext cx="211459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/>
              <a:t>ПАО</a:t>
            </a:r>
          </a:p>
          <a:p>
            <a:pPr algn="ctr"/>
            <a:r>
              <a:rPr lang="ru-RU" dirty="0" smtClean="0"/>
              <a:t>«</a:t>
            </a:r>
            <a:r>
              <a:rPr lang="ru-RU" dirty="0"/>
              <a:t>РУСАЛ</a:t>
            </a:r>
            <a:r>
              <a:rPr lang="ru-RU" dirty="0" smtClean="0"/>
              <a:t>»</a:t>
            </a:r>
          </a:p>
          <a:p>
            <a:pPr algn="ctr"/>
            <a:r>
              <a:rPr lang="ru-RU" dirty="0" smtClean="0"/>
              <a:t>(</a:t>
            </a:r>
            <a:r>
              <a:rPr lang="en-US" dirty="0"/>
              <a:t>RUAL</a:t>
            </a:r>
            <a:r>
              <a:rPr lang="ru-RU" dirty="0" smtClean="0"/>
              <a:t>)</a:t>
            </a:r>
            <a:endParaRPr lang="en-US" dirty="0"/>
          </a:p>
        </p:txBody>
      </p:sp>
      <p:sp>
        <p:nvSpPr>
          <p:cNvPr id="32" name="Прямоугольник 31"/>
          <p:cNvSpPr/>
          <p:nvPr/>
        </p:nvSpPr>
        <p:spPr>
          <a:xfrm>
            <a:off x="5029928" y="3072244"/>
            <a:ext cx="207996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/>
              <a:t>ПАО</a:t>
            </a:r>
          </a:p>
          <a:p>
            <a:pPr algn="ctr"/>
            <a:r>
              <a:rPr lang="ru-RU" dirty="0" smtClean="0"/>
              <a:t>«</a:t>
            </a:r>
            <a:r>
              <a:rPr lang="ru-RU" dirty="0"/>
              <a:t>Норильский никель</a:t>
            </a:r>
            <a:r>
              <a:rPr lang="ru-RU" dirty="0" smtClean="0"/>
              <a:t>»</a:t>
            </a:r>
          </a:p>
          <a:p>
            <a:pPr algn="ctr"/>
            <a:r>
              <a:rPr lang="ru-RU" dirty="0" smtClean="0"/>
              <a:t>(</a:t>
            </a:r>
            <a:r>
              <a:rPr lang="ru-RU" dirty="0"/>
              <a:t>GMKN</a:t>
            </a:r>
            <a:r>
              <a:rPr lang="ru-RU" dirty="0" smtClean="0"/>
              <a:t>)</a:t>
            </a:r>
            <a:endParaRPr lang="en-US" dirty="0"/>
          </a:p>
        </p:txBody>
      </p:sp>
      <p:sp>
        <p:nvSpPr>
          <p:cNvPr id="33" name="Прямоугольник 32"/>
          <p:cNvSpPr/>
          <p:nvPr/>
        </p:nvSpPr>
        <p:spPr>
          <a:xfrm>
            <a:off x="7366475" y="4099634"/>
            <a:ext cx="207120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/>
              <a:t>ПАО</a:t>
            </a:r>
            <a:endParaRPr lang="ru-RU" dirty="0"/>
          </a:p>
          <a:p>
            <a:pPr algn="ctr"/>
            <a:r>
              <a:rPr lang="ru-RU" dirty="0"/>
              <a:t>«МТС» </a:t>
            </a:r>
          </a:p>
          <a:p>
            <a:pPr algn="ctr"/>
            <a:r>
              <a:rPr lang="ru-RU" dirty="0"/>
              <a:t>(MTSS)</a:t>
            </a:r>
          </a:p>
        </p:txBody>
      </p:sp>
      <p:sp>
        <p:nvSpPr>
          <p:cNvPr id="34" name="Прямоугольник 33"/>
          <p:cNvSpPr/>
          <p:nvPr/>
        </p:nvSpPr>
        <p:spPr>
          <a:xfrm>
            <a:off x="7386659" y="3073294"/>
            <a:ext cx="207120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/>
              <a:t>ПАО</a:t>
            </a:r>
          </a:p>
          <a:p>
            <a:pPr algn="ctr"/>
            <a:r>
              <a:rPr lang="ru-RU" dirty="0" smtClean="0"/>
              <a:t>«</a:t>
            </a:r>
            <a:r>
              <a:rPr lang="ru-RU" dirty="0"/>
              <a:t>Ростелеком</a:t>
            </a:r>
            <a:r>
              <a:rPr lang="ru-RU" dirty="0" smtClean="0"/>
              <a:t>»</a:t>
            </a:r>
          </a:p>
          <a:p>
            <a:pPr algn="ctr"/>
            <a:r>
              <a:rPr lang="ru-RU" dirty="0"/>
              <a:t>(RTKM)</a:t>
            </a:r>
          </a:p>
          <a:p>
            <a:pPr algn="ctr"/>
            <a:endParaRPr lang="en-US" dirty="0"/>
          </a:p>
        </p:txBody>
      </p:sp>
      <p:sp>
        <p:nvSpPr>
          <p:cNvPr id="35" name="Прямоугольник 34"/>
          <p:cNvSpPr/>
          <p:nvPr/>
        </p:nvSpPr>
        <p:spPr>
          <a:xfrm>
            <a:off x="9719704" y="3072243"/>
            <a:ext cx="208475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/>
              <a:t>ПАО</a:t>
            </a:r>
          </a:p>
          <a:p>
            <a:pPr algn="ctr"/>
            <a:r>
              <a:rPr lang="ru-RU" dirty="0" smtClean="0"/>
              <a:t>«</a:t>
            </a:r>
            <a:r>
              <a:rPr lang="ru-RU" dirty="0"/>
              <a:t>Магнит</a:t>
            </a:r>
            <a:r>
              <a:rPr lang="ru-RU" dirty="0" smtClean="0"/>
              <a:t>»</a:t>
            </a:r>
          </a:p>
          <a:p>
            <a:pPr algn="ctr"/>
            <a:r>
              <a:rPr lang="ru-RU" dirty="0" smtClean="0"/>
              <a:t>(</a:t>
            </a:r>
            <a:r>
              <a:rPr lang="en-US" dirty="0"/>
              <a:t>MGNT</a:t>
            </a:r>
            <a:r>
              <a:rPr lang="ru-RU" dirty="0" smtClean="0"/>
              <a:t>)</a:t>
            </a:r>
            <a:endParaRPr lang="en-US" dirty="0"/>
          </a:p>
        </p:txBody>
      </p:sp>
      <p:sp>
        <p:nvSpPr>
          <p:cNvPr id="36" name="Прямоугольник 35"/>
          <p:cNvSpPr/>
          <p:nvPr/>
        </p:nvSpPr>
        <p:spPr>
          <a:xfrm>
            <a:off x="9712200" y="4099634"/>
            <a:ext cx="207724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/>
              <a:t>ПАО</a:t>
            </a:r>
          </a:p>
          <a:p>
            <a:pPr algn="ctr"/>
            <a:r>
              <a:rPr lang="ru-RU" dirty="0" smtClean="0"/>
              <a:t>«</a:t>
            </a:r>
            <a:r>
              <a:rPr lang="ru-RU" dirty="0"/>
              <a:t>Лента</a:t>
            </a:r>
            <a:r>
              <a:rPr lang="ru-RU" dirty="0" smtClean="0"/>
              <a:t>»</a:t>
            </a:r>
          </a:p>
          <a:p>
            <a:pPr algn="ctr"/>
            <a:r>
              <a:rPr lang="ru-RU" dirty="0" smtClean="0"/>
              <a:t>(</a:t>
            </a:r>
            <a:r>
              <a:rPr lang="en-US" dirty="0"/>
              <a:t>LNTA</a:t>
            </a:r>
            <a:r>
              <a:rPr lang="ru-RU" dirty="0" smtClean="0"/>
              <a:t>)</a:t>
            </a:r>
            <a:endParaRPr lang="en-US" dirty="0"/>
          </a:p>
        </p:txBody>
      </p:sp>
      <p:sp>
        <p:nvSpPr>
          <p:cNvPr id="37" name="Прямоугольник 36"/>
          <p:cNvSpPr/>
          <p:nvPr/>
        </p:nvSpPr>
        <p:spPr>
          <a:xfrm>
            <a:off x="9727208" y="5299962"/>
            <a:ext cx="20772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/>
              <a:t>«</a:t>
            </a:r>
            <a:r>
              <a:rPr lang="en-US" dirty="0"/>
              <a:t>Fix </a:t>
            </a:r>
            <a:r>
              <a:rPr lang="en-US" dirty="0" smtClean="0"/>
              <a:t>Price</a:t>
            </a:r>
            <a:r>
              <a:rPr lang="ru-RU" dirty="0" smtClean="0"/>
              <a:t>*»</a:t>
            </a:r>
            <a:endParaRPr lang="ru-RU" dirty="0"/>
          </a:p>
          <a:p>
            <a:pPr algn="ctr"/>
            <a:r>
              <a:rPr lang="ru-RU" dirty="0" smtClean="0"/>
              <a:t>(</a:t>
            </a:r>
            <a:r>
              <a:rPr lang="en-US" dirty="0" smtClean="0"/>
              <a:t>FESH</a:t>
            </a:r>
            <a:r>
              <a:rPr lang="ru-RU" dirty="0" smtClean="0"/>
              <a:t>)</a:t>
            </a:r>
            <a:endParaRPr lang="en-US" dirty="0"/>
          </a:p>
        </p:txBody>
      </p:sp>
      <p:sp>
        <p:nvSpPr>
          <p:cNvPr id="46" name="Скругленный прямоугольник 45"/>
          <p:cNvSpPr/>
          <p:nvPr/>
        </p:nvSpPr>
        <p:spPr>
          <a:xfrm>
            <a:off x="315765" y="1345572"/>
            <a:ext cx="11481185" cy="490625"/>
          </a:xfrm>
          <a:prstGeom prst="roundRect">
            <a:avLst>
              <a:gd name="adj" fmla="val 4128"/>
            </a:avLst>
          </a:prstGeom>
          <a:solidFill>
            <a:schemeClr val="accent1">
              <a:lumMod val="20000"/>
              <a:lumOff val="80000"/>
              <a:alpha val="5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</a:rPr>
              <a:t>Итоговый кредитный портфель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7" name="Прямоугольник 46"/>
          <p:cNvSpPr/>
          <p:nvPr/>
        </p:nvSpPr>
        <p:spPr>
          <a:xfrm>
            <a:off x="304800" y="6390625"/>
            <a:ext cx="1148464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/>
              <a:t>*</a:t>
            </a:r>
            <a:r>
              <a:rPr lang="ru-RU" sz="1400" dirty="0" err="1" smtClean="0"/>
              <a:t>Fix</a:t>
            </a:r>
            <a:r>
              <a:rPr lang="ru-RU" sz="1400" dirty="0" smtClean="0"/>
              <a:t> </a:t>
            </a:r>
            <a:r>
              <a:rPr lang="ru-RU" sz="1400" dirty="0" err="1"/>
              <a:t>Price</a:t>
            </a:r>
            <a:r>
              <a:rPr lang="ru-RU" sz="1400" dirty="0"/>
              <a:t> зарегистрирована как </a:t>
            </a:r>
            <a:r>
              <a:rPr lang="ru-RU" sz="1400" b="1" dirty="0"/>
              <a:t>FIXP</a:t>
            </a:r>
            <a:r>
              <a:rPr lang="ru-RU" sz="1400" dirty="0"/>
              <a:t> в международных индексах, но на </a:t>
            </a:r>
            <a:r>
              <a:rPr lang="ru-RU" sz="1400" dirty="0" err="1"/>
              <a:t>Мосбирже</a:t>
            </a:r>
            <a:r>
              <a:rPr lang="ru-RU" sz="1400" dirty="0"/>
              <a:t> используется </a:t>
            </a:r>
            <a:r>
              <a:rPr lang="ru-RU" sz="1400" dirty="0" err="1"/>
              <a:t>тикер</a:t>
            </a:r>
            <a:r>
              <a:rPr lang="ru-RU" sz="1400" dirty="0"/>
              <a:t> </a:t>
            </a:r>
            <a:r>
              <a:rPr lang="ru-RU" sz="1400" b="1" dirty="0" smtClean="0"/>
              <a:t>FESH.</a:t>
            </a:r>
            <a:endParaRPr lang="en-US" sz="1400" dirty="0"/>
          </a:p>
        </p:txBody>
      </p:sp>
      <p:cxnSp>
        <p:nvCxnSpPr>
          <p:cNvPr id="39" name="Straight Connector 7">
            <a:extLst>
              <a:ext uri="{FF2B5EF4-FFF2-40B4-BE49-F238E27FC236}">
                <a16:creationId xmlns:a16="http://schemas.microsoft.com/office/drawing/2014/main" id="{0E853930-ECCE-62B1-DBD4-7C8F79CF98A8}"/>
              </a:ext>
            </a:extLst>
          </p:cNvPr>
          <p:cNvCxnSpPr/>
          <p:nvPr/>
        </p:nvCxnSpPr>
        <p:spPr>
          <a:xfrm flipH="1">
            <a:off x="304800" y="838518"/>
            <a:ext cx="11484646" cy="0"/>
          </a:xfrm>
          <a:prstGeom prst="line">
            <a:avLst/>
          </a:prstGeom>
          <a:ln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7805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39199E-8B1C-CB78-B8E3-32113A33FB9A}"/>
              </a:ext>
            </a:extLst>
          </p:cNvPr>
          <p:cNvSpPr txBox="1"/>
          <p:nvPr/>
        </p:nvSpPr>
        <p:spPr>
          <a:xfrm>
            <a:off x="304800" y="306969"/>
            <a:ext cx="8180832" cy="547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3200" dirty="0"/>
              <a:t>Формирование портфеля</a:t>
            </a:r>
            <a:endParaRPr lang="ru-RU" sz="3200" dirty="0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55370"/>
              </p:ext>
            </p:extLst>
          </p:nvPr>
        </p:nvGraphicFramePr>
        <p:xfrm>
          <a:off x="304798" y="1465100"/>
          <a:ext cx="11274288" cy="4859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97828">
                  <a:extLst>
                    <a:ext uri="{9D8B030D-6E8A-4147-A177-3AD203B41FA5}">
                      <a16:colId xmlns:a16="http://schemas.microsoft.com/office/drawing/2014/main" val="1953205914"/>
                    </a:ext>
                  </a:extLst>
                </a:gridCol>
                <a:gridCol w="5476460">
                  <a:extLst>
                    <a:ext uri="{9D8B030D-6E8A-4147-A177-3AD203B41FA5}">
                      <a16:colId xmlns:a16="http://schemas.microsoft.com/office/drawing/2014/main" val="2740100179"/>
                    </a:ext>
                  </a:extLst>
                </a:gridCol>
              </a:tblGrid>
              <a:tr h="78286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Макроэкономический</a:t>
                      </a:r>
                      <a:r>
                        <a:rPr lang="ru-RU" sz="2400" baseline="0" dirty="0" smtClean="0"/>
                        <a:t> параметр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Источник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3497510"/>
                  </a:ext>
                </a:extLst>
              </a:tr>
              <a:tr h="782860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Котировки</a:t>
                      </a:r>
                      <a:r>
                        <a:rPr lang="ru-RU" sz="2000" baseline="0" dirty="0" smtClean="0"/>
                        <a:t> акций</a:t>
                      </a:r>
                    </a:p>
                    <a:p>
                      <a:r>
                        <a:rPr lang="ru-RU" sz="1800" baseline="0" dirty="0" smtClean="0"/>
                        <a:t>(рассматриваются цены закрытия для дневных котировок)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АО «Инвестиционный холдинг </a:t>
                      </a:r>
                      <a:r>
                        <a:rPr lang="ru-RU" sz="2000" dirty="0" err="1" smtClean="0"/>
                        <a:t>Финам</a:t>
                      </a:r>
                      <a:r>
                        <a:rPr lang="ru-RU" sz="2000" dirty="0" smtClean="0"/>
                        <a:t>»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800" kern="1200" dirty="0" smtClean="0"/>
                        <a:t>http://export.finam.ru/</a:t>
                      </a:r>
                      <a:endParaRPr lang="en-US" sz="18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0697108"/>
                  </a:ext>
                </a:extLst>
              </a:tr>
              <a:tr h="782860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Финансовая отчетно</a:t>
                      </a:r>
                      <a:r>
                        <a:rPr lang="ru-RU" sz="2000" baseline="0" dirty="0" smtClean="0"/>
                        <a:t>сть</a:t>
                      </a:r>
                    </a:p>
                    <a:p>
                      <a:r>
                        <a:rPr lang="ru-RU" sz="1800" baseline="0" dirty="0" smtClean="0"/>
                        <a:t>(Долг, активы, мультипликаторы и др.)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Smart-lab</a:t>
                      </a:r>
                      <a:endParaRPr lang="ru-RU" sz="2000" dirty="0" smtClean="0"/>
                    </a:p>
                    <a:p>
                      <a:pPr marL="0" algn="l" defTabSz="914400" rtl="0" eaLnBrk="1" latinLnBrk="0" hangingPunct="1"/>
                      <a:r>
                        <a:rPr lang="en-US" sz="1800" kern="1200" dirty="0" smtClean="0"/>
                        <a:t>https://smart-lab.ru/q/SBER/f/y/</a:t>
                      </a:r>
                      <a:endParaRPr lang="en-US" sz="18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2939037"/>
                  </a:ext>
                </a:extLst>
              </a:tr>
              <a:tr h="782860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Инфляция</a:t>
                      </a:r>
                      <a:r>
                        <a:rPr lang="ru-RU" sz="2000" baseline="0" dirty="0" smtClean="0"/>
                        <a:t> и ключевая ставка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Официальный</a:t>
                      </a:r>
                      <a:r>
                        <a:rPr lang="ru-RU" sz="2000" baseline="0" dirty="0" smtClean="0"/>
                        <a:t> сайт ЦБ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800" kern="1200" dirty="0" smtClean="0"/>
                        <a:t>https://www.cbr.ru/hd_base/infl/</a:t>
                      </a:r>
                      <a:endParaRPr lang="en-US" sz="18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309008"/>
                  </a:ext>
                </a:extLst>
              </a:tr>
              <a:tr h="78286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Безработица</a:t>
                      </a:r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Сайт Росстата</a:t>
                      </a:r>
                      <a:endParaRPr lang="en-US" sz="2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https://rosstat.gov.ru/labour_force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1668374"/>
                  </a:ext>
                </a:extLst>
              </a:tr>
              <a:tr h="78286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Валютная пара (</a:t>
                      </a:r>
                      <a:r>
                        <a:rPr lang="en-US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RUB/USD</a:t>
                      </a:r>
                      <a:r>
                        <a:rPr lang="ru-RU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smtClean="0"/>
                        <a:t>Официальный</a:t>
                      </a:r>
                      <a:r>
                        <a:rPr lang="ru-RU" sz="2000" baseline="0" dirty="0" smtClean="0"/>
                        <a:t> сайт ЦБ</a:t>
                      </a:r>
                      <a:endParaRPr lang="en-US" sz="2000" kern="1200" dirty="0" smtClean="0">
                        <a:solidFill>
                          <a:schemeClr val="bg1">
                            <a:lumMod val="6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https://cbr.ru/currency_base/dynamics/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8424608"/>
                  </a:ext>
                </a:extLst>
              </a:tr>
            </a:tbl>
          </a:graphicData>
        </a:graphic>
      </p:graphicFrame>
      <p:cxnSp>
        <p:nvCxnSpPr>
          <p:cNvPr id="6" name="Straight Connector 7">
            <a:extLst>
              <a:ext uri="{FF2B5EF4-FFF2-40B4-BE49-F238E27FC236}">
                <a16:creationId xmlns:a16="http://schemas.microsoft.com/office/drawing/2014/main" id="{0E853930-ECCE-62B1-DBD4-7C8F79CF98A8}"/>
              </a:ext>
            </a:extLst>
          </p:cNvPr>
          <p:cNvCxnSpPr/>
          <p:nvPr/>
        </p:nvCxnSpPr>
        <p:spPr>
          <a:xfrm flipH="1">
            <a:off x="304800" y="829877"/>
            <a:ext cx="11298936" cy="8641"/>
          </a:xfrm>
          <a:prstGeom prst="line">
            <a:avLst/>
          </a:prstGeom>
          <a:ln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8502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4800" y="243840"/>
            <a:ext cx="10515600" cy="594678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+mn-lt"/>
                <a:ea typeface="+mn-ea"/>
                <a:cs typeface="+mn-cs"/>
              </a:rPr>
              <a:t>Оптимизация портфеля: стратегия </a:t>
            </a:r>
            <a:r>
              <a:rPr lang="en-US" sz="3200" dirty="0">
                <a:latin typeface="+mn-lt"/>
                <a:ea typeface="+mn-ea"/>
                <a:cs typeface="+mn-cs"/>
              </a:rPr>
              <a:t>Mean-EL</a:t>
            </a:r>
          </a:p>
        </p:txBody>
      </p:sp>
      <p:pic>
        <p:nvPicPr>
          <p:cNvPr id="4" name="Рисунок 3" descr="\documentclass{article}&#10;\usepackage{amsmath}&#10;\pagestyle{empty}&#10;\begin{document}&#10;&#10;$$J(w) = \lambda \cdot \underbrace{\sqrt{w^T \Sigma_V w}}_{\text{market risk}} + (1 - \lambda) \cdot \underbrace{\sum_{i=1}^{N} w_i \cdot PD_{i,\text{forecast}} \cdot LGD_i}_{\text{ (EL)}} \to \min_w$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463" y="1029790"/>
            <a:ext cx="8350940" cy="1330960"/>
          </a:xfrm>
          <a:prstGeom prst="rect">
            <a:avLst/>
          </a:prstGeom>
        </p:spPr>
      </p:pic>
      <p:pic>
        <p:nvPicPr>
          <p:cNvPr id="5" name="Рисунок 4" descr="\documentclass{article}&#10;\usepackage{amsmath}&#10;\pagestyle{empty}&#10;\begin{document}&#10;&#10;$$\sum_{i=1}^{N} w_i = 1, \quad 0.02 \leq w_i \leq 0.25$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463" y="2435470"/>
            <a:ext cx="3316114" cy="73782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447040" y="3544966"/>
            <a:ext cx="709168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569CD6"/>
                </a:solidFill>
                <a:latin typeface="Consolas" panose="020B0609020204030204" pitchFamily="49" charset="0"/>
              </a:rPr>
              <a:t>**Рыночный риск ($\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lambda$):**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6796E6"/>
                </a:solidFill>
                <a:latin typeface="Consolas" panose="020B0609020204030204" pitchFamily="49" charset="0"/>
              </a:rPr>
              <a:t>-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$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\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Sigma_V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$ -- 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ковариационная матрица доходностей</a:t>
            </a:r>
          </a:p>
          <a:p>
            <a:r>
              <a:rPr lang="ru-RU" dirty="0">
                <a:solidFill>
                  <a:srgbClr val="6796E6"/>
                </a:solidFill>
                <a:latin typeface="Consolas" panose="020B0609020204030204" pitchFamily="49" charset="0"/>
              </a:rPr>
              <a:t>-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 При $</a:t>
            </a:r>
            <a:r>
              <a:rPr lang="ru-RU" dirty="0">
                <a:solidFill>
                  <a:srgbClr val="569CD6"/>
                </a:solidFill>
                <a:latin typeface="Consolas" panose="020B0609020204030204" pitchFamily="49" charset="0"/>
              </a:rPr>
              <a:t>\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lambda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\to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$: 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классическая минимизация волатильности (</a:t>
            </a:r>
            <a:r>
              <a:rPr lang="ru-RU" dirty="0" err="1">
                <a:solidFill>
                  <a:srgbClr val="CCCCCC"/>
                </a:solidFill>
                <a:latin typeface="Consolas" panose="020B0609020204030204" pitchFamily="49" charset="0"/>
              </a:rPr>
              <a:t>Марковиц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ru-RU" b="1" dirty="0">
                <a:solidFill>
                  <a:srgbClr val="569CD6"/>
                </a:solidFill>
                <a:latin typeface="Consolas" panose="020B0609020204030204" pitchFamily="49" charset="0"/>
              </a:rPr>
              <a:t>**Кредитный риск ($</a:t>
            </a:r>
            <a:r>
              <a:rPr lang="ru-RU" b="1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ru-RU" b="1" dirty="0">
                <a:solidFill>
                  <a:srgbClr val="D4D4D4"/>
                </a:solidFill>
                <a:latin typeface="Consolas" panose="020B0609020204030204" pitchFamily="49" charset="0"/>
              </a:rPr>
              <a:t> - </a:t>
            </a:r>
            <a:r>
              <a:rPr lang="ru-RU" b="1" dirty="0">
                <a:solidFill>
                  <a:srgbClr val="569CD6"/>
                </a:solidFill>
                <a:latin typeface="Consolas" panose="020B0609020204030204" pitchFamily="49" charset="0"/>
              </a:rPr>
              <a:t>\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lambda$):**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6796E6"/>
                </a:solidFill>
                <a:latin typeface="Consolas" panose="020B0609020204030204" pitchFamily="49" charset="0"/>
              </a:rPr>
              <a:t>-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$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PD_{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\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text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{forecast}}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$ -- 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прогноз вероятности дефолта из макромодели</a:t>
            </a:r>
          </a:p>
          <a:p>
            <a:r>
              <a:rPr lang="ru-RU" dirty="0">
                <a:solidFill>
                  <a:srgbClr val="6796E6"/>
                </a:solidFill>
                <a:latin typeface="Consolas" panose="020B0609020204030204" pitchFamily="49" charset="0"/>
              </a:rPr>
              <a:t>-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 $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LGD =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0.4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$ -- 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уровень потерь при дефолте</a:t>
            </a:r>
          </a:p>
          <a:p>
            <a:r>
              <a:rPr lang="ru-RU" dirty="0">
                <a:solidFill>
                  <a:srgbClr val="6796E6"/>
                </a:solidFill>
                <a:latin typeface="Consolas" panose="020B0609020204030204" pitchFamily="49" charset="0"/>
              </a:rPr>
              <a:t>-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 При $</a:t>
            </a:r>
            <a:r>
              <a:rPr lang="ru-RU" dirty="0">
                <a:solidFill>
                  <a:srgbClr val="569CD6"/>
                </a:solidFill>
                <a:latin typeface="Consolas" panose="020B0609020204030204" pitchFamily="49" charset="0"/>
              </a:rPr>
              <a:t>\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lambda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\to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$: 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минимизация только кредитных потерь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Connector 7">
            <a:extLst>
              <a:ext uri="{FF2B5EF4-FFF2-40B4-BE49-F238E27FC236}">
                <a16:creationId xmlns:a16="http://schemas.microsoft.com/office/drawing/2014/main" id="{0E853930-ECCE-62B1-DBD4-7C8F79CF98A8}"/>
              </a:ext>
            </a:extLst>
          </p:cNvPr>
          <p:cNvCxnSpPr/>
          <p:nvPr/>
        </p:nvCxnSpPr>
        <p:spPr>
          <a:xfrm flipH="1">
            <a:off x="304800" y="838518"/>
            <a:ext cx="11484646" cy="0"/>
          </a:xfrm>
          <a:prstGeom prst="line">
            <a:avLst/>
          </a:prstGeom>
          <a:ln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9" name="Прямоугольник 8"/>
          <p:cNvSpPr/>
          <p:nvPr/>
        </p:nvSpPr>
        <p:spPr>
          <a:xfrm>
            <a:off x="7071360" y="430069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>
                <a:solidFill>
                  <a:srgbClr val="569CD6"/>
                </a:solidFill>
                <a:latin typeface="Consolas" panose="020B0609020204030204" pitchFamily="49" charset="0"/>
              </a:rPr>
              <a:t>### Результат </a:t>
            </a:r>
            <a:r>
              <a:rPr lang="ru-RU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бэктеста</a:t>
            </a:r>
            <a:r>
              <a:rPr lang="ru-RU" b="1" dirty="0">
                <a:solidFill>
                  <a:srgbClr val="569CD6"/>
                </a:solidFill>
                <a:latin typeface="Consolas" panose="020B0609020204030204" pitchFamily="49" charset="0"/>
              </a:rPr>
              <a:t> (внизу справа, выделить цветом</a:t>
            </a:r>
            <a:r>
              <a:rPr lang="ru-RU" b="1" dirty="0" smtClean="0">
                <a:solidFill>
                  <a:srgbClr val="569CD6"/>
                </a:solidFill>
                <a:latin typeface="Consolas" panose="020B0609020204030204" pitchFamily="49" charset="0"/>
              </a:rPr>
              <a:t>)</a:t>
            </a:r>
            <a:endParaRPr lang="ru-RU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433965"/>
              </p:ext>
            </p:extLst>
          </p:nvPr>
        </p:nvGraphicFramePr>
        <p:xfrm>
          <a:off x="7752080" y="1310345"/>
          <a:ext cx="4734560" cy="229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7280">
                  <a:extLst>
                    <a:ext uri="{9D8B030D-6E8A-4147-A177-3AD203B41FA5}">
                      <a16:colId xmlns:a16="http://schemas.microsoft.com/office/drawing/2014/main" val="3267788331"/>
                    </a:ext>
                  </a:extLst>
                </a:gridCol>
                <a:gridCol w="2367280">
                  <a:extLst>
                    <a:ext uri="{9D8B030D-6E8A-4147-A177-3AD203B41FA5}">
                      <a16:colId xmlns:a16="http://schemas.microsoft.com/office/drawing/2014/main" val="31675063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solidFill>
                            <a:srgbClr val="CCCCCC"/>
                          </a:solidFill>
                          <a:latin typeface="Consolas" panose="020B0609020204030204" pitchFamily="49" charset="0"/>
                        </a:rPr>
                        <a:t>Параметр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solidFill>
                            <a:srgbClr val="CCCCCC"/>
                          </a:solidFill>
                          <a:latin typeface="Consolas" panose="020B0609020204030204" pitchFamily="49" charset="0"/>
                        </a:rPr>
                        <a:t>Значение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2506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| $\</a:t>
                      </a:r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lambda$ (</a:t>
                      </a:r>
                      <a:r>
                        <a:rPr lang="ru-RU" sz="14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риск-аппетит) 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0.5 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7944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solidFill>
                            <a:srgbClr val="CCCCCC"/>
                          </a:solidFill>
                          <a:latin typeface="Consolas" panose="020B0609020204030204" pitchFamily="49" charset="0"/>
                        </a:rPr>
                        <a:t>Метод решения 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rgbClr val="CCCCCC"/>
                          </a:solidFill>
                          <a:latin typeface="Consolas" panose="020B0609020204030204" pitchFamily="49" charset="0"/>
                        </a:rPr>
                        <a:t>SLSQP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0525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Порог </a:t>
                      </a:r>
                      <a:r>
                        <a:rPr lang="ru-RU" sz="1400" dirty="0" err="1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ребалансировки</a:t>
                      </a:r>
                      <a:r>
                        <a:rPr lang="ru-RU" sz="14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$\</a:t>
                      </a:r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delta$ 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5% 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0676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| </a:t>
                      </a:r>
                      <a:r>
                        <a:rPr lang="ru-RU" sz="14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Транзакционные издержки $</a:t>
                      </a:r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c$ 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 </a:t>
                      </a:r>
                      <a:r>
                        <a:rPr lang="ru-RU" sz="1400" dirty="0" err="1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б.п</a:t>
                      </a:r>
                      <a:r>
                        <a:rPr lang="ru-RU" sz="14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. на оборот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1615174"/>
                  </a:ext>
                </a:extLst>
              </a:tr>
            </a:tbl>
          </a:graphicData>
        </a:graphic>
      </p:graphicFrame>
      <p:sp>
        <p:nvSpPr>
          <p:cNvPr id="11" name="Прямоугольник 10"/>
          <p:cNvSpPr/>
          <p:nvPr/>
        </p:nvSpPr>
        <p:spPr>
          <a:xfrm>
            <a:off x="8306538" y="876628"/>
            <a:ext cx="30973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rgbClr val="569CD6"/>
                </a:solidFill>
                <a:latin typeface="Consolas" panose="020B0609020204030204" pitchFamily="49" charset="0"/>
              </a:rPr>
              <a:t>### Ключевые параметры 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987774"/>
              </p:ext>
            </p:extLst>
          </p:nvPr>
        </p:nvGraphicFramePr>
        <p:xfrm>
          <a:off x="7284721" y="5105400"/>
          <a:ext cx="5506719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5573">
                  <a:extLst>
                    <a:ext uri="{9D8B030D-6E8A-4147-A177-3AD203B41FA5}">
                      <a16:colId xmlns:a16="http://schemas.microsoft.com/office/drawing/2014/main" val="2450777569"/>
                    </a:ext>
                  </a:extLst>
                </a:gridCol>
                <a:gridCol w="1835573">
                  <a:extLst>
                    <a:ext uri="{9D8B030D-6E8A-4147-A177-3AD203B41FA5}">
                      <a16:colId xmlns:a16="http://schemas.microsoft.com/office/drawing/2014/main" val="4253303006"/>
                    </a:ext>
                  </a:extLst>
                </a:gridCol>
                <a:gridCol w="1835573">
                  <a:extLst>
                    <a:ext uri="{9D8B030D-6E8A-4147-A177-3AD203B41FA5}">
                      <a16:colId xmlns:a16="http://schemas.microsoft.com/office/drawing/2014/main" val="3073454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rgbClr val="CCCCCC"/>
                          </a:solidFill>
                          <a:latin typeface="Consolas" panose="020B0609020204030204" pitchFamily="49" charset="0"/>
                        </a:rPr>
                        <a:t>Метрика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CCCCCC"/>
                          </a:solidFill>
                          <a:latin typeface="Consolas" panose="020B0609020204030204" pitchFamily="49" charset="0"/>
                        </a:rPr>
                        <a:t>Mean-EL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CCCCCC"/>
                          </a:solidFill>
                          <a:latin typeface="Consolas" panose="020B0609020204030204" pitchFamily="49" charset="0"/>
                        </a:rPr>
                        <a:t>Passive (EW)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329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Доходность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rgbClr val="CCCCCC"/>
                          </a:solidFill>
                          <a:latin typeface="Consolas" panose="020B0609020204030204" pitchFamily="49" charset="0"/>
                        </a:rPr>
                        <a:t>-11.12%</a:t>
                      </a:r>
                      <a:r>
                        <a:rPr lang="en-US" dirty="0" smtClean="0">
                          <a:solidFill>
                            <a:srgbClr val="CCCCCC"/>
                          </a:solidFill>
                          <a:latin typeface="Consolas" panose="020B0609020204030204" pitchFamily="49" charset="0"/>
                        </a:rPr>
                        <a:t>0.031%</a:t>
                      </a:r>
                      <a:r>
                        <a:rPr lang="ru-RU" dirty="0" smtClean="0">
                          <a:solidFill>
                            <a:srgbClr val="CCCCCC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rgbClr val="CCCCCC"/>
                          </a:solidFill>
                          <a:latin typeface="Consolas" panose="020B0609020204030204" pitchFamily="49" charset="0"/>
                        </a:rPr>
                        <a:t>-13.47%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132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Avg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EL 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CCCCCC"/>
                          </a:solidFill>
                          <a:latin typeface="Consolas" panose="020B0609020204030204" pitchFamily="49" charset="0"/>
                        </a:rPr>
                        <a:t>0.026%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5653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err="1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Ребалансировки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36739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8967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Стратегии управления. </a:t>
            </a:r>
            <a:r>
              <a:rPr lang="en-US" dirty="0" err="1" smtClean="0"/>
              <a:t>CVaR</a:t>
            </a:r>
            <a:endParaRPr lang="en-US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200525" y="1903214"/>
            <a:ext cx="55034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rgbClr val="569CD6"/>
                </a:solidFill>
                <a:latin typeface="Consolas" panose="020B0609020204030204" pitchFamily="49" charset="0"/>
              </a:rPr>
              <a:t>### Определение (верхняя часть, компактно)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Рисунок 4" descr="\documentclass{article}&#10;\usepackage{amsmath}&#10;\pagestyle{empty}&#10;\begin{document}&#10;&#10;$$CVaR_\alpha(w) = E\bigl[L(w) \mid L(w) \geq VaR_\alpha(w)\bigr]$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840" y="2485072"/>
            <a:ext cx="4666514" cy="303543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619760" y="3086576"/>
            <a:ext cx="104851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Средние потери в $</a:t>
            </a:r>
            <a:r>
              <a:rPr lang="ru-RU" dirty="0">
                <a:solidFill>
                  <a:srgbClr val="569CD6"/>
                </a:solidFill>
                <a:latin typeface="Consolas" panose="020B0609020204030204" pitchFamily="49" charset="0"/>
              </a:rPr>
              <a:t>\</a:t>
            </a:r>
            <a:r>
              <a:rPr lang="ru-RU" dirty="0" err="1">
                <a:solidFill>
                  <a:srgbClr val="569CD6"/>
                </a:solidFill>
                <a:latin typeface="Consolas" panose="020B0609020204030204" pitchFamily="49" charset="0"/>
              </a:rPr>
              <a:t>alpha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$-хвосте распределения ($</a:t>
            </a:r>
            <a:r>
              <a:rPr lang="ru-RU" dirty="0">
                <a:solidFill>
                  <a:srgbClr val="569CD6"/>
                </a:solidFill>
                <a:latin typeface="Consolas" panose="020B0609020204030204" pitchFamily="49" charset="0"/>
              </a:rPr>
              <a:t>\</a:t>
            </a:r>
            <a:r>
              <a:rPr lang="ru-RU" dirty="0" err="1">
                <a:solidFill>
                  <a:srgbClr val="569CD6"/>
                </a:solidFill>
                <a:latin typeface="Consolas" panose="020B0609020204030204" pitchFamily="49" charset="0"/>
              </a:rPr>
              <a:t>alpha</a:t>
            </a:r>
            <a:r>
              <a:rPr lang="ru-RU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ru-RU" dirty="0">
                <a:solidFill>
                  <a:srgbClr val="B5CEA8"/>
                </a:solidFill>
                <a:latin typeface="Consolas" panose="020B0609020204030204" pitchFamily="49" charset="0"/>
              </a:rPr>
              <a:t>0.95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$).</a:t>
            </a:r>
          </a:p>
          <a:p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В отличие от </a:t>
            </a:r>
            <a:r>
              <a:rPr lang="ru-RU" dirty="0" err="1">
                <a:solidFill>
                  <a:srgbClr val="CCCCCC"/>
                </a:solidFill>
                <a:latin typeface="Consolas" panose="020B0609020204030204" pitchFamily="49" charset="0"/>
              </a:rPr>
              <a:t>Mean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-EL, фокус на </a:t>
            </a:r>
            <a:r>
              <a:rPr lang="ru-RU" b="1" dirty="0">
                <a:solidFill>
                  <a:srgbClr val="569CD6"/>
                </a:solidFill>
                <a:latin typeface="Consolas" panose="020B0609020204030204" pitchFamily="49" charset="0"/>
              </a:rPr>
              <a:t>**наихудших сценариях**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, а не на средних потерях.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518160" y="4305803"/>
            <a:ext cx="111556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569CD6"/>
                </a:solidFill>
                <a:latin typeface="Consolas" panose="020B0609020204030204" pitchFamily="49" charset="0"/>
              </a:rPr>
              <a:t>### Кредитная корректировка сценариев (мелким шрифтом, 1 строка + формула)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8" name="Рисунок 7" descr="\documentclass{article}&#10;\usepackage{amsmath}&#10;\pagestyle{empty}&#10;\begin{document}&#10;&#10;&#10;$$\tilde{r}_i^{(s)} = r_i^{(s)} - \frac{PD_i \cdot LGD}{252}$$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6755" y="4971032"/>
            <a:ext cx="2707200" cy="528457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076960" y="5760778"/>
            <a:ext cx="96215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Дневные доходности корректируются на ожидаемые кредитные потери.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0" name="Straight Connector 7">
            <a:extLst>
              <a:ext uri="{FF2B5EF4-FFF2-40B4-BE49-F238E27FC236}">
                <a16:creationId xmlns:a16="http://schemas.microsoft.com/office/drawing/2014/main" id="{0E853930-ECCE-62B1-DBD4-7C8F79CF98A8}"/>
              </a:ext>
            </a:extLst>
          </p:cNvPr>
          <p:cNvCxnSpPr/>
          <p:nvPr/>
        </p:nvCxnSpPr>
        <p:spPr>
          <a:xfrm flipH="1">
            <a:off x="304800" y="838518"/>
            <a:ext cx="11484646" cy="0"/>
          </a:xfrm>
          <a:prstGeom prst="line">
            <a:avLst/>
          </a:prstGeom>
          <a:ln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0677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91440" y="106156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569CD6"/>
                </a:solidFill>
                <a:latin typeface="Consolas" panose="020B0609020204030204" pitchFamily="49" charset="0"/>
              </a:rPr>
              <a:t>### Задача LP (центр слайда, в рамке -- ключевая формула)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Рисунок 4" descr="\documentclass{article}&#10;\usepackage{amsmath}&#10;\pagestyle{empty}&#10;\begin{document}&#10;&#10;$$\min_{w, \zeta, u} \quad \zeta + \frac{1}{(1-\alpha)\,S} \sum_{s=1}^{S} u_s$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411" y="673157"/>
            <a:ext cx="2965029" cy="737829"/>
          </a:xfrm>
          <a:prstGeom prst="rect">
            <a:avLst/>
          </a:prstGeom>
        </p:spPr>
      </p:pic>
      <p:pic>
        <p:nvPicPr>
          <p:cNvPr id="6" name="Рисунок 5" descr="\documentclass{article}&#10;\usepackage{amsmath}&#10;\pagestyle{empty}&#10;\begin{document}&#10;&#10;$$\text{for:} \quad u_s \geq -w^T \tilde{r}^{(s)} - \zeta, \quad u_s \geq 0, \quad \sum_i w_i = 1, \quad 0.02 \leq w_i \leq 0.25$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993829"/>
            <a:ext cx="7355429" cy="540343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91440" y="2871355"/>
            <a:ext cx="81305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6A9955"/>
                </a:solidFill>
                <a:latin typeface="Consolas" panose="020B0609020204030204" pitchFamily="49" charset="0"/>
              </a:rPr>
              <a:t>&gt;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 Линейное программирование по </a:t>
            </a:r>
            <a:r>
              <a:rPr lang="ru-RU" dirty="0" err="1">
                <a:solidFill>
                  <a:srgbClr val="CCCCCC"/>
                </a:solidFill>
                <a:latin typeface="Consolas" panose="020B0609020204030204" pitchFamily="49" charset="0"/>
              </a:rPr>
              <a:t>Рокафеллару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--</a:t>
            </a:r>
            <a:r>
              <a:rPr lang="ru-RU" dirty="0" err="1">
                <a:solidFill>
                  <a:srgbClr val="CCCCCC"/>
                </a:solidFill>
                <a:latin typeface="Consolas" panose="020B0609020204030204" pitchFamily="49" charset="0"/>
              </a:rPr>
              <a:t>Урясьеву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 (метод </a:t>
            </a:r>
            <a:r>
              <a:rPr lang="ru-RU" dirty="0" err="1">
                <a:solidFill>
                  <a:srgbClr val="CCCCCC"/>
                </a:solidFill>
                <a:latin typeface="Consolas" panose="020B0609020204030204" pitchFamily="49" charset="0"/>
              </a:rPr>
              <a:t>HiGHS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, $</a:t>
            </a:r>
            <a:r>
              <a:rPr lang="ru-RU" dirty="0">
                <a:solidFill>
                  <a:srgbClr val="D4D4D4"/>
                </a:solidFill>
                <a:latin typeface="Consolas" panose="020B0609020204030204" pitchFamily="49" charset="0"/>
              </a:rPr>
              <a:t>N + </a:t>
            </a:r>
            <a:r>
              <a:rPr lang="ru-RU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ru-RU" dirty="0">
                <a:solidFill>
                  <a:srgbClr val="D4D4D4"/>
                </a:solidFill>
                <a:latin typeface="Consolas" panose="020B0609020204030204" pitchFamily="49" charset="0"/>
              </a:rPr>
              <a:t> + S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$ переменных)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231990" y="3951947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>
                <a:solidFill>
                  <a:srgbClr val="569CD6"/>
                </a:solidFill>
                <a:latin typeface="Consolas" panose="020B0609020204030204" pitchFamily="49" charset="0"/>
              </a:rPr>
              <a:t>### Свойства </a:t>
            </a:r>
            <a:r>
              <a:rPr lang="ru-RU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CVaR</a:t>
            </a:r>
            <a:r>
              <a:rPr lang="ru-RU" b="1" dirty="0">
                <a:solidFill>
                  <a:srgbClr val="569CD6"/>
                </a:solidFill>
                <a:latin typeface="Consolas" panose="020B0609020204030204" pitchFamily="49" charset="0"/>
              </a:rPr>
              <a:t> (</a:t>
            </a:r>
            <a:r>
              <a:rPr lang="ru-RU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буллеты</a:t>
            </a:r>
            <a:r>
              <a:rPr lang="ru-RU" b="1" dirty="0">
                <a:solidFill>
                  <a:srgbClr val="569CD6"/>
                </a:solidFill>
                <a:latin typeface="Consolas" panose="020B0609020204030204" pitchFamily="49" charset="0"/>
              </a:rPr>
              <a:t>, мелко, внизу слева)</a:t>
            </a:r>
            <a:endParaRPr lang="ru-RU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ru-RU" dirty="0">
                <a:solidFill>
                  <a:srgbClr val="6796E6"/>
                </a:solidFill>
                <a:latin typeface="Consolas" panose="020B0609020204030204" pitchFamily="49" charset="0"/>
              </a:rPr>
              <a:t>-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 Когерентная мера риска (</a:t>
            </a:r>
            <a:r>
              <a:rPr lang="ru-RU" dirty="0" err="1">
                <a:solidFill>
                  <a:srgbClr val="CCCCCC"/>
                </a:solidFill>
                <a:latin typeface="Consolas" panose="020B0609020204030204" pitchFamily="49" charset="0"/>
              </a:rPr>
              <a:t>субаддитивность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 =&gt; поощряет диверсификацию)</a:t>
            </a:r>
          </a:p>
          <a:p>
            <a:r>
              <a:rPr lang="ru-RU" dirty="0">
                <a:solidFill>
                  <a:srgbClr val="6796E6"/>
                </a:solidFill>
                <a:latin typeface="Consolas" panose="020B0609020204030204" pitchFamily="49" charset="0"/>
              </a:rPr>
              <a:t>-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 В отличие от </a:t>
            </a:r>
            <a:r>
              <a:rPr lang="ru-RU" dirty="0" err="1">
                <a:solidFill>
                  <a:srgbClr val="CCCCCC"/>
                </a:solidFill>
                <a:latin typeface="Consolas" panose="020B0609020204030204" pitchFamily="49" charset="0"/>
              </a:rPr>
              <a:t>VaR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 -- выпуклая и поддающаяся оптимизации</a:t>
            </a:r>
          </a:p>
          <a:p>
            <a:r>
              <a:rPr lang="ru-RU" dirty="0">
                <a:solidFill>
                  <a:srgbClr val="6796E6"/>
                </a:solidFill>
                <a:latin typeface="Consolas" panose="020B0609020204030204" pitchFamily="49" charset="0"/>
              </a:rPr>
              <a:t>-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 $</a:t>
            </a:r>
            <a:r>
              <a:rPr lang="ru-RU" dirty="0">
                <a:solidFill>
                  <a:srgbClr val="D4D4D4"/>
                </a:solidFill>
                <a:latin typeface="Consolas" panose="020B0609020204030204" pitchFamily="49" charset="0"/>
              </a:rPr>
              <a:t>S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$ сценариев = исторические дневные доходности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7853680" y="297936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>
                <a:solidFill>
                  <a:srgbClr val="569CD6"/>
                </a:solidFill>
                <a:latin typeface="Consolas" panose="020B0609020204030204" pitchFamily="49" charset="0"/>
              </a:rPr>
              <a:t>### Результат </a:t>
            </a:r>
            <a:r>
              <a:rPr lang="ru-RU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бэктеста</a:t>
            </a:r>
            <a:r>
              <a:rPr lang="ru-RU" b="1" dirty="0">
                <a:solidFill>
                  <a:srgbClr val="569CD6"/>
                </a:solidFill>
                <a:latin typeface="Consolas" panose="020B0609020204030204" pitchFamily="49" charset="0"/>
              </a:rPr>
              <a:t> (внизу справа, компактная таблица</a:t>
            </a:r>
            <a:r>
              <a:rPr lang="ru-RU" b="1" dirty="0" smtClean="0">
                <a:solidFill>
                  <a:srgbClr val="569CD6"/>
                </a:solidFill>
                <a:latin typeface="Consolas" panose="020B0609020204030204" pitchFamily="49" charset="0"/>
              </a:rPr>
              <a:t>)</a:t>
            </a:r>
            <a:endParaRPr lang="ru-RU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042347"/>
              </p:ext>
            </p:extLst>
          </p:nvPr>
        </p:nvGraphicFramePr>
        <p:xfrm>
          <a:off x="6492240" y="3733699"/>
          <a:ext cx="5770880" cy="26619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442720">
                  <a:extLst>
                    <a:ext uri="{9D8B030D-6E8A-4147-A177-3AD203B41FA5}">
                      <a16:colId xmlns:a16="http://schemas.microsoft.com/office/drawing/2014/main" val="3129867609"/>
                    </a:ext>
                  </a:extLst>
                </a:gridCol>
                <a:gridCol w="1442720">
                  <a:extLst>
                    <a:ext uri="{9D8B030D-6E8A-4147-A177-3AD203B41FA5}">
                      <a16:colId xmlns:a16="http://schemas.microsoft.com/office/drawing/2014/main" val="531043030"/>
                    </a:ext>
                  </a:extLst>
                </a:gridCol>
                <a:gridCol w="1442720">
                  <a:extLst>
                    <a:ext uri="{9D8B030D-6E8A-4147-A177-3AD203B41FA5}">
                      <a16:colId xmlns:a16="http://schemas.microsoft.com/office/drawing/2014/main" val="1318850262"/>
                    </a:ext>
                  </a:extLst>
                </a:gridCol>
                <a:gridCol w="1442720">
                  <a:extLst>
                    <a:ext uri="{9D8B030D-6E8A-4147-A177-3AD203B41FA5}">
                      <a16:colId xmlns:a16="http://schemas.microsoft.com/office/drawing/2014/main" val="20980348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Метрика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CVaR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Mean-EL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Passive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6917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Доходность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rgbClr val="CCCCCC"/>
                          </a:solidFill>
                          <a:latin typeface="Consolas" panose="020B0609020204030204" pitchFamily="49" charset="0"/>
                        </a:rPr>
                        <a:t>-10.81%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-11.12%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13.47%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205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Avg</a:t>
                      </a:r>
                      <a:r>
                        <a:rPr lang="en-US" dirty="0" smtClean="0"/>
                        <a:t> EL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CCCCCC"/>
                          </a:solidFill>
                          <a:latin typeface="Consolas" panose="020B0609020204030204" pitchFamily="49" charset="0"/>
                        </a:rPr>
                        <a:t>0.027%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0.031%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0.026%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972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Волатильность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rgbClr val="CCCCCC"/>
                          </a:solidFill>
                          <a:latin typeface="Consolas" panose="020B0609020204030204" pitchFamily="49" charset="0"/>
                        </a:rPr>
                        <a:t>| </a:t>
                      </a:r>
                      <a:r>
                        <a:rPr lang="ru-RU" b="1" dirty="0" smtClean="0">
                          <a:solidFill>
                            <a:srgbClr val="569CD6"/>
                          </a:solidFill>
                          <a:latin typeface="Consolas" panose="020B0609020204030204" pitchFamily="49" charset="0"/>
                        </a:rPr>
                        <a:t>**28.81%**</a:t>
                      </a:r>
                      <a:r>
                        <a:rPr lang="ru-RU" dirty="0" smtClean="0">
                          <a:solidFill>
                            <a:srgbClr val="CCCCCC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28.89%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29.19%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328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err="1" smtClean="0"/>
                        <a:t>Ребалансировки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0572336"/>
                  </a:ext>
                </a:extLst>
              </a:tr>
            </a:tbl>
          </a:graphicData>
        </a:graphic>
      </p:graphicFrame>
      <p:cxnSp>
        <p:nvCxnSpPr>
          <p:cNvPr id="11" name="Straight Connector 7">
            <a:extLst>
              <a:ext uri="{FF2B5EF4-FFF2-40B4-BE49-F238E27FC236}">
                <a16:creationId xmlns:a16="http://schemas.microsoft.com/office/drawing/2014/main" id="{0E853930-ECCE-62B1-DBD4-7C8F79CF98A8}"/>
              </a:ext>
            </a:extLst>
          </p:cNvPr>
          <p:cNvCxnSpPr/>
          <p:nvPr/>
        </p:nvCxnSpPr>
        <p:spPr>
          <a:xfrm flipH="1">
            <a:off x="304800" y="838518"/>
            <a:ext cx="11484646" cy="0"/>
          </a:xfrm>
          <a:prstGeom prst="line">
            <a:avLst/>
          </a:prstGeom>
          <a:ln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7095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4800" y="-107034"/>
            <a:ext cx="11049000" cy="1099727"/>
          </a:xfrm>
        </p:spPr>
        <p:txBody>
          <a:bodyPr>
            <a:normAutofit/>
          </a:bodyPr>
          <a:lstStyle/>
          <a:p>
            <a:r>
              <a:rPr lang="ru-RU" sz="3200" dirty="0" err="1" smtClean="0">
                <a:latin typeface="+mn-lt"/>
                <a:ea typeface="+mn-ea"/>
                <a:cs typeface="+mn-cs"/>
              </a:rPr>
              <a:t>Risk</a:t>
            </a:r>
            <a:r>
              <a:rPr lang="ru-RU" sz="3200" dirty="0" smtClean="0">
                <a:latin typeface="+mn-lt"/>
                <a:ea typeface="+mn-ea"/>
                <a:cs typeface="+mn-cs"/>
              </a:rPr>
              <a:t> </a:t>
            </a:r>
            <a:r>
              <a:rPr lang="ru-RU" sz="3200" dirty="0" err="1">
                <a:latin typeface="+mn-lt"/>
                <a:ea typeface="+mn-ea"/>
                <a:cs typeface="+mn-cs"/>
              </a:rPr>
              <a:t>Parity</a:t>
            </a:r>
            <a:r>
              <a:rPr lang="ru-RU" sz="3200" dirty="0">
                <a:latin typeface="+mn-lt"/>
                <a:ea typeface="+mn-ea"/>
                <a:cs typeface="+mn-cs"/>
              </a:rPr>
              <a:t>: равный вклад в кредитно-рыночный риск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426718" y="1268820"/>
            <a:ext cx="767080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Каждый актив вносит </a:t>
            </a:r>
            <a:r>
              <a:rPr lang="ru-RU" b="1" dirty="0">
                <a:solidFill>
                  <a:srgbClr val="569CD6"/>
                </a:solidFill>
                <a:latin typeface="Consolas" panose="020B0609020204030204" pitchFamily="49" charset="0"/>
              </a:rPr>
              <a:t>**одинаковый вклад**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 в совокупный риск портфеля (рыночный + кредитный).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Рисунок 4" descr="\documentclass{article}&#10;\usepackage{amsmath}&#10;\pagestyle{empty}&#10;&#10;\begin{document}&#10;&#10;&#10;$$CRC_i(w) = \underbrace{w_i \cdot \frac{(\Sigma\, w)_i}{\sigma(w)}}_{{\text{market term}}} + \underbrace{w_i \cdot PD_i \cdot LGD}_{{\text{credit term}}}$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126" y="2139949"/>
            <a:ext cx="4570514" cy="94720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426718" y="3367015"/>
            <a:ext cx="69392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6A9955"/>
                </a:solidFill>
                <a:latin typeface="Consolas" panose="020B0609020204030204" pitchFamily="49" charset="0"/>
              </a:rPr>
              <a:t>&gt;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 Расширение классического ERC (</a:t>
            </a:r>
            <a:r>
              <a:rPr lang="ru-RU" dirty="0" err="1">
                <a:solidFill>
                  <a:srgbClr val="CCCCCC"/>
                </a:solidFill>
                <a:latin typeface="Consolas" panose="020B0609020204030204" pitchFamily="49" charset="0"/>
              </a:rPr>
              <a:t>Maillard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ru-RU" dirty="0" err="1">
                <a:solidFill>
                  <a:srgbClr val="CCCCCC"/>
                </a:solidFill>
                <a:latin typeface="Consolas" panose="020B0609020204030204" pitchFamily="49" charset="0"/>
              </a:rPr>
              <a:t>et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ru-RU" dirty="0" err="1">
                <a:solidFill>
                  <a:srgbClr val="CCCCCC"/>
                </a:solidFill>
                <a:latin typeface="Consolas" panose="020B0609020204030204" pitchFamily="49" charset="0"/>
              </a:rPr>
              <a:t>al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., 2010) кредитным компонентом -- </a:t>
            </a:r>
            <a:r>
              <a:rPr lang="ru-RU" b="1" dirty="0">
                <a:solidFill>
                  <a:srgbClr val="569CD6"/>
                </a:solidFill>
                <a:latin typeface="Consolas" panose="020B0609020204030204" pitchFamily="49" charset="0"/>
              </a:rPr>
              <a:t>**новизна работы**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Рисунок 6" descr="\documentclass{article}&#10;\usepackage{amsmath}&#10;\pagestyle{empty}&#10;\begin{document}&#10;&#10;$$\min_w \sum_{i &lt; j} \bigl( CRC_i(w) - CRC_j(w) \bigr)^2$$&#10;&#10;$$\text{for:} \quad \sum_{i=1}^{N} w_i = 1, \quad 0.02 \leq w_i \leq 0.25$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0271" y="4128408"/>
            <a:ext cx="3989029" cy="1594514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756205" y="6064913"/>
            <a:ext cx="56300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6A9955"/>
                </a:solidFill>
                <a:latin typeface="Consolas" panose="020B0609020204030204" pitchFamily="49" charset="0"/>
              </a:rPr>
              <a:t>&gt;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 Нелинейное программирование, метод 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SLSQP.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9" name="Straight Connector 7">
            <a:extLst>
              <a:ext uri="{FF2B5EF4-FFF2-40B4-BE49-F238E27FC236}">
                <a16:creationId xmlns:a16="http://schemas.microsoft.com/office/drawing/2014/main" id="{0E853930-ECCE-62B1-DBD4-7C8F79CF98A8}"/>
              </a:ext>
            </a:extLst>
          </p:cNvPr>
          <p:cNvCxnSpPr/>
          <p:nvPr/>
        </p:nvCxnSpPr>
        <p:spPr>
          <a:xfrm flipH="1">
            <a:off x="304800" y="838518"/>
            <a:ext cx="11484646" cy="0"/>
          </a:xfrm>
          <a:prstGeom prst="line">
            <a:avLst/>
          </a:prstGeom>
          <a:ln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7924800" y="1108069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>
                <a:solidFill>
                  <a:srgbClr val="569CD6"/>
                </a:solidFill>
                <a:latin typeface="Consolas" panose="020B0609020204030204" pitchFamily="49" charset="0"/>
              </a:rPr>
              <a:t>### Свойства (3 </a:t>
            </a:r>
            <a:r>
              <a:rPr lang="ru-RU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буллета</a:t>
            </a:r>
            <a:r>
              <a:rPr lang="ru-RU" b="1" dirty="0">
                <a:solidFill>
                  <a:srgbClr val="569CD6"/>
                </a:solidFill>
                <a:latin typeface="Consolas" panose="020B0609020204030204" pitchFamily="49" charset="0"/>
              </a:rPr>
              <a:t>, мелко, слева)</a:t>
            </a:r>
            <a:endParaRPr lang="ru-RU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ru-RU" dirty="0">
                <a:solidFill>
                  <a:srgbClr val="6796E6"/>
                </a:solidFill>
                <a:latin typeface="Consolas" panose="020B0609020204030204" pitchFamily="49" charset="0"/>
              </a:rPr>
              <a:t>-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 При $</a:t>
            </a:r>
            <a:r>
              <a:rPr lang="ru-RU" dirty="0">
                <a:solidFill>
                  <a:srgbClr val="569CD6"/>
                </a:solidFill>
                <a:latin typeface="Consolas" panose="020B0609020204030204" pitchFamily="49" charset="0"/>
              </a:rPr>
              <a:t>\</a:t>
            </a:r>
            <a:r>
              <a:rPr lang="ru-RU" dirty="0" err="1">
                <a:solidFill>
                  <a:srgbClr val="569CD6"/>
                </a:solidFill>
                <a:latin typeface="Consolas" panose="020B0609020204030204" pitchFamily="49" charset="0"/>
              </a:rPr>
              <a:t>Sigma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$ диагональной: $</a:t>
            </a:r>
            <a:r>
              <a:rPr lang="ru-RU" dirty="0" err="1">
                <a:solidFill>
                  <a:srgbClr val="D4D4D4"/>
                </a:solidFill>
                <a:latin typeface="Consolas" panose="020B0609020204030204" pitchFamily="49" charset="0"/>
              </a:rPr>
              <a:t>w_i</a:t>
            </a:r>
            <a:r>
              <a:rPr lang="ru-RU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569CD6"/>
                </a:solidFill>
                <a:latin typeface="Consolas" panose="020B0609020204030204" pitchFamily="49" charset="0"/>
              </a:rPr>
              <a:t>\</a:t>
            </a:r>
            <a:r>
              <a:rPr lang="ru-RU" dirty="0" err="1">
                <a:solidFill>
                  <a:srgbClr val="569CD6"/>
                </a:solidFill>
                <a:latin typeface="Consolas" panose="020B0609020204030204" pitchFamily="49" charset="0"/>
              </a:rPr>
              <a:t>propto</a:t>
            </a:r>
            <a:r>
              <a:rPr lang="ru-RU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ru-RU" dirty="0">
                <a:solidFill>
                  <a:srgbClr val="D4D4D4"/>
                </a:solidFill>
                <a:latin typeface="Consolas" panose="020B0609020204030204" pitchFamily="49" charset="0"/>
              </a:rPr>
              <a:t> / </a:t>
            </a:r>
            <a:r>
              <a:rPr lang="ru-RU" dirty="0">
                <a:solidFill>
                  <a:srgbClr val="569CD6"/>
                </a:solidFill>
                <a:latin typeface="Consolas" panose="020B0609020204030204" pitchFamily="49" charset="0"/>
              </a:rPr>
              <a:t>\</a:t>
            </a:r>
            <a:r>
              <a:rPr lang="ru-RU" dirty="0" err="1">
                <a:solidFill>
                  <a:srgbClr val="569CD6"/>
                </a:solidFill>
                <a:latin typeface="Consolas" panose="020B0609020204030204" pitchFamily="49" charset="0"/>
              </a:rPr>
              <a:t>sigma_i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$ (менее </a:t>
            </a:r>
            <a:r>
              <a:rPr lang="ru-RU" dirty="0" err="1">
                <a:solidFill>
                  <a:srgbClr val="CCCCCC"/>
                </a:solidFill>
                <a:latin typeface="Consolas" panose="020B0609020204030204" pitchFamily="49" charset="0"/>
              </a:rPr>
              <a:t>волатильные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 активы -&gt; больший вес)</a:t>
            </a:r>
          </a:p>
          <a:p>
            <a:r>
              <a:rPr lang="ru-RU" dirty="0">
                <a:solidFill>
                  <a:srgbClr val="6796E6"/>
                </a:solidFill>
                <a:latin typeface="Consolas" panose="020B0609020204030204" pitchFamily="49" charset="0"/>
              </a:rPr>
              <a:t>-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 Кредитный компонент автоматически снижает долю активов с высокой $</a:t>
            </a:r>
            <a:r>
              <a:rPr lang="ru-RU" dirty="0">
                <a:solidFill>
                  <a:srgbClr val="D4D4D4"/>
                </a:solidFill>
                <a:latin typeface="Consolas" panose="020B0609020204030204" pitchFamily="49" charset="0"/>
              </a:rPr>
              <a:t>PD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$</a:t>
            </a:r>
          </a:p>
          <a:p>
            <a:r>
              <a:rPr lang="ru-RU" dirty="0">
                <a:solidFill>
                  <a:srgbClr val="6796E6"/>
                </a:solidFill>
                <a:latin typeface="Consolas" panose="020B0609020204030204" pitchFamily="49" charset="0"/>
              </a:rPr>
              <a:t>-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 Ни один актив не доминирует по вкладу в совокупный риск =&gt; </a:t>
            </a:r>
            <a:r>
              <a:rPr lang="ru-RU" b="1" dirty="0">
                <a:solidFill>
                  <a:srgbClr val="569CD6"/>
                </a:solidFill>
                <a:latin typeface="Consolas" panose="020B0609020204030204" pitchFamily="49" charset="0"/>
              </a:rPr>
              <a:t>**устойчивая диверсификация**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7640320" y="4100469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>
                <a:solidFill>
                  <a:srgbClr val="569CD6"/>
                </a:solidFill>
                <a:latin typeface="Consolas" panose="020B0609020204030204" pitchFamily="49" charset="0"/>
              </a:rPr>
              <a:t>### Результат </a:t>
            </a:r>
            <a:r>
              <a:rPr lang="ru-RU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бэктеста</a:t>
            </a:r>
            <a:r>
              <a:rPr lang="ru-RU" b="1" dirty="0">
                <a:solidFill>
                  <a:srgbClr val="569CD6"/>
                </a:solidFill>
                <a:latin typeface="Consolas" panose="020B0609020204030204" pitchFamily="49" charset="0"/>
              </a:rPr>
              <a:t> (справа внизу, компактная таблица)</a:t>
            </a:r>
            <a:endParaRPr lang="ru-RU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| Метрика | 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Risk Parity | 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CVaR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| Mean-EL | Passive |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|:---|:---:|:---:|:---:|:---:|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| 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Доходность | </a:t>
            </a:r>
            <a:r>
              <a:rPr lang="ru-RU" b="1" dirty="0">
                <a:solidFill>
                  <a:srgbClr val="569CD6"/>
                </a:solidFill>
                <a:latin typeface="Consolas" panose="020B0609020204030204" pitchFamily="49" charset="0"/>
              </a:rPr>
              <a:t>**-10.66%**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 | -10.81% | -11.12% | -13.47% |</a:t>
            </a:r>
          </a:p>
          <a:p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| 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Avg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EL | 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**0.024%**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| 0.027% | 0.031% | 0.026% |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| </a:t>
            </a:r>
            <a:r>
              <a:rPr lang="ru-RU" dirty="0" err="1">
                <a:solidFill>
                  <a:srgbClr val="CCCCCC"/>
                </a:solidFill>
                <a:latin typeface="Consolas" panose="020B0609020204030204" pitchFamily="49" charset="0"/>
              </a:rPr>
              <a:t>Ребалансировки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 | </a:t>
            </a:r>
            <a:r>
              <a:rPr lang="ru-RU" b="1" dirty="0">
                <a:solidFill>
                  <a:srgbClr val="569CD6"/>
                </a:solidFill>
                <a:latin typeface="Consolas" panose="020B0609020204030204" pitchFamily="49" charset="0"/>
              </a:rPr>
              <a:t>**1**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 | 3 | 3 | 0 |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33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868680" y="1198880"/>
            <a:ext cx="10972800" cy="7294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ru-RU" b="1" dirty="0">
                <a:solidFill>
                  <a:srgbClr val="569CD6"/>
                </a:solidFill>
                <a:latin typeface="Consolas" panose="020B0609020204030204" pitchFamily="49" charset="0"/>
              </a:rPr>
              <a:t>### Сводная таблица (центр слайда)</a:t>
            </a:r>
            <a:endParaRPr lang="ru-RU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| Метрика | 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Risk Parity | 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CVaR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| Mean-EL | Passive (EW) |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|:---|:---:|:---:|:---:|:---:|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| 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Доходность | </a:t>
            </a:r>
            <a:r>
              <a:rPr lang="ru-RU" b="1" dirty="0">
                <a:solidFill>
                  <a:srgbClr val="569CD6"/>
                </a:solidFill>
                <a:latin typeface="Consolas" panose="020B0609020204030204" pitchFamily="49" charset="0"/>
              </a:rPr>
              <a:t>**-10.66%**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 | -10.81% | -11.12% | -13.47% |</a:t>
            </a:r>
          </a:p>
          <a:p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| 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Avg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EL | 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**0.024%**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| 0.027% | 0.031% | 0.026% |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| 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Волатильность | 29.33% | </a:t>
            </a:r>
            <a:r>
              <a:rPr lang="ru-RU" b="1" dirty="0">
                <a:solidFill>
                  <a:srgbClr val="569CD6"/>
                </a:solidFill>
                <a:latin typeface="Consolas" panose="020B0609020204030204" pitchFamily="49" charset="0"/>
              </a:rPr>
              <a:t>**28.81%**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 | 28.89% | 29.19% |</a:t>
            </a:r>
          </a:p>
          <a:p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| </a:t>
            </a:r>
            <a:r>
              <a:rPr lang="ru-RU" dirty="0" err="1">
                <a:solidFill>
                  <a:srgbClr val="CCCCCC"/>
                </a:solidFill>
                <a:latin typeface="Consolas" panose="020B0609020204030204" pitchFamily="49" charset="0"/>
              </a:rPr>
              <a:t>Транзакц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. издержки | </a:t>
            </a:r>
            <a:r>
              <a:rPr lang="ru-RU" b="1" dirty="0">
                <a:solidFill>
                  <a:srgbClr val="569CD6"/>
                </a:solidFill>
                <a:latin typeface="Consolas" panose="020B0609020204030204" pitchFamily="49" charset="0"/>
              </a:rPr>
              <a:t>**0.10%**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 | 0.14% | 0.14% | 0.00% |</a:t>
            </a:r>
          </a:p>
          <a:p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| </a:t>
            </a:r>
            <a:r>
              <a:rPr lang="ru-RU" dirty="0" err="1">
                <a:solidFill>
                  <a:srgbClr val="CCCCCC"/>
                </a:solidFill>
                <a:latin typeface="Consolas" panose="020B0609020204030204" pitchFamily="49" charset="0"/>
              </a:rPr>
              <a:t>Ребалансировки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 | </a:t>
            </a:r>
            <a:r>
              <a:rPr lang="ru-RU" b="1" dirty="0">
                <a:solidFill>
                  <a:srgbClr val="569CD6"/>
                </a:solidFill>
                <a:latin typeface="Consolas" panose="020B0609020204030204" pitchFamily="49" charset="0"/>
              </a:rPr>
              <a:t>**1**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 | 3 | 3 | 0 |</a:t>
            </a:r>
          </a:p>
          <a:p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| 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Avg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Turnover | 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**8.33%**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| 11.39% | 11.74% | 0.00% |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---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### </a:t>
            </a:r>
            <a:r>
              <a:rPr lang="ru-RU" b="1" dirty="0">
                <a:solidFill>
                  <a:srgbClr val="569CD6"/>
                </a:solidFill>
                <a:latin typeface="Consolas" panose="020B0609020204030204" pitchFamily="49" charset="0"/>
              </a:rPr>
              <a:t>Ключевые выводы (внизу, 3--4 </a:t>
            </a:r>
            <a:r>
              <a:rPr lang="ru-RU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буллета</a:t>
            </a:r>
            <a:r>
              <a:rPr lang="ru-RU" b="1" dirty="0">
                <a:solidFill>
                  <a:srgbClr val="569CD6"/>
                </a:solidFill>
                <a:latin typeface="Consolas" panose="020B0609020204030204" pitchFamily="49" charset="0"/>
              </a:rPr>
              <a:t>)</a:t>
            </a:r>
            <a:endParaRPr lang="ru-RU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ru-RU" dirty="0">
                <a:solidFill>
                  <a:srgbClr val="6796E6"/>
                </a:solidFill>
                <a:latin typeface="Consolas" panose="020B0609020204030204" pitchFamily="49" charset="0"/>
              </a:rPr>
              <a:t>-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ru-RU" b="1" dirty="0">
                <a:solidFill>
                  <a:srgbClr val="569CD6"/>
                </a:solidFill>
                <a:latin typeface="Consolas" panose="020B0609020204030204" pitchFamily="49" charset="0"/>
              </a:rPr>
              <a:t>**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Risk Parity -- </a:t>
            </a:r>
            <a:r>
              <a:rPr lang="ru-RU" b="1" dirty="0">
                <a:solidFill>
                  <a:srgbClr val="569CD6"/>
                </a:solidFill>
                <a:latin typeface="Consolas" panose="020B0609020204030204" pitchFamily="49" charset="0"/>
              </a:rPr>
              <a:t>лучшая стратегия:**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 максимальная доходность (-10.66%), минимальный 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EL (0.024%), 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наименьшие издержки (1 </a:t>
            </a:r>
            <a:r>
              <a:rPr lang="ru-RU" dirty="0" err="1">
                <a:solidFill>
                  <a:srgbClr val="CCCCCC"/>
                </a:solidFill>
                <a:latin typeface="Consolas" panose="020B0609020204030204" pitchFamily="49" charset="0"/>
              </a:rPr>
              <a:t>ребалансировка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dirty="0">
                <a:solidFill>
                  <a:srgbClr val="6796E6"/>
                </a:solidFill>
                <a:latin typeface="Consolas" panose="020B0609020204030204" pitchFamily="49" charset="0"/>
              </a:rPr>
              <a:t>-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ru-RU" b="1" dirty="0">
                <a:solidFill>
                  <a:srgbClr val="569CD6"/>
                </a:solidFill>
                <a:latin typeface="Consolas" panose="020B0609020204030204" pitchFamily="49" charset="0"/>
              </a:rPr>
              <a:t>**Все активные стратегии превосходят пассивную**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 на +2.35 ... +2.81 </a:t>
            </a:r>
            <a:r>
              <a:rPr lang="ru-RU" dirty="0" err="1">
                <a:solidFill>
                  <a:srgbClr val="CCCCCC"/>
                </a:solidFill>
                <a:latin typeface="Consolas" panose="020B0609020204030204" pitchFamily="49" charset="0"/>
              </a:rPr>
              <a:t>п.п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. по доходности =&gt; активное управление оправдано</a:t>
            </a:r>
          </a:p>
          <a:p>
            <a:r>
              <a:rPr lang="ru-RU" dirty="0">
                <a:solidFill>
                  <a:srgbClr val="6796E6"/>
                </a:solidFill>
                <a:latin typeface="Consolas" panose="020B0609020204030204" pitchFamily="49" charset="0"/>
              </a:rPr>
              <a:t>-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ru-RU" b="1" dirty="0">
                <a:solidFill>
                  <a:srgbClr val="569CD6"/>
                </a:solidFill>
                <a:latin typeface="Consolas" panose="020B0609020204030204" pitchFamily="49" charset="0"/>
              </a:rPr>
              <a:t>**</a:t>
            </a:r>
            <a:r>
              <a:rPr lang="en-US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CVaR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**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дает минимальную волатильность (28.81%) -- подходит для риск-</a:t>
            </a:r>
            <a:r>
              <a:rPr lang="ru-RU" dirty="0" err="1">
                <a:solidFill>
                  <a:srgbClr val="CCCCCC"/>
                </a:solidFill>
                <a:latin typeface="Consolas" panose="020B0609020204030204" pitchFamily="49" charset="0"/>
              </a:rPr>
              <a:t>аверсных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 инвесторов</a:t>
            </a:r>
          </a:p>
          <a:p>
            <a:r>
              <a:rPr lang="ru-RU" dirty="0">
                <a:solidFill>
                  <a:srgbClr val="6796E6"/>
                </a:solidFill>
                <a:latin typeface="Consolas" panose="020B0609020204030204" pitchFamily="49" charset="0"/>
              </a:rPr>
              <a:t>-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ru-RU" b="1" dirty="0">
                <a:solidFill>
                  <a:srgbClr val="569CD6"/>
                </a:solidFill>
                <a:latin typeface="Consolas" panose="020B0609020204030204" pitchFamily="49" charset="0"/>
              </a:rPr>
              <a:t>**Пассивная стратегия**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 -- худший результат (-13.47%), подтверждает ценность </a:t>
            </a:r>
            <a:r>
              <a:rPr lang="ru-RU" dirty="0" err="1">
                <a:solidFill>
                  <a:srgbClr val="CCCCCC"/>
                </a:solidFill>
                <a:latin typeface="Consolas" panose="020B0609020204030204" pitchFamily="49" charset="0"/>
              </a:rPr>
              <a:t>макропрогнозирования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 для управления портфелем</a:t>
            </a:r>
          </a:p>
          <a:p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92480" y="27119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ru-RU" b="1" dirty="0">
                <a:solidFill>
                  <a:srgbClr val="569CD6"/>
                </a:solidFill>
                <a:latin typeface="Consolas" panose="020B0609020204030204" pitchFamily="49" charset="0"/>
              </a:rPr>
              <a:t>**Результаты </a:t>
            </a:r>
            <a:r>
              <a:rPr lang="ru-RU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бэктестинга</a:t>
            </a:r>
            <a:r>
              <a:rPr lang="ru-RU" b="1" dirty="0">
                <a:solidFill>
                  <a:srgbClr val="569CD6"/>
                </a:solidFill>
                <a:latin typeface="Consolas" panose="020B0609020204030204" pitchFamily="49" charset="0"/>
              </a:rPr>
              <a:t>: сравнение стратегий**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7052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39199E-8B1C-CB78-B8E3-32113A33FB9A}"/>
              </a:ext>
            </a:extLst>
          </p:cNvPr>
          <p:cNvSpPr txBox="1"/>
          <p:nvPr/>
        </p:nvSpPr>
        <p:spPr>
          <a:xfrm>
            <a:off x="304800" y="306969"/>
            <a:ext cx="8180832" cy="547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3200" dirty="0"/>
              <a:t>Формирование портфеля</a:t>
            </a:r>
            <a:endParaRPr lang="ru-RU" sz="3200" dirty="0">
              <a:latin typeface="+mj-lt"/>
              <a:ea typeface="+mj-ea"/>
              <a:cs typeface="+mj-cs"/>
            </a:endParaRPr>
          </a:p>
        </p:txBody>
      </p:sp>
      <p:cxnSp>
        <p:nvCxnSpPr>
          <p:cNvPr id="14" name="Straight Connector 7">
            <a:extLst>
              <a:ext uri="{FF2B5EF4-FFF2-40B4-BE49-F238E27FC236}">
                <a16:creationId xmlns:a16="http://schemas.microsoft.com/office/drawing/2014/main" id="{0E853930-ECCE-62B1-DBD4-7C8F79CF98A8}"/>
              </a:ext>
            </a:extLst>
          </p:cNvPr>
          <p:cNvCxnSpPr/>
          <p:nvPr/>
        </p:nvCxnSpPr>
        <p:spPr>
          <a:xfrm flipH="1">
            <a:off x="304800" y="829877"/>
            <a:ext cx="11536680" cy="0"/>
          </a:xfrm>
          <a:prstGeom prst="line">
            <a:avLst/>
          </a:prstGeom>
          <a:ln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197895"/>
            <a:ext cx="5791202" cy="2269205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97894"/>
            <a:ext cx="5791199" cy="2269204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1" y="3467100"/>
            <a:ext cx="5791200" cy="226920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67099"/>
            <a:ext cx="5791199" cy="2269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880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0393" y="1004154"/>
            <a:ext cx="8153343" cy="58538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39199E-8B1C-CB78-B8E3-32113A33FB9A}"/>
              </a:ext>
            </a:extLst>
          </p:cNvPr>
          <p:cNvSpPr txBox="1"/>
          <p:nvPr/>
        </p:nvSpPr>
        <p:spPr>
          <a:xfrm>
            <a:off x="304800" y="306969"/>
            <a:ext cx="8180832" cy="547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3200" dirty="0"/>
              <a:t>Формирование портфеля</a:t>
            </a:r>
            <a:endParaRPr lang="ru-RU" sz="3200" dirty="0">
              <a:latin typeface="+mj-lt"/>
              <a:ea typeface="+mj-ea"/>
              <a:cs typeface="+mj-cs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4415609" y="1514322"/>
            <a:ext cx="1329180" cy="105580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Прямая со стрелкой 7"/>
          <p:cNvCxnSpPr>
            <a:stCxn id="10" idx="3"/>
            <a:endCxn id="6" idx="1"/>
          </p:cNvCxnSpPr>
          <p:nvPr/>
        </p:nvCxnSpPr>
        <p:spPr>
          <a:xfrm>
            <a:off x="3109463" y="2042222"/>
            <a:ext cx="1306146" cy="1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1104" y="1857555"/>
            <a:ext cx="2658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Голубые фишки?</a:t>
            </a:r>
            <a:endParaRPr lang="en-US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451104" y="1764131"/>
            <a:ext cx="2658359" cy="55618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7">
            <a:extLst>
              <a:ext uri="{FF2B5EF4-FFF2-40B4-BE49-F238E27FC236}">
                <a16:creationId xmlns:a16="http://schemas.microsoft.com/office/drawing/2014/main" id="{0E853930-ECCE-62B1-DBD4-7C8F79CF98A8}"/>
              </a:ext>
            </a:extLst>
          </p:cNvPr>
          <p:cNvCxnSpPr/>
          <p:nvPr/>
        </p:nvCxnSpPr>
        <p:spPr>
          <a:xfrm flipH="1">
            <a:off x="304800" y="829877"/>
            <a:ext cx="11298936" cy="8641"/>
          </a:xfrm>
          <a:prstGeom prst="line">
            <a:avLst/>
          </a:prstGeom>
          <a:ln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04800" y="3429000"/>
            <a:ext cx="30327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Корреляции акций необходимы, так как вероятность дефолта далее будет определяться на основе средней доходности активов и их волатильности.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480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39199E-8B1C-CB78-B8E3-32113A33FB9A}"/>
              </a:ext>
            </a:extLst>
          </p:cNvPr>
          <p:cNvSpPr txBox="1"/>
          <p:nvPr/>
        </p:nvSpPr>
        <p:spPr>
          <a:xfrm>
            <a:off x="304800" y="306969"/>
            <a:ext cx="11426952" cy="547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3200" dirty="0" smtClean="0"/>
              <a:t>Взаимосвязь макроэкономических параметров</a:t>
            </a:r>
            <a:endParaRPr lang="ru-RU" sz="3200" dirty="0">
              <a:latin typeface="+mj-lt"/>
              <a:ea typeface="+mj-ea"/>
              <a:cs typeface="+mj-cs"/>
            </a:endParaRPr>
          </a:p>
        </p:txBody>
      </p:sp>
      <p:cxnSp>
        <p:nvCxnSpPr>
          <p:cNvPr id="5" name="Straight Connector 7">
            <a:extLst>
              <a:ext uri="{FF2B5EF4-FFF2-40B4-BE49-F238E27FC236}">
                <a16:creationId xmlns:a16="http://schemas.microsoft.com/office/drawing/2014/main" id="{0E853930-ECCE-62B1-DBD4-7C8F79CF98A8}"/>
              </a:ext>
            </a:extLst>
          </p:cNvPr>
          <p:cNvCxnSpPr/>
          <p:nvPr/>
        </p:nvCxnSpPr>
        <p:spPr>
          <a:xfrm flipH="1">
            <a:off x="304800" y="829877"/>
            <a:ext cx="11298936" cy="8641"/>
          </a:xfrm>
          <a:prstGeom prst="line">
            <a:avLst/>
          </a:prstGeom>
          <a:ln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04800" y="1104826"/>
            <a:ext cx="11298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Была установлена зависимость для макропоказателей инфляции, валютной пары, безработицы с чистым долгом компании и ее стоимостью. </a:t>
            </a:r>
            <a:endParaRPr lang="en-US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5234" y="2001172"/>
            <a:ext cx="6908502" cy="4104849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304800" y="2001172"/>
            <a:ext cx="4390434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Безработица</a:t>
            </a:r>
            <a:r>
              <a:rPr lang="en-US" dirty="0" smtClean="0"/>
              <a:t> </a:t>
            </a:r>
            <a:r>
              <a:rPr lang="ru-RU" dirty="0" smtClean="0"/>
              <a:t>- </a:t>
            </a:r>
            <a:r>
              <a:rPr lang="ru-RU" dirty="0"/>
              <a:t>наиболее значимый предиктор долга (73% компаний)</a:t>
            </a:r>
          </a:p>
          <a:p>
            <a:r>
              <a:rPr lang="ru-RU" dirty="0" smtClean="0"/>
              <a:t>USD/RUB </a:t>
            </a:r>
            <a:r>
              <a:rPr lang="ru-RU" dirty="0"/>
              <a:t>- сильно влияет на капитализацию (60% компаний) </a:t>
            </a:r>
          </a:p>
          <a:p>
            <a:r>
              <a:rPr lang="ru-RU" dirty="0" smtClean="0"/>
              <a:t>Инфляция </a:t>
            </a:r>
            <a:r>
              <a:rPr lang="ru-RU" dirty="0"/>
              <a:t>- умеренное влияние, особенно на долг (60% </a:t>
            </a:r>
            <a:r>
              <a:rPr lang="ru-RU" dirty="0" err="1"/>
              <a:t>vs</a:t>
            </a:r>
            <a:r>
              <a:rPr lang="ru-RU" dirty="0"/>
              <a:t> 27%)</a:t>
            </a:r>
          </a:p>
          <a:p>
            <a:r>
              <a:rPr lang="ru-RU" dirty="0"/>
              <a:t/>
            </a:r>
            <a:br>
              <a:rPr lang="ru-RU" dirty="0"/>
            </a:br>
            <a:r>
              <a:rPr lang="ru-RU" dirty="0" smtClean="0"/>
              <a:t>Доля </a:t>
            </a:r>
            <a:r>
              <a:rPr lang="ru-RU" dirty="0"/>
              <a:t>значимых </a:t>
            </a:r>
            <a:r>
              <a:rPr lang="ru-RU" dirty="0" smtClean="0"/>
              <a:t>связей</a:t>
            </a:r>
            <a:r>
              <a:rPr lang="en-US" dirty="0" smtClean="0"/>
              <a:t> -</a:t>
            </a:r>
            <a:r>
              <a:rPr lang="ru-RU" dirty="0" smtClean="0"/>
              <a:t> </a:t>
            </a:r>
            <a:r>
              <a:rPr lang="ru-RU" dirty="0"/>
              <a:t>процент компаний, для которых макроэкономический фактор </a:t>
            </a:r>
            <a:r>
              <a:rPr lang="ru-RU" dirty="0" smtClean="0"/>
              <a:t>статистически значимо </a:t>
            </a:r>
            <a:r>
              <a:rPr lang="ru-RU" dirty="0"/>
              <a:t>влияет на капитализацию/долг.</a:t>
            </a:r>
          </a:p>
        </p:txBody>
      </p:sp>
    </p:spTree>
    <p:extLst>
      <p:ext uri="{BB962C8B-B14F-4D97-AF65-F5344CB8AC3E}">
        <p14:creationId xmlns:p14="http://schemas.microsoft.com/office/powerpoint/2010/main" val="3048426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39199E-8B1C-CB78-B8E3-32113A33FB9A}"/>
              </a:ext>
            </a:extLst>
          </p:cNvPr>
          <p:cNvSpPr txBox="1"/>
          <p:nvPr/>
        </p:nvSpPr>
        <p:spPr>
          <a:xfrm>
            <a:off x="304800" y="306969"/>
            <a:ext cx="11426952" cy="547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3200" dirty="0" smtClean="0"/>
              <a:t>Формула Мертона для расчета </a:t>
            </a:r>
            <a:r>
              <a:rPr lang="en-US" sz="3200" dirty="0" smtClean="0"/>
              <a:t>PD</a:t>
            </a:r>
            <a:endParaRPr lang="ru-RU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80" y="1151283"/>
            <a:ext cx="5922220" cy="2315817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53874"/>
            <a:ext cx="5915595" cy="2313226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467100"/>
            <a:ext cx="5824784" cy="2277716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214" y="3467099"/>
            <a:ext cx="5824786" cy="227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334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39199E-8B1C-CB78-B8E3-32113A33FB9A}"/>
              </a:ext>
            </a:extLst>
          </p:cNvPr>
          <p:cNvSpPr txBox="1"/>
          <p:nvPr/>
        </p:nvSpPr>
        <p:spPr>
          <a:xfrm>
            <a:off x="304800" y="306969"/>
            <a:ext cx="1038519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3200" dirty="0" smtClean="0"/>
              <a:t>Функция импульсного отклика (</a:t>
            </a:r>
            <a:r>
              <a:rPr lang="en-US" sz="3200" dirty="0" smtClean="0"/>
              <a:t>IRF</a:t>
            </a:r>
            <a:r>
              <a:rPr lang="ru-RU" sz="3200" dirty="0" smtClean="0"/>
              <a:t>)</a:t>
            </a:r>
            <a:endParaRPr lang="ru-RU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Рисунок 2" descr="\documentclass{article}&#10;\usepackage{amsmath}&#10;\pagestyle{empty}&#10;\begin{document}&#10;&#10;&#10;$$Y_t = c + \phi_1 Y_{t-1} + \phi_2 Y_{t-2} + \dots + \phi_p Y_{t-p} + \varepsilon_t,$$  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5714" y="1803124"/>
            <a:ext cx="5060571" cy="247771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304800" y="1135633"/>
            <a:ext cx="112807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Рассмотрим </a:t>
            </a:r>
            <a:r>
              <a:rPr lang="ru-RU" dirty="0" err="1"/>
              <a:t>авторегрессионную</a:t>
            </a:r>
            <a:r>
              <a:rPr lang="ru-RU" dirty="0"/>
              <a:t> модель порядка </a:t>
            </a:r>
            <a:r>
              <a:rPr lang="ru-RU" dirty="0" smtClean="0"/>
              <a:t>p </a:t>
            </a:r>
            <a:r>
              <a:rPr lang="ru-RU" dirty="0"/>
              <a:t>(AR(p)):</a:t>
            </a:r>
            <a:endParaRPr lang="en-US" dirty="0"/>
          </a:p>
        </p:txBody>
      </p:sp>
      <p:pic>
        <p:nvPicPr>
          <p:cNvPr id="6" name="Рисунок 5" descr="\documentclass{article}&#10;\usepackage{amsmath}&#10;\pagestyle{empty}&#10;\begin{document}&#10;&#10;$( \varepsilon_t \sim WN(0, \sigma^2) ) 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588" y="2314380"/>
            <a:ext cx="1709897" cy="246034"/>
          </a:xfrm>
          <a:prstGeom prst="rect">
            <a:avLst/>
          </a:prstGeom>
        </p:spPr>
      </p:pic>
      <p:pic>
        <p:nvPicPr>
          <p:cNvPr id="7" name="Рисунок 6" descr="\documentclass{article}&#10;\usepackage{amsmath}&#10;\pagestyle{empty}&#10;\begin{document}&#10;&#10;&#10;$\phi_i $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588" y="2636345"/>
            <a:ext cx="181029" cy="204891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304800" y="231438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	        — </a:t>
            </a:r>
            <a:r>
              <a:rPr lang="en-US" dirty="0" err="1"/>
              <a:t>белый</a:t>
            </a:r>
            <a:r>
              <a:rPr lang="en-US" dirty="0"/>
              <a:t> </a:t>
            </a:r>
            <a:r>
              <a:rPr lang="en-US" dirty="0" err="1" smtClean="0"/>
              <a:t>шум</a:t>
            </a:r>
            <a:r>
              <a:rPr lang="en-US" dirty="0" smtClean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  — </a:t>
            </a:r>
            <a:r>
              <a:rPr lang="en-US" dirty="0" err="1"/>
              <a:t>коэффициенты</a:t>
            </a:r>
            <a:r>
              <a:rPr lang="en-US" dirty="0"/>
              <a:t> </a:t>
            </a:r>
            <a:r>
              <a:rPr lang="en-US" dirty="0" err="1" smtClean="0"/>
              <a:t>модели</a:t>
            </a:r>
            <a:endParaRPr lang="en-US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304800" y="3241533"/>
            <a:ext cx="115541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Импульсная отклик-функция (IRF)</a:t>
            </a:r>
          </a:p>
          <a:p>
            <a:r>
              <a:rPr lang="ru-RU" dirty="0"/>
              <a:t>IRF показывает, как единичный шок </a:t>
            </a:r>
            <a:r>
              <a:rPr lang="en-US" dirty="0" smtClean="0"/>
              <a:t>      </a:t>
            </a:r>
            <a:r>
              <a:rPr lang="ru-RU" dirty="0" smtClean="0"/>
              <a:t>в </a:t>
            </a:r>
            <a:r>
              <a:rPr lang="ru-RU" dirty="0"/>
              <a:t>момент времени </a:t>
            </a:r>
            <a:r>
              <a:rPr lang="ru-RU" dirty="0" smtClean="0"/>
              <a:t>t </a:t>
            </a:r>
            <a:r>
              <a:rPr lang="ru-RU" dirty="0"/>
              <a:t>влияет на будущие </a:t>
            </a:r>
            <a:r>
              <a:rPr lang="ru-RU" dirty="0" smtClean="0"/>
              <a:t>значения</a:t>
            </a:r>
            <a:r>
              <a:rPr lang="en-US" dirty="0" smtClean="0"/>
              <a:t>     . </a:t>
            </a:r>
            <a:r>
              <a:rPr lang="ru-RU" dirty="0" smtClean="0"/>
              <a:t>Для </a:t>
            </a:r>
            <a:r>
              <a:rPr lang="ru-RU" dirty="0"/>
              <a:t>этого AR(p) представляется в виде скользящего среднего бесконечного порядка (MA(∞))</a:t>
            </a:r>
          </a:p>
        </p:txBody>
      </p:sp>
      <p:pic>
        <p:nvPicPr>
          <p:cNvPr id="10" name="Рисунок 9" descr="\documentclass{article}&#10;\usepackage{amsmath}&#10;\pagestyle{empty}&#10;\begin{document}&#10;&#10;&#10;$$IRF(s) = \psi_s = \frac{\partial Y_{t+s}}{\partial \varepsilon_t},$$  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5044" y="5269774"/>
            <a:ext cx="2526171" cy="565943"/>
          </a:xfrm>
          <a:prstGeom prst="rect">
            <a:avLst/>
          </a:prstGeom>
        </p:spPr>
      </p:pic>
      <p:pic>
        <p:nvPicPr>
          <p:cNvPr id="11" name="Рисунок 10" descr="\documentclass{article}&#10;\usepackage{amsmath}&#10;\pagestyle{empty}&#10;\begin{document}&#10;&#10;$\varepsilon_t = 1 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6383" y="3589106"/>
            <a:ext cx="644571" cy="207543"/>
          </a:xfrm>
          <a:prstGeom prst="rect">
            <a:avLst/>
          </a:prstGeom>
        </p:spPr>
      </p:pic>
      <p:pic>
        <p:nvPicPr>
          <p:cNvPr id="12" name="Рисунок 11" descr="\documentclass{article}&#10;\usepackage{amsmath}&#10;\pagestyle{empty}&#10;\begin{document}&#10;&#10;&#10;$Y_{t+s} $&#10;&#10;\end{document}" title="IguanaTex Bitmap Display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646" y="3883596"/>
            <a:ext cx="454400" cy="231314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>
          <a:xfrm>
            <a:off x="304800" y="4756973"/>
            <a:ext cx="23903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Определение </a:t>
            </a:r>
            <a:r>
              <a:rPr lang="en-US" b="1" dirty="0" smtClean="0"/>
              <a:t>IRF</a:t>
            </a:r>
            <a:r>
              <a:rPr lang="en-US" dirty="0"/>
              <a:t>: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304800" y="6128375"/>
            <a:ext cx="108753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то есть </a:t>
            </a:r>
            <a:r>
              <a:rPr lang="en-US" dirty="0" smtClean="0"/>
              <a:t>  </a:t>
            </a:r>
            <a:r>
              <a:rPr lang="ru-RU" dirty="0" smtClean="0"/>
              <a:t>​ </a:t>
            </a:r>
            <a:r>
              <a:rPr lang="ru-RU" dirty="0"/>
              <a:t>отражает изменение </a:t>
            </a:r>
            <a:r>
              <a:rPr lang="en-US" dirty="0" smtClean="0"/>
              <a:t>    </a:t>
            </a:r>
            <a:r>
              <a:rPr lang="ru-RU" dirty="0" smtClean="0"/>
              <a:t>​ </a:t>
            </a:r>
            <a:r>
              <a:rPr lang="ru-RU" dirty="0"/>
              <a:t>при единичном </a:t>
            </a:r>
            <a:r>
              <a:rPr lang="ru-RU" dirty="0" smtClean="0"/>
              <a:t>шоке</a:t>
            </a:r>
            <a:r>
              <a:rPr lang="en-US" dirty="0" smtClean="0"/>
              <a:t>      </a:t>
            </a:r>
            <a:r>
              <a:rPr lang="ru-RU" dirty="0" smtClean="0"/>
              <a:t>.</a:t>
            </a:r>
            <a:endParaRPr lang="en-US" dirty="0"/>
          </a:p>
        </p:txBody>
      </p:sp>
      <p:pic>
        <p:nvPicPr>
          <p:cNvPr id="15" name="Рисунок 14" descr="\documentclass{article}&#10;\usepackage{amsmath}&#10;\pagestyle{empty}&#10;\begin{document}&#10;&#10;$\varepsilon_t = 1 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2531" y="6208792"/>
            <a:ext cx="644571" cy="207543"/>
          </a:xfrm>
          <a:prstGeom prst="rect">
            <a:avLst/>
          </a:prstGeom>
        </p:spPr>
      </p:pic>
      <p:pic>
        <p:nvPicPr>
          <p:cNvPr id="16" name="Рисунок 15" descr="\documentclass{article}&#10;\usepackage{amsmath}&#10;\pagestyle{empty}&#10;\begin{document}&#10;&#10;&#10;$Y_{t+s} $&#10;&#10;\end{document}" title="IguanaTex Bitmap Display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5044" y="6196907"/>
            <a:ext cx="454400" cy="231314"/>
          </a:xfrm>
          <a:prstGeom prst="rect">
            <a:avLst/>
          </a:prstGeom>
        </p:spPr>
      </p:pic>
      <p:pic>
        <p:nvPicPr>
          <p:cNvPr id="17" name="Рисунок 16" descr="\documentclass{article}&#10;\usepackage{amsmath}&#10;\pagestyle{empty}&#10;\begin{document}&#10;&#10;$\psi_s 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417" y="6211471"/>
            <a:ext cx="240457" cy="22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602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39199E-8B1C-CB78-B8E3-32113A33FB9A}"/>
              </a:ext>
            </a:extLst>
          </p:cNvPr>
          <p:cNvSpPr txBox="1"/>
          <p:nvPr/>
        </p:nvSpPr>
        <p:spPr>
          <a:xfrm>
            <a:off x="304800" y="306969"/>
            <a:ext cx="11426952" cy="547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3200" dirty="0" smtClean="0"/>
              <a:t>Исследование </a:t>
            </a:r>
            <a:r>
              <a:rPr lang="en-US" sz="3200" dirty="0" smtClean="0"/>
              <a:t>IRF</a:t>
            </a:r>
            <a:endParaRPr lang="ru-RU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700" y="3565584"/>
            <a:ext cx="5812190" cy="272352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621203"/>
            <a:ext cx="5574797" cy="2612289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5123" y="664059"/>
            <a:ext cx="5769767" cy="270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913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Скругленный прямоугольник 16"/>
          <p:cNvSpPr/>
          <p:nvPr/>
        </p:nvSpPr>
        <p:spPr>
          <a:xfrm>
            <a:off x="313426" y="1165550"/>
            <a:ext cx="11565147" cy="669059"/>
          </a:xfrm>
          <a:prstGeom prst="roundRect">
            <a:avLst>
              <a:gd name="adj" fmla="val 2021"/>
            </a:avLst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1999" y="5397037"/>
            <a:ext cx="7306573" cy="1150487"/>
          </a:xfrm>
        </p:spPr>
        <p:txBody>
          <a:bodyPr>
            <a:normAutofit fontScale="85000" lnSpcReduction="20000"/>
          </a:bodyPr>
          <a:lstStyle/>
          <a:p>
            <a:r>
              <a:rPr lang="ru-RU" sz="1800" dirty="0"/>
              <a:t>Пример обработки:</a:t>
            </a:r>
          </a:p>
          <a:p>
            <a:r>
              <a:rPr lang="en-US" sz="1800" dirty="0"/>
              <a:t>✅ GAZP: </a:t>
            </a:r>
            <a:r>
              <a:rPr lang="ru-RU" sz="1800" dirty="0"/>
              <a:t>ОДОБРИТЬ </a:t>
            </a:r>
            <a:r>
              <a:rPr lang="ru-RU" sz="1800" dirty="0" smtClean="0"/>
              <a:t> | </a:t>
            </a:r>
            <a:r>
              <a:rPr lang="en-US" sz="1800" dirty="0"/>
              <a:t>PD: 0.1% | </a:t>
            </a:r>
            <a:r>
              <a:rPr lang="ru-RU" sz="1800" dirty="0"/>
              <a:t>Ставка: 12.5%</a:t>
            </a:r>
          </a:p>
          <a:p>
            <a:r>
              <a:rPr lang="en-US" sz="1800" dirty="0"/>
              <a:t>✅ SBER: </a:t>
            </a:r>
            <a:r>
              <a:rPr lang="ru-RU" sz="1800" dirty="0"/>
              <a:t>ОДОБРИТЬ </a:t>
            </a:r>
            <a:r>
              <a:rPr lang="ru-RU" sz="1800" dirty="0" smtClean="0"/>
              <a:t> | </a:t>
            </a:r>
            <a:r>
              <a:rPr lang="en-US" sz="1800" dirty="0"/>
              <a:t>PD: 0.1% | </a:t>
            </a:r>
            <a:r>
              <a:rPr lang="ru-RU" sz="1800" dirty="0"/>
              <a:t>Ставка: 10.8%</a:t>
            </a:r>
          </a:p>
          <a:p>
            <a:r>
              <a:rPr lang="en-US" sz="1800" dirty="0"/>
              <a:t>❌ RUAL: </a:t>
            </a:r>
            <a:r>
              <a:rPr lang="ru-RU" sz="1800" dirty="0"/>
              <a:t>ОТКЛОНИТЬ | </a:t>
            </a:r>
            <a:r>
              <a:rPr lang="en-US" sz="1800" dirty="0"/>
              <a:t>PD: 2.0% | </a:t>
            </a:r>
            <a:r>
              <a:rPr lang="ru-RU" sz="1800" dirty="0"/>
              <a:t>Причина: Превышен лимит </a:t>
            </a:r>
            <a:r>
              <a:rPr lang="en-US" sz="1800" dirty="0"/>
              <a:t>PD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39199E-8B1C-CB78-B8E3-32113A33FB9A}"/>
              </a:ext>
            </a:extLst>
          </p:cNvPr>
          <p:cNvSpPr txBox="1"/>
          <p:nvPr/>
        </p:nvSpPr>
        <p:spPr>
          <a:xfrm>
            <a:off x="304800" y="306969"/>
            <a:ext cx="11426952" cy="547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3200" dirty="0"/>
              <a:t>Добавление управления в портфель</a:t>
            </a:r>
            <a:endParaRPr lang="ru-RU" sz="3200" dirty="0">
              <a:latin typeface="+mj-lt"/>
              <a:ea typeface="+mj-ea"/>
              <a:cs typeface="+mj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70384" y="2205713"/>
            <a:ext cx="4451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Подходы к отбору компаний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250666" y="1301479"/>
            <a:ext cx="4520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Создание заявок на кредит</a:t>
            </a:r>
            <a:endParaRPr lang="en-US" dirty="0"/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313425" y="3067150"/>
            <a:ext cx="3937241" cy="1981917"/>
          </a:xfrm>
          <a:prstGeom prst="roundRect">
            <a:avLst>
              <a:gd name="adj" fmla="val 2021"/>
            </a:avLst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Скругленный прямоугольник 18"/>
          <p:cNvSpPr/>
          <p:nvPr/>
        </p:nvSpPr>
        <p:spPr>
          <a:xfrm>
            <a:off x="4572000" y="3067150"/>
            <a:ext cx="7306573" cy="1981917"/>
          </a:xfrm>
          <a:prstGeom prst="roundRect">
            <a:avLst>
              <a:gd name="adj" fmla="val 2021"/>
            </a:avLst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Прямоугольник 13"/>
          <p:cNvSpPr/>
          <p:nvPr/>
        </p:nvSpPr>
        <p:spPr>
          <a:xfrm>
            <a:off x="4571999" y="3811670"/>
            <a:ext cx="730657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1.5</a:t>
            </a:r>
            <a:r>
              <a:rPr lang="en-US" dirty="0" smtClean="0"/>
              <a:t>% </a:t>
            </a:r>
            <a:r>
              <a:rPr lang="en-US" dirty="0"/>
              <a:t>- </a:t>
            </a:r>
            <a:r>
              <a:rPr lang="ru-RU" dirty="0"/>
              <a:t>максимальная </a:t>
            </a:r>
            <a:r>
              <a:rPr lang="en-US" dirty="0"/>
              <a:t>PD </a:t>
            </a:r>
            <a:r>
              <a:rPr lang="ru-RU" dirty="0"/>
              <a:t>для одобрения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25</a:t>
            </a:r>
            <a:r>
              <a:rPr lang="en-US" dirty="0"/>
              <a:t>% - </a:t>
            </a:r>
            <a:r>
              <a:rPr lang="ru-RU" dirty="0"/>
              <a:t>максимум в одном секторе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8</a:t>
            </a:r>
            <a:r>
              <a:rPr lang="en-US" dirty="0"/>
              <a:t>% - </a:t>
            </a:r>
            <a:r>
              <a:rPr lang="ru-RU" dirty="0"/>
              <a:t>максимум на одного заемщика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571999" y="3173201"/>
            <a:ext cx="73065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/>
              <a:t>Сложный подход</a:t>
            </a:r>
            <a:endParaRPr lang="en-US" sz="20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313427" y="3191535"/>
            <a:ext cx="3937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/>
              <a:t>Простой подход</a:t>
            </a:r>
            <a:endParaRPr lang="en-US" sz="2000" b="1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304801" y="4088669"/>
            <a:ext cx="39458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3</a:t>
            </a:r>
            <a:r>
              <a:rPr lang="en-US" dirty="0" smtClean="0"/>
              <a:t>% </a:t>
            </a:r>
            <a:r>
              <a:rPr lang="en-US" dirty="0"/>
              <a:t>- </a:t>
            </a:r>
            <a:r>
              <a:rPr lang="ru-RU" dirty="0"/>
              <a:t>максимальная </a:t>
            </a:r>
            <a:r>
              <a:rPr lang="en-US" dirty="0"/>
              <a:t>PD </a:t>
            </a:r>
            <a:r>
              <a:rPr lang="ru-RU" dirty="0"/>
              <a:t>для одобрения</a:t>
            </a:r>
          </a:p>
        </p:txBody>
      </p:sp>
      <p:cxnSp>
        <p:nvCxnSpPr>
          <p:cNvPr id="22" name="Прямая со стрелкой 21"/>
          <p:cNvCxnSpPr>
            <a:stCxn id="17" idx="2"/>
            <a:endCxn id="6" idx="0"/>
          </p:cNvCxnSpPr>
          <p:nvPr/>
        </p:nvCxnSpPr>
        <p:spPr>
          <a:xfrm>
            <a:off x="6096000" y="1834609"/>
            <a:ext cx="0" cy="3711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>
            <a:stCxn id="6" idx="2"/>
            <a:endCxn id="18" idx="0"/>
          </p:cNvCxnSpPr>
          <p:nvPr/>
        </p:nvCxnSpPr>
        <p:spPr>
          <a:xfrm flipH="1">
            <a:off x="2282046" y="2575045"/>
            <a:ext cx="3813954" cy="4921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>
            <a:stCxn id="6" idx="2"/>
            <a:endCxn id="19" idx="0"/>
          </p:cNvCxnSpPr>
          <p:nvPr/>
        </p:nvCxnSpPr>
        <p:spPr>
          <a:xfrm>
            <a:off x="6096000" y="2575045"/>
            <a:ext cx="2129287" cy="4921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19287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304800" y="2527585"/>
            <a:ext cx="1129893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НАПРАВЛЕНИЯ </a:t>
            </a:r>
            <a:r>
              <a:rPr lang="ru-RU" dirty="0"/>
              <a:t>ДОРАБОТКИ СИСТЕМЫ</a:t>
            </a:r>
          </a:p>
          <a:p>
            <a:endParaRPr lang="ru-RU" dirty="0"/>
          </a:p>
          <a:p>
            <a:r>
              <a:rPr lang="ru-RU" sz="1400" dirty="0" smtClean="0"/>
              <a:t>1</a:t>
            </a:r>
            <a:r>
              <a:rPr lang="ru-RU" sz="1400" dirty="0"/>
              <a:t>. МАКРОЭКОНОМИЧЕСКИЕ </a:t>
            </a:r>
            <a:r>
              <a:rPr lang="ru-RU" sz="1400" dirty="0" smtClean="0"/>
              <a:t>ФАКТОРЫ</a:t>
            </a:r>
            <a:endParaRPr lang="ru-RU" sz="1400" dirty="0"/>
          </a:p>
          <a:p>
            <a:r>
              <a:rPr lang="ru-RU" sz="1400" dirty="0"/>
              <a:t>- </a:t>
            </a:r>
            <a:r>
              <a:rPr lang="ru-RU" sz="1400" dirty="0" smtClean="0"/>
              <a:t>Ключевая </a:t>
            </a:r>
            <a:r>
              <a:rPr lang="ru-RU" sz="1400" dirty="0"/>
              <a:t>ставка ЦБ </a:t>
            </a:r>
            <a:r>
              <a:rPr lang="ru-RU" sz="1400" dirty="0" smtClean="0"/>
              <a:t>РФ </a:t>
            </a:r>
            <a:r>
              <a:rPr lang="ru-RU" sz="1400" dirty="0"/>
              <a:t>→ Динамическая корректировка базовых </a:t>
            </a:r>
            <a:r>
              <a:rPr lang="ru-RU" sz="1400" dirty="0" smtClean="0"/>
              <a:t>ставок</a:t>
            </a:r>
            <a:endParaRPr lang="ru-RU" sz="1400" dirty="0"/>
          </a:p>
          <a:p>
            <a:endParaRPr lang="ru-RU" sz="1400" dirty="0" smtClean="0"/>
          </a:p>
          <a:p>
            <a:r>
              <a:rPr lang="ru-RU" sz="1400" dirty="0" smtClean="0"/>
              <a:t>3</a:t>
            </a:r>
            <a:r>
              <a:rPr lang="ru-RU" sz="1400" dirty="0"/>
              <a:t>. ДИНАМИЧЕСКИЙ </a:t>
            </a:r>
            <a:r>
              <a:rPr lang="ru-RU" sz="1400" dirty="0" smtClean="0"/>
              <a:t>МОНИТОРИНГ</a:t>
            </a:r>
            <a:endParaRPr lang="ru-RU" sz="1400" dirty="0"/>
          </a:p>
          <a:p>
            <a:r>
              <a:rPr lang="ru-RU" sz="1400" dirty="0"/>
              <a:t>- </a:t>
            </a:r>
            <a:r>
              <a:rPr lang="ru-RU" sz="1400" dirty="0" smtClean="0"/>
              <a:t>Ежемесячный </a:t>
            </a:r>
            <a:r>
              <a:rPr lang="ru-RU" sz="1400" dirty="0"/>
              <a:t>пересчет </a:t>
            </a:r>
            <a:r>
              <a:rPr lang="ru-RU" sz="1400" dirty="0" smtClean="0"/>
              <a:t>PD </a:t>
            </a:r>
            <a:r>
              <a:rPr lang="ru-RU" sz="1400" dirty="0"/>
              <a:t>→ Обновление рейтингов заемщиков</a:t>
            </a:r>
          </a:p>
          <a:p>
            <a:endParaRPr lang="ru-RU" sz="1400" dirty="0"/>
          </a:p>
          <a:p>
            <a:r>
              <a:rPr lang="ru-RU" sz="1400" dirty="0" smtClean="0"/>
              <a:t>4</a:t>
            </a:r>
            <a:r>
              <a:rPr lang="ru-RU" sz="1400" dirty="0"/>
              <a:t>. РАСШИРЕННАЯ </a:t>
            </a:r>
            <a:r>
              <a:rPr lang="ru-RU" sz="1400" dirty="0" smtClean="0"/>
              <a:t>ДИВЕРСИФИКАЦИЯ</a:t>
            </a:r>
            <a:endParaRPr lang="ru-RU" sz="1400" dirty="0"/>
          </a:p>
          <a:p>
            <a:r>
              <a:rPr lang="ru-RU" sz="1400" dirty="0"/>
              <a:t>- </a:t>
            </a:r>
            <a:r>
              <a:rPr lang="ru-RU" sz="1400" dirty="0" smtClean="0"/>
              <a:t>Географические лимиты </a:t>
            </a:r>
            <a:r>
              <a:rPr lang="ru-RU" sz="1400" dirty="0"/>
              <a:t>→ Регионы России (25% на регион)</a:t>
            </a:r>
          </a:p>
          <a:p>
            <a:r>
              <a:rPr lang="ru-RU" sz="1400" dirty="0"/>
              <a:t>- </a:t>
            </a:r>
            <a:r>
              <a:rPr lang="ru-RU" sz="1400" dirty="0" smtClean="0"/>
              <a:t>Валютные риски </a:t>
            </a:r>
            <a:r>
              <a:rPr lang="ru-RU" sz="1400" dirty="0"/>
              <a:t>→ Доллар/евро экспозиция (макс. 30%)</a:t>
            </a:r>
          </a:p>
          <a:p>
            <a:r>
              <a:rPr lang="ru-RU" sz="1400" dirty="0"/>
              <a:t>- </a:t>
            </a:r>
            <a:r>
              <a:rPr lang="ru-RU" sz="1400" dirty="0" smtClean="0"/>
              <a:t>Отраслевые подсектора </a:t>
            </a:r>
            <a:r>
              <a:rPr lang="ru-RU" sz="1400" dirty="0"/>
              <a:t>→ Детализация до 50+ </a:t>
            </a:r>
            <a:r>
              <a:rPr lang="ru-RU" sz="1400" dirty="0" err="1"/>
              <a:t>подотраслей</a:t>
            </a:r>
            <a:endParaRPr lang="ru-RU" sz="1400" dirty="0"/>
          </a:p>
          <a:p>
            <a:endParaRPr lang="ru-RU" sz="1400" dirty="0"/>
          </a:p>
          <a:p>
            <a:r>
              <a:rPr lang="ru-RU" sz="1400" dirty="0" smtClean="0"/>
              <a:t>МАШИННОЕ ОБУЧЕНИЕ</a:t>
            </a:r>
            <a:endParaRPr lang="ru-RU" sz="1400" dirty="0"/>
          </a:p>
          <a:p>
            <a:r>
              <a:rPr lang="ru-RU" sz="1400" dirty="0"/>
              <a:t>- </a:t>
            </a:r>
            <a:r>
              <a:rPr lang="ru-RU" sz="1400" dirty="0" smtClean="0"/>
              <a:t>Предиктивная аналитика </a:t>
            </a:r>
            <a:r>
              <a:rPr lang="ru-RU" sz="1400" dirty="0"/>
              <a:t>→ ML-модели для прогноза дефолтов</a:t>
            </a:r>
          </a:p>
          <a:p>
            <a:r>
              <a:rPr lang="ru-RU" sz="1400" dirty="0">
                <a:solidFill>
                  <a:schemeClr val="bg1">
                    <a:lumMod val="65000"/>
                  </a:schemeClr>
                </a:solidFill>
              </a:rPr>
              <a:t>- </a:t>
            </a:r>
            <a:r>
              <a:rPr lang="ru-RU" sz="1400" dirty="0" smtClean="0">
                <a:solidFill>
                  <a:schemeClr val="bg1">
                    <a:lumMod val="65000"/>
                  </a:schemeClr>
                </a:solidFill>
              </a:rPr>
              <a:t>Альтернативные данные </a:t>
            </a:r>
            <a:r>
              <a:rPr lang="ru-RU" sz="1400" dirty="0">
                <a:solidFill>
                  <a:schemeClr val="bg1">
                    <a:lumMod val="65000"/>
                  </a:schemeClr>
                </a:solidFill>
              </a:rPr>
              <a:t>→ Анализ новостей, </a:t>
            </a:r>
            <a:r>
              <a:rPr lang="ru-RU" sz="1400" dirty="0" err="1">
                <a:solidFill>
                  <a:schemeClr val="bg1">
                    <a:lumMod val="65000"/>
                  </a:schemeClr>
                </a:solidFill>
              </a:rPr>
              <a:t>соцсетей</a:t>
            </a:r>
            <a:r>
              <a:rPr lang="ru-RU" sz="1400" dirty="0">
                <a:solidFill>
                  <a:schemeClr val="bg1">
                    <a:lumMod val="65000"/>
                  </a:schemeClr>
                </a:solidFill>
              </a:rPr>
              <a:t>, телеметрии</a:t>
            </a:r>
          </a:p>
          <a:p>
            <a:r>
              <a:rPr lang="ru-RU" sz="1400" dirty="0">
                <a:solidFill>
                  <a:schemeClr val="bg1">
                    <a:lumMod val="65000"/>
                  </a:schemeClr>
                </a:solidFill>
              </a:rPr>
              <a:t>- </a:t>
            </a:r>
            <a:r>
              <a:rPr lang="ru-RU" sz="1400" dirty="0" smtClean="0">
                <a:solidFill>
                  <a:schemeClr val="bg1">
                    <a:lumMod val="65000"/>
                  </a:schemeClr>
                </a:solidFill>
              </a:rPr>
              <a:t>Автоматическая калибровка </a:t>
            </a:r>
            <a:r>
              <a:rPr lang="ru-RU" sz="1400" dirty="0">
                <a:solidFill>
                  <a:schemeClr val="bg1">
                    <a:lumMod val="65000"/>
                  </a:schemeClr>
                </a:solidFill>
              </a:rPr>
              <a:t>→ </a:t>
            </a:r>
            <a:r>
              <a:rPr lang="ru-RU" sz="1400" dirty="0" err="1">
                <a:solidFill>
                  <a:schemeClr val="bg1">
                    <a:lumMod val="65000"/>
                  </a:schemeClr>
                </a:solidFill>
              </a:rPr>
              <a:t>Self-learning</a:t>
            </a:r>
            <a:r>
              <a:rPr lang="ru-RU" sz="1400" dirty="0">
                <a:solidFill>
                  <a:schemeClr val="bg1">
                    <a:lumMod val="65000"/>
                  </a:schemeClr>
                </a:solidFill>
              </a:rPr>
              <a:t> параметров модели</a:t>
            </a:r>
          </a:p>
          <a:p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304800" y="993988"/>
            <a:ext cx="1129893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/>
              <a:t>ЧТО СДЕЛАНО:</a:t>
            </a:r>
            <a:endParaRPr lang="ru-RU" sz="1400" dirty="0"/>
          </a:p>
          <a:p>
            <a:pPr indent="-342900">
              <a:buAutoNum type="arabicPeriod"/>
            </a:pPr>
            <a:r>
              <a:rPr lang="ru-RU" sz="1400" dirty="0"/>
              <a:t>Настроена система на основе реальных данных </a:t>
            </a:r>
          </a:p>
          <a:p>
            <a:r>
              <a:rPr lang="ru-RU" sz="1400" dirty="0"/>
              <a:t>2. Рассчитаны PD для всех 15 компаний по модели Мертона</a:t>
            </a:r>
          </a:p>
          <a:p>
            <a:r>
              <a:rPr lang="ru-RU" sz="1400" dirty="0"/>
              <a:t>3. Создана симуляция управляемого </a:t>
            </a:r>
            <a:r>
              <a:rPr lang="ru-RU" sz="1400" dirty="0" err="1"/>
              <a:t>vs</a:t>
            </a:r>
            <a:r>
              <a:rPr lang="ru-RU" sz="1400" dirty="0"/>
              <a:t> неуправляемого портфеля</a:t>
            </a:r>
          </a:p>
          <a:p>
            <a:r>
              <a:rPr lang="ru-RU" sz="1400" dirty="0"/>
              <a:t>4. Показан экономический эффект - экономия потерь</a:t>
            </a:r>
          </a:p>
          <a:p>
            <a:r>
              <a:rPr lang="ru-RU" sz="1400" dirty="0"/>
              <a:t>5. Проанализированы риски по компаниям</a:t>
            </a:r>
            <a:endParaRPr 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39199E-8B1C-CB78-B8E3-32113A33FB9A}"/>
              </a:ext>
            </a:extLst>
          </p:cNvPr>
          <p:cNvSpPr txBox="1"/>
          <p:nvPr/>
        </p:nvSpPr>
        <p:spPr>
          <a:xfrm>
            <a:off x="304800" y="306969"/>
            <a:ext cx="4445252" cy="538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3200" dirty="0">
                <a:latin typeface="+mj-lt"/>
                <a:ea typeface="+mj-ea"/>
                <a:cs typeface="+mj-cs"/>
              </a:rPr>
              <a:t>Статус работы</a:t>
            </a:r>
          </a:p>
        </p:txBody>
      </p:sp>
      <p:cxnSp>
        <p:nvCxnSpPr>
          <p:cNvPr id="10" name="Straight Connector 7">
            <a:extLst>
              <a:ext uri="{FF2B5EF4-FFF2-40B4-BE49-F238E27FC236}">
                <a16:creationId xmlns:a16="http://schemas.microsoft.com/office/drawing/2014/main" id="{0E853930-ECCE-62B1-DBD4-7C8F79CF98A8}"/>
              </a:ext>
            </a:extLst>
          </p:cNvPr>
          <p:cNvCxnSpPr/>
          <p:nvPr/>
        </p:nvCxnSpPr>
        <p:spPr>
          <a:xfrm flipH="1">
            <a:off x="304800" y="829877"/>
            <a:ext cx="11298936" cy="8641"/>
          </a:xfrm>
          <a:prstGeom prst="line">
            <a:avLst/>
          </a:prstGeom>
          <a:ln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7118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471016"/>
            <a:ext cx="10515600" cy="1325563"/>
          </a:xfrm>
        </p:spPr>
        <p:txBody>
          <a:bodyPr/>
          <a:lstStyle/>
          <a:p>
            <a:pPr algn="ctr"/>
            <a:r>
              <a:rPr lang="ru-RU" dirty="0" smtClean="0"/>
              <a:t>Приложения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393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F51146E-1C2C-043A-8B3E-B8AF2D263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27107"/>
            <a:ext cx="10793431" cy="1325563"/>
          </a:xfrm>
        </p:spPr>
        <p:txBody>
          <a:bodyPr>
            <a:normAutofit/>
          </a:bodyPr>
          <a:lstStyle/>
          <a:p>
            <a:r>
              <a:rPr lang="ru-RU" sz="3200" dirty="0"/>
              <a:t>Обзор методов моделирования управления кредитным портфелем банка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410213-9C0C-0CB8-29B7-BE89941834D1}"/>
              </a:ext>
            </a:extLst>
          </p:cNvPr>
          <p:cNvSpPr txBox="1"/>
          <p:nvPr/>
        </p:nvSpPr>
        <p:spPr>
          <a:xfrm>
            <a:off x="304800" y="1340250"/>
            <a:ext cx="40568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1. Кредитное скоринг-моделирование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636762-B063-A970-677F-21AB3441CF24}"/>
              </a:ext>
            </a:extLst>
          </p:cNvPr>
          <p:cNvSpPr txBox="1"/>
          <p:nvPr/>
        </p:nvSpPr>
        <p:spPr>
          <a:xfrm>
            <a:off x="304800" y="1667445"/>
            <a:ext cx="329681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Используется для оценки вероятности дефолта заемщика на основе исторических данных и различных факторов (финансовые показатели, кредитная история и т.д.). Модели могут быть линейными (логистическая регрессия) или нелинейными (деревья решений, нейронные сети).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77CBCA-6D1E-733E-C73C-1F5C82422706}"/>
              </a:ext>
            </a:extLst>
          </p:cNvPr>
          <p:cNvSpPr txBox="1"/>
          <p:nvPr/>
        </p:nvSpPr>
        <p:spPr>
          <a:xfrm>
            <a:off x="3647123" y="1476146"/>
            <a:ext cx="44205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2. Модели оценки потерь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054E4D-C7E2-8DC8-4AB9-97545BEC436A}"/>
              </a:ext>
            </a:extLst>
          </p:cNvPr>
          <p:cNvSpPr txBox="1"/>
          <p:nvPr/>
        </p:nvSpPr>
        <p:spPr>
          <a:xfrm>
            <a:off x="3840870" y="2180608"/>
            <a:ext cx="422679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Модели потерь по дефолту (</a:t>
            </a:r>
            <a:r>
              <a:rPr lang="ru-RU" dirty="0" err="1"/>
              <a:t>Loss</a:t>
            </a:r>
            <a:r>
              <a:rPr lang="ru-RU" dirty="0"/>
              <a:t> </a:t>
            </a:r>
            <a:r>
              <a:rPr lang="ru-RU" dirty="0" err="1"/>
              <a:t>Given</a:t>
            </a:r>
            <a:r>
              <a:rPr lang="ru-RU" dirty="0"/>
              <a:t> </a:t>
            </a:r>
            <a:r>
              <a:rPr lang="ru-RU" dirty="0" err="1"/>
              <a:t>Default</a:t>
            </a:r>
            <a:r>
              <a:rPr lang="ru-RU" dirty="0"/>
              <a:t>, LGD) </a:t>
            </a:r>
            <a:r>
              <a:rPr lang="en-US" dirty="0"/>
              <a:t>,</a:t>
            </a:r>
            <a:r>
              <a:rPr lang="ru-RU" dirty="0"/>
              <a:t> вероятности дефолта (</a:t>
            </a:r>
            <a:r>
              <a:rPr lang="ru-RU" dirty="0" err="1"/>
              <a:t>Probability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Default</a:t>
            </a:r>
            <a:r>
              <a:rPr lang="ru-RU" dirty="0"/>
              <a:t>, PD)</a:t>
            </a:r>
            <a:r>
              <a:rPr lang="en-US" dirty="0"/>
              <a:t> </a:t>
            </a:r>
            <a:r>
              <a:rPr lang="ru-RU" dirty="0"/>
              <a:t>и суммы средств, которые будут подвержены риску на момент дефолта (</a:t>
            </a:r>
            <a:r>
              <a:rPr lang="en-US" dirty="0"/>
              <a:t>Exposure at Default, EAD</a:t>
            </a:r>
            <a:r>
              <a:rPr lang="ru-RU" dirty="0"/>
              <a:t>) позволяют оценить потенциальные убытки от дефолтов. Модели потерь могут быть основаны на исторических данных или использовать методы машинного обучения.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205FAD-3083-A31C-74E9-01C113EE55A3}"/>
              </a:ext>
            </a:extLst>
          </p:cNvPr>
          <p:cNvSpPr txBox="1"/>
          <p:nvPr/>
        </p:nvSpPr>
        <p:spPr>
          <a:xfrm>
            <a:off x="7552481" y="1546698"/>
            <a:ext cx="4639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3. Модели стресс-тестирования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B86F36-D77E-3D99-A221-6F6E88A7C5A5}"/>
              </a:ext>
            </a:extLst>
          </p:cNvPr>
          <p:cNvSpPr txBox="1"/>
          <p:nvPr/>
        </p:nvSpPr>
        <p:spPr>
          <a:xfrm>
            <a:off x="7896248" y="2251160"/>
            <a:ext cx="436511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Оценка воздействия неблагоприятных экономических сценариев на кредитный портфель. Позволяет выявить уязвимости и подготовиться к потенциальным рискам.</a:t>
            </a:r>
          </a:p>
        </p:txBody>
      </p:sp>
      <p:cxnSp>
        <p:nvCxnSpPr>
          <p:cNvPr id="12" name="Straight Connector 7">
            <a:extLst>
              <a:ext uri="{FF2B5EF4-FFF2-40B4-BE49-F238E27FC236}">
                <a16:creationId xmlns:a16="http://schemas.microsoft.com/office/drawing/2014/main" id="{0E853930-ECCE-62B1-DBD4-7C8F79CF98A8}"/>
              </a:ext>
            </a:extLst>
          </p:cNvPr>
          <p:cNvCxnSpPr/>
          <p:nvPr/>
        </p:nvCxnSpPr>
        <p:spPr>
          <a:xfrm flipH="1">
            <a:off x="304800" y="1223662"/>
            <a:ext cx="11298936" cy="8641"/>
          </a:xfrm>
          <a:prstGeom prst="line">
            <a:avLst/>
          </a:prstGeom>
          <a:ln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3635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39199E-8B1C-CB78-B8E3-32113A33FB9A}"/>
              </a:ext>
            </a:extLst>
          </p:cNvPr>
          <p:cNvSpPr txBox="1"/>
          <p:nvPr/>
        </p:nvSpPr>
        <p:spPr>
          <a:xfrm>
            <a:off x="304800" y="306969"/>
            <a:ext cx="11426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Влияние </a:t>
            </a:r>
            <a:r>
              <a:rPr lang="ru-RU" b="1" dirty="0" err="1"/>
              <a:t>макрофакторов</a:t>
            </a:r>
            <a:r>
              <a:rPr lang="ru-RU" b="1" dirty="0"/>
              <a:t> на кредитный риск</a:t>
            </a:r>
            <a:endParaRPr lang="ru-RU" dirty="0"/>
          </a:p>
        </p:txBody>
      </p:sp>
      <p:cxnSp>
        <p:nvCxnSpPr>
          <p:cNvPr id="5" name="Straight Connector 7">
            <a:extLst>
              <a:ext uri="{FF2B5EF4-FFF2-40B4-BE49-F238E27FC236}">
                <a16:creationId xmlns:a16="http://schemas.microsoft.com/office/drawing/2014/main" id="{0E853930-ECCE-62B1-DBD4-7C8F79CF98A8}"/>
              </a:ext>
            </a:extLst>
          </p:cNvPr>
          <p:cNvCxnSpPr/>
          <p:nvPr/>
        </p:nvCxnSpPr>
        <p:spPr>
          <a:xfrm flipH="1">
            <a:off x="304800" y="829877"/>
            <a:ext cx="11298936" cy="8641"/>
          </a:xfrm>
          <a:prstGeom prst="line">
            <a:avLst/>
          </a:prstGeom>
          <a:ln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Таблица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4095920"/>
                  </p:ext>
                </p:extLst>
              </p:nvPr>
            </p:nvGraphicFramePr>
            <p:xfrm>
              <a:off x="304805" y="3886200"/>
              <a:ext cx="11298931" cy="2226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83917">
                      <a:extLst>
                        <a:ext uri="{9D8B030D-6E8A-4147-A177-3AD203B41FA5}">
                          <a16:colId xmlns:a16="http://schemas.microsoft.com/office/drawing/2014/main" val="3660266513"/>
                        </a:ext>
                      </a:extLst>
                    </a:gridCol>
                    <a:gridCol w="1960878">
                      <a:extLst>
                        <a:ext uri="{9D8B030D-6E8A-4147-A177-3AD203B41FA5}">
                          <a16:colId xmlns:a16="http://schemas.microsoft.com/office/drawing/2014/main" val="4119141953"/>
                        </a:ext>
                      </a:extLst>
                    </a:gridCol>
                    <a:gridCol w="883920">
                      <a:extLst>
                        <a:ext uri="{9D8B030D-6E8A-4147-A177-3AD203B41FA5}">
                          <a16:colId xmlns:a16="http://schemas.microsoft.com/office/drawing/2014/main" val="354668458"/>
                        </a:ext>
                      </a:extLst>
                    </a:gridCol>
                    <a:gridCol w="1737360">
                      <a:extLst>
                        <a:ext uri="{9D8B030D-6E8A-4147-A177-3AD203B41FA5}">
                          <a16:colId xmlns:a16="http://schemas.microsoft.com/office/drawing/2014/main" val="3730119409"/>
                        </a:ext>
                      </a:extLst>
                    </a:gridCol>
                    <a:gridCol w="1564640">
                      <a:extLst>
                        <a:ext uri="{9D8B030D-6E8A-4147-A177-3AD203B41FA5}">
                          <a16:colId xmlns:a16="http://schemas.microsoft.com/office/drawing/2014/main" val="1895154053"/>
                        </a:ext>
                      </a:extLst>
                    </a:gridCol>
                    <a:gridCol w="935231">
                      <a:extLst>
                        <a:ext uri="{9D8B030D-6E8A-4147-A177-3AD203B41FA5}">
                          <a16:colId xmlns:a16="http://schemas.microsoft.com/office/drawing/2014/main" val="3240049816"/>
                        </a:ext>
                      </a:extLst>
                    </a:gridCol>
                    <a:gridCol w="3332985">
                      <a:extLst>
                        <a:ext uri="{9D8B030D-6E8A-4147-A177-3AD203B41FA5}">
                          <a16:colId xmlns:a16="http://schemas.microsoft.com/office/drawing/2014/main" val="6801042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 err="1" smtClean="0"/>
                            <a:t>Тикер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Цель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l-GR" dirty="0" smtClean="0"/>
                            <a:t>α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MSE(</a:t>
                          </a:r>
                          <a:r>
                            <a:rPr lang="ru-RU" dirty="0" smtClean="0"/>
                            <a:t>модель</a:t>
                          </a:r>
                          <a:r>
                            <a:rPr lang="en-US" dirty="0" smtClean="0"/>
                            <a:t>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MSE(</a:t>
                          </a:r>
                          <a:r>
                            <a:rPr lang="ru-RU" dirty="0" err="1" smtClean="0"/>
                            <a:t>наив</a:t>
                          </a:r>
                          <a:r>
                            <a:rPr lang="ru-RU" dirty="0" smtClean="0"/>
                            <a:t>.</a:t>
                          </a:r>
                          <a:r>
                            <a:rPr lang="en-US" dirty="0" smtClean="0"/>
                            <a:t>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b="1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Доверительный интервал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34571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GAZP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Долг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3.73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0.003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0.021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0.851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0.051 [0.035, 0.073]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245958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GMKN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Капитализация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0.57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0.016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0.047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0.632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0.073 [0.017, 0.131]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054483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LKOH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Долг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0.001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0.036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0.085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0.564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-0.082 [-0.143, -0.045]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352297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SBER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Капитализация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2.95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0.023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0.030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0.253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0.035 [0.005, 0.069]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555602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ROSN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Долг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15.26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0.050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0.081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0.347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-0.094 [-0.144, -0.040]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005305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Таблица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4095920"/>
                  </p:ext>
                </p:extLst>
              </p:nvPr>
            </p:nvGraphicFramePr>
            <p:xfrm>
              <a:off x="304805" y="3886200"/>
              <a:ext cx="11298931" cy="2226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83917">
                      <a:extLst>
                        <a:ext uri="{9D8B030D-6E8A-4147-A177-3AD203B41FA5}">
                          <a16:colId xmlns:a16="http://schemas.microsoft.com/office/drawing/2014/main" val="3660266513"/>
                        </a:ext>
                      </a:extLst>
                    </a:gridCol>
                    <a:gridCol w="1960878">
                      <a:extLst>
                        <a:ext uri="{9D8B030D-6E8A-4147-A177-3AD203B41FA5}">
                          <a16:colId xmlns:a16="http://schemas.microsoft.com/office/drawing/2014/main" val="4119141953"/>
                        </a:ext>
                      </a:extLst>
                    </a:gridCol>
                    <a:gridCol w="883920">
                      <a:extLst>
                        <a:ext uri="{9D8B030D-6E8A-4147-A177-3AD203B41FA5}">
                          <a16:colId xmlns:a16="http://schemas.microsoft.com/office/drawing/2014/main" val="354668458"/>
                        </a:ext>
                      </a:extLst>
                    </a:gridCol>
                    <a:gridCol w="1737360">
                      <a:extLst>
                        <a:ext uri="{9D8B030D-6E8A-4147-A177-3AD203B41FA5}">
                          <a16:colId xmlns:a16="http://schemas.microsoft.com/office/drawing/2014/main" val="3730119409"/>
                        </a:ext>
                      </a:extLst>
                    </a:gridCol>
                    <a:gridCol w="1564640">
                      <a:extLst>
                        <a:ext uri="{9D8B030D-6E8A-4147-A177-3AD203B41FA5}">
                          <a16:colId xmlns:a16="http://schemas.microsoft.com/office/drawing/2014/main" val="1895154053"/>
                        </a:ext>
                      </a:extLst>
                    </a:gridCol>
                    <a:gridCol w="935231">
                      <a:extLst>
                        <a:ext uri="{9D8B030D-6E8A-4147-A177-3AD203B41FA5}">
                          <a16:colId xmlns:a16="http://schemas.microsoft.com/office/drawing/2014/main" val="3240049816"/>
                        </a:ext>
                      </a:extLst>
                    </a:gridCol>
                    <a:gridCol w="3332985">
                      <a:extLst>
                        <a:ext uri="{9D8B030D-6E8A-4147-A177-3AD203B41FA5}">
                          <a16:colId xmlns:a16="http://schemas.microsoft.com/office/drawing/2014/main" val="680104275"/>
                        </a:ext>
                      </a:extLst>
                    </a:gridCol>
                  </a:tblGrid>
                  <a:tr h="371920">
                    <a:tc>
                      <a:txBody>
                        <a:bodyPr/>
                        <a:lstStyle/>
                        <a:p>
                          <a:r>
                            <a:rPr lang="ru-RU" dirty="0" err="1" smtClean="0"/>
                            <a:t>Тикер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Цель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l-GR" dirty="0" smtClean="0"/>
                            <a:t>α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MSE(</a:t>
                          </a:r>
                          <a:r>
                            <a:rPr lang="ru-RU" dirty="0" smtClean="0"/>
                            <a:t>модель</a:t>
                          </a:r>
                          <a:r>
                            <a:rPr lang="en-US" dirty="0" smtClean="0"/>
                            <a:t>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MSE(</a:t>
                          </a:r>
                          <a:r>
                            <a:rPr lang="ru-RU" dirty="0" err="1" smtClean="0"/>
                            <a:t>наив</a:t>
                          </a:r>
                          <a:r>
                            <a:rPr lang="ru-RU" dirty="0" smtClean="0"/>
                            <a:t>.</a:t>
                          </a:r>
                          <a:r>
                            <a:rPr lang="en-US" dirty="0" smtClean="0"/>
                            <a:t>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55556" t="-8197" r="-360131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Доверительный интервал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34571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GAZP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Долг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3.73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0.003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0.021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0.851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0.051 [0.035, 0.073]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245958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GMKN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Капитализация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0.57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0.016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0.047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0.632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0.073 [0.017, 0.131]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054483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LKOH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Долг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0.001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0.036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0.085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0.564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-0.082 [-0.143, -0.045]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352297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SBER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Капитализация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2.95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0.023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0.030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0.253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0.035 [0.005, 0.069]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555602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ROSN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Долг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15.26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0.050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0.081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0.347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-0.094 [-0.144, -0.040]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0053056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/>
          <p:cNvSpPr txBox="1"/>
          <p:nvPr/>
        </p:nvSpPr>
        <p:spPr>
          <a:xfrm>
            <a:off x="368808" y="1104826"/>
            <a:ext cx="11298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Была установлена зависимость для макропоказателей инфляции, валютной пары, безработицы с чистым долгом компании и ее стоимостью. </a:t>
            </a:r>
            <a:endParaRPr lang="en-US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304800" y="2001173"/>
            <a:ext cx="112989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GMKN</a:t>
            </a:r>
            <a:r>
              <a:rPr lang="ru-RU" dirty="0"/>
              <a:t> </a:t>
            </a:r>
            <a:r>
              <a:rPr lang="ru-RU" dirty="0" smtClean="0"/>
              <a:t>- положительное </a:t>
            </a:r>
            <a:r>
              <a:rPr lang="ru-RU" dirty="0"/>
              <a:t>влияние ослабления рубля на рыночную </a:t>
            </a:r>
            <a:r>
              <a:rPr lang="ru-RU" dirty="0" smtClean="0"/>
              <a:t>стоимость </a:t>
            </a:r>
            <a:r>
              <a:rPr lang="ru-RU" dirty="0"/>
              <a:t>компании</a:t>
            </a:r>
          </a:p>
          <a:p>
            <a:r>
              <a:rPr lang="en-US" dirty="0"/>
              <a:t>ROSN – </a:t>
            </a:r>
            <a:r>
              <a:rPr lang="ru-RU" dirty="0"/>
              <a:t>отрицательное влияние ослабления рубля на рыночную стоимость компании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61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F51146E-1C2C-043A-8B3E-B8AF2D263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27107"/>
            <a:ext cx="10793431" cy="1325563"/>
          </a:xfrm>
        </p:spPr>
        <p:txBody>
          <a:bodyPr>
            <a:normAutofit/>
          </a:bodyPr>
          <a:lstStyle/>
          <a:p>
            <a:r>
              <a:rPr lang="ru-RU" sz="3200" dirty="0"/>
              <a:t>Обзор методов моделирования управления кредитным портфелем банка</a:t>
            </a:r>
          </a:p>
        </p:txBody>
      </p:sp>
      <p:cxnSp>
        <p:nvCxnSpPr>
          <p:cNvPr id="12" name="Straight Connector 7">
            <a:extLst>
              <a:ext uri="{FF2B5EF4-FFF2-40B4-BE49-F238E27FC236}">
                <a16:creationId xmlns:a16="http://schemas.microsoft.com/office/drawing/2014/main" id="{0E853930-ECCE-62B1-DBD4-7C8F79CF98A8}"/>
              </a:ext>
            </a:extLst>
          </p:cNvPr>
          <p:cNvCxnSpPr/>
          <p:nvPr/>
        </p:nvCxnSpPr>
        <p:spPr>
          <a:xfrm flipH="1">
            <a:off x="304800" y="1223662"/>
            <a:ext cx="11298936" cy="8641"/>
          </a:xfrm>
          <a:prstGeom prst="line">
            <a:avLst/>
          </a:prstGeom>
          <a:ln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" name="Схема 1"/>
          <p:cNvGraphicFramePr/>
          <p:nvPr>
            <p:extLst>
              <p:ext uri="{D42A27DB-BD31-4B8C-83A1-F6EECF244321}">
                <p14:modId xmlns:p14="http://schemas.microsoft.com/office/powerpoint/2010/main" val="3841189767"/>
              </p:ext>
            </p:extLst>
          </p:nvPr>
        </p:nvGraphicFramePr>
        <p:xfrm>
          <a:off x="304800" y="1452670"/>
          <a:ext cx="11298936" cy="52567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77032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39199E-8B1C-CB78-B8E3-32113A33FB9A}"/>
              </a:ext>
            </a:extLst>
          </p:cNvPr>
          <p:cNvSpPr txBox="1"/>
          <p:nvPr/>
        </p:nvSpPr>
        <p:spPr>
          <a:xfrm>
            <a:off x="304800" y="306969"/>
            <a:ext cx="11426952" cy="547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3200" dirty="0" smtClean="0"/>
              <a:t>Выводы</a:t>
            </a:r>
            <a:r>
              <a:rPr lang="ru-RU" sz="3200" dirty="0"/>
              <a:t> </a:t>
            </a:r>
            <a:r>
              <a:rPr lang="ru-RU" sz="3200" dirty="0" smtClean="0"/>
              <a:t>и результаты</a:t>
            </a:r>
            <a:endParaRPr lang="ru-RU" sz="3200" dirty="0">
              <a:latin typeface="+mj-lt"/>
              <a:ea typeface="+mj-ea"/>
              <a:cs typeface="+mj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04799" y="1560945"/>
            <a:ext cx="1125912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Составлен кредитный портфель из российских акций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Рассчитаны вероятности дефолта каждой из компаний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Проанализировано влияние инфляции и процентной ставки на кредитный риск портфеля.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При текущем подходе не было установлено, что инфляция и процентная ставка оказывают статистически значимое влияние на кредитный портфель в целом. Далее предполагается рассматривать влияние этих и других факторов (безработицы и валютных пар) на каждый сектор в отдельности.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907144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988925F-A5E5-757D-6379-B64028EF05CF}"/>
              </a:ext>
            </a:extLst>
          </p:cNvPr>
          <p:cNvSpPr txBox="1"/>
          <p:nvPr/>
        </p:nvSpPr>
        <p:spPr>
          <a:xfrm>
            <a:off x="304800" y="1405282"/>
            <a:ext cx="113047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Какие эконом показатели можно </a:t>
            </a:r>
            <a:r>
              <a:rPr lang="ru-RU" b="1" dirty="0" smtClean="0"/>
              <a:t>использовать:</a:t>
            </a:r>
            <a:r>
              <a:rPr lang="en-US" b="1" dirty="0" smtClean="0"/>
              <a:t> </a:t>
            </a:r>
            <a:r>
              <a:rPr lang="ru-RU" dirty="0" smtClean="0"/>
              <a:t>Численность занятости</a:t>
            </a:r>
            <a:r>
              <a:rPr lang="en-US" dirty="0" smtClean="0"/>
              <a:t>, </a:t>
            </a:r>
            <a:r>
              <a:rPr lang="ru-RU" dirty="0" smtClean="0"/>
              <a:t>Экспорт</a:t>
            </a:r>
            <a:r>
              <a:rPr lang="en-US" dirty="0" smtClean="0"/>
              <a:t>,</a:t>
            </a:r>
            <a:r>
              <a:rPr lang="ru-RU" dirty="0" smtClean="0"/>
              <a:t> Импорт</a:t>
            </a:r>
            <a:r>
              <a:rPr lang="en-US" dirty="0" smtClean="0"/>
              <a:t>, </a:t>
            </a:r>
            <a:r>
              <a:rPr lang="ru-RU" dirty="0" smtClean="0"/>
              <a:t>Инфляция</a:t>
            </a:r>
            <a:r>
              <a:rPr lang="en-US" dirty="0" smtClean="0"/>
              <a:t>, </a:t>
            </a:r>
            <a:r>
              <a:rPr lang="ru-RU" dirty="0" smtClean="0"/>
              <a:t>Госдолг</a:t>
            </a:r>
            <a:r>
              <a:rPr lang="en-US" dirty="0" smtClean="0"/>
              <a:t>, </a:t>
            </a:r>
            <a:r>
              <a:rPr lang="ru-RU" dirty="0" smtClean="0"/>
              <a:t>Безработица</a:t>
            </a:r>
            <a:r>
              <a:rPr lang="en-US" dirty="0" smtClean="0"/>
              <a:t>, </a:t>
            </a:r>
            <a:r>
              <a:rPr lang="ru-RU" dirty="0" smtClean="0"/>
              <a:t>Темпы </a:t>
            </a:r>
            <a:r>
              <a:rPr lang="ru-RU" dirty="0"/>
              <a:t>роста </a:t>
            </a:r>
            <a:r>
              <a:rPr lang="ru-RU" dirty="0" smtClean="0"/>
              <a:t>ВВП</a:t>
            </a:r>
            <a:r>
              <a:rPr lang="en-US" dirty="0" smtClean="0"/>
              <a:t>, </a:t>
            </a:r>
            <a:r>
              <a:rPr lang="ru-RU" dirty="0" smtClean="0"/>
              <a:t>Курс </a:t>
            </a:r>
            <a:r>
              <a:rPr lang="ru-RU" dirty="0"/>
              <a:t>валютной </a:t>
            </a:r>
            <a:endParaRPr lang="ru-RU" dirty="0" smtClean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F0CD3E-CE68-4E3F-662A-46EBACD01C04}"/>
              </a:ext>
            </a:extLst>
          </p:cNvPr>
          <p:cNvSpPr txBox="1"/>
          <p:nvPr/>
        </p:nvSpPr>
        <p:spPr>
          <a:xfrm>
            <a:off x="6749850" y="4611117"/>
            <a:ext cx="2445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0000FF"/>
                </a:solidFill>
                <a:latin typeface="TimesNewRomanPS-BoldMT"/>
              </a:rPr>
              <a:t>Дерево решений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9714C3-0626-87EE-98CD-E1CC8B1FA932}"/>
              </a:ext>
            </a:extLst>
          </p:cNvPr>
          <p:cNvSpPr txBox="1"/>
          <p:nvPr/>
        </p:nvSpPr>
        <p:spPr>
          <a:xfrm>
            <a:off x="3226199" y="4418239"/>
            <a:ext cx="2723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0000FF"/>
                </a:solidFill>
                <a:latin typeface="TimesNewRomanPS-BoldMT"/>
              </a:rPr>
              <a:t>Нейронная сеть 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107C020C-63FC-9A5A-B335-506AF196CAC5}"/>
              </a:ext>
            </a:extLst>
          </p:cNvPr>
          <p:cNvSpPr txBox="1">
            <a:spLocks/>
          </p:cNvSpPr>
          <p:nvPr/>
        </p:nvSpPr>
        <p:spPr>
          <a:xfrm>
            <a:off x="304800" y="13279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/>
              <a:t>Оценка вероятности дефолта с учетом макроэкономических компонент</a:t>
            </a:r>
          </a:p>
        </p:txBody>
      </p:sp>
      <p:cxnSp>
        <p:nvCxnSpPr>
          <p:cNvPr id="12" name="Straight Connector 7">
            <a:extLst>
              <a:ext uri="{FF2B5EF4-FFF2-40B4-BE49-F238E27FC236}">
                <a16:creationId xmlns:a16="http://schemas.microsoft.com/office/drawing/2014/main" id="{0E853930-ECCE-62B1-DBD4-7C8F79CF98A8}"/>
              </a:ext>
            </a:extLst>
          </p:cNvPr>
          <p:cNvCxnSpPr/>
          <p:nvPr/>
        </p:nvCxnSpPr>
        <p:spPr>
          <a:xfrm flipH="1">
            <a:off x="304800" y="1223662"/>
            <a:ext cx="11298936" cy="8641"/>
          </a:xfrm>
          <a:prstGeom prst="line">
            <a:avLst/>
          </a:prstGeom>
          <a:ln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746997BD-4379-0CC3-174F-952BF4BF9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618" y="2154741"/>
            <a:ext cx="3488602" cy="968278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Виды риска</a:t>
            </a:r>
          </a:p>
        </p:txBody>
      </p:sp>
      <p:sp>
        <p:nvSpPr>
          <p:cNvPr id="19" name="Скругленный прямоугольник 18"/>
          <p:cNvSpPr/>
          <p:nvPr/>
        </p:nvSpPr>
        <p:spPr>
          <a:xfrm>
            <a:off x="304800" y="2156151"/>
            <a:ext cx="11289318" cy="4539289"/>
          </a:xfrm>
          <a:prstGeom prst="roundRect">
            <a:avLst>
              <a:gd name="adj" fmla="val 3363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Скругленный прямоугольник 20"/>
          <p:cNvSpPr/>
          <p:nvPr/>
        </p:nvSpPr>
        <p:spPr>
          <a:xfrm>
            <a:off x="435161" y="2574367"/>
            <a:ext cx="3634060" cy="526413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endParaRPr lang="ru-RU" sz="2400" dirty="0"/>
          </a:p>
        </p:txBody>
      </p:sp>
      <p:sp>
        <p:nvSpPr>
          <p:cNvPr id="29" name="TextBox 28"/>
          <p:cNvSpPr txBox="1"/>
          <p:nvPr/>
        </p:nvSpPr>
        <p:spPr>
          <a:xfrm>
            <a:off x="429054" y="2637710"/>
            <a:ext cx="3632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rgbClr val="0000FF"/>
                </a:solidFill>
                <a:latin typeface="TimesNewRomanPS-BoldMT"/>
              </a:rPr>
              <a:t>Логистическая регрессия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2EC7A3-E3BC-7DF7-D893-1AA17BB8889E}"/>
              </a:ext>
            </a:extLst>
          </p:cNvPr>
          <p:cNvSpPr txBox="1"/>
          <p:nvPr/>
        </p:nvSpPr>
        <p:spPr>
          <a:xfrm>
            <a:off x="304800" y="2202790"/>
            <a:ext cx="5645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Задача классификации. Способы решения:</a:t>
            </a:r>
          </a:p>
        </p:txBody>
      </p:sp>
      <p:sp>
        <p:nvSpPr>
          <p:cNvPr id="38" name="Скругленный прямоугольник 37"/>
          <p:cNvSpPr/>
          <p:nvPr/>
        </p:nvSpPr>
        <p:spPr>
          <a:xfrm>
            <a:off x="4133455" y="2578160"/>
            <a:ext cx="3634060" cy="52262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endParaRPr lang="ru-RU" sz="2400" dirty="0"/>
          </a:p>
        </p:txBody>
      </p:sp>
      <p:sp>
        <p:nvSpPr>
          <p:cNvPr id="39" name="Скругленный прямоугольник 38"/>
          <p:cNvSpPr/>
          <p:nvPr/>
        </p:nvSpPr>
        <p:spPr>
          <a:xfrm>
            <a:off x="7833505" y="2596203"/>
            <a:ext cx="3634060" cy="504577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endParaRPr lang="ru-RU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7E3E1D-68D6-F70B-EB94-34A4CFCE84CE}"/>
              </a:ext>
            </a:extLst>
          </p:cNvPr>
          <p:cNvSpPr txBox="1"/>
          <p:nvPr/>
        </p:nvSpPr>
        <p:spPr>
          <a:xfrm>
            <a:off x="429054" y="3180021"/>
            <a:ext cx="363236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B050"/>
                </a:solidFill>
              </a:rPr>
              <a:t>1. Простота и </a:t>
            </a:r>
            <a:r>
              <a:rPr lang="ru-RU" dirty="0" smtClean="0">
                <a:solidFill>
                  <a:srgbClr val="00B050"/>
                </a:solidFill>
              </a:rPr>
              <a:t>интерпретируемость</a:t>
            </a:r>
            <a:endParaRPr lang="ru-RU" dirty="0">
              <a:solidFill>
                <a:srgbClr val="00B050"/>
              </a:solidFill>
            </a:endParaRPr>
          </a:p>
          <a:p>
            <a:r>
              <a:rPr lang="ru-RU" dirty="0">
                <a:solidFill>
                  <a:srgbClr val="00B050"/>
                </a:solidFill>
              </a:rPr>
              <a:t>2. Быстрота </a:t>
            </a:r>
            <a:r>
              <a:rPr lang="ru-RU" dirty="0" smtClean="0">
                <a:solidFill>
                  <a:srgbClr val="00B050"/>
                </a:solidFill>
              </a:rPr>
              <a:t>обучения</a:t>
            </a:r>
            <a:endParaRPr lang="ru-RU" dirty="0">
              <a:solidFill>
                <a:srgbClr val="00B050"/>
              </a:solidFill>
            </a:endParaRPr>
          </a:p>
          <a:p>
            <a:r>
              <a:rPr lang="ru-RU" dirty="0">
                <a:solidFill>
                  <a:srgbClr val="00B050"/>
                </a:solidFill>
              </a:rPr>
              <a:t>3. </a:t>
            </a:r>
            <a:r>
              <a:rPr lang="ru-RU" dirty="0" err="1">
                <a:solidFill>
                  <a:srgbClr val="00B050"/>
                </a:solidFill>
              </a:rPr>
              <a:t>Малочувствитель-ность</a:t>
            </a:r>
            <a:r>
              <a:rPr lang="ru-RU" dirty="0">
                <a:solidFill>
                  <a:srgbClr val="00B050"/>
                </a:solidFill>
              </a:rPr>
              <a:t> к выбросам</a:t>
            </a:r>
          </a:p>
          <a:p>
            <a:endParaRPr lang="ru-RU" dirty="0"/>
          </a:p>
          <a:p>
            <a:r>
              <a:rPr lang="ru-RU" dirty="0">
                <a:solidFill>
                  <a:srgbClr val="C00000"/>
                </a:solidFill>
              </a:rPr>
              <a:t>1. Линейная зависимость</a:t>
            </a:r>
          </a:p>
          <a:p>
            <a:r>
              <a:rPr lang="ru-RU" dirty="0">
                <a:solidFill>
                  <a:srgbClr val="C00000"/>
                </a:solidFill>
              </a:rPr>
              <a:t>2. Неэффективность на сложных данных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3D679C-4D28-2FE6-FDD7-FDE4D34BC585}"/>
              </a:ext>
            </a:extLst>
          </p:cNvPr>
          <p:cNvSpPr txBox="1"/>
          <p:nvPr/>
        </p:nvSpPr>
        <p:spPr>
          <a:xfrm>
            <a:off x="4133455" y="3180021"/>
            <a:ext cx="363406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rgbClr val="00B050"/>
                </a:solidFill>
              </a:rPr>
              <a:t>1. Гибкость </a:t>
            </a:r>
            <a:r>
              <a:rPr lang="ru-RU" dirty="0">
                <a:solidFill>
                  <a:srgbClr val="00B050"/>
                </a:solidFill>
              </a:rPr>
              <a:t>и </a:t>
            </a:r>
            <a:r>
              <a:rPr lang="ru-RU" dirty="0" smtClean="0">
                <a:solidFill>
                  <a:srgbClr val="00B050"/>
                </a:solidFill>
              </a:rPr>
              <a:t>мощность</a:t>
            </a:r>
            <a:endParaRPr lang="ru-RU" dirty="0">
              <a:solidFill>
                <a:srgbClr val="00B050"/>
              </a:solidFill>
            </a:endParaRPr>
          </a:p>
          <a:p>
            <a:r>
              <a:rPr lang="ru-RU" dirty="0" smtClean="0">
                <a:solidFill>
                  <a:srgbClr val="00B050"/>
                </a:solidFill>
              </a:rPr>
              <a:t>2. Обработка </a:t>
            </a:r>
            <a:r>
              <a:rPr lang="ru-RU" dirty="0">
                <a:solidFill>
                  <a:srgbClr val="00B050"/>
                </a:solidFill>
              </a:rPr>
              <a:t>больших объемов </a:t>
            </a:r>
            <a:r>
              <a:rPr lang="ru-RU" dirty="0" smtClean="0">
                <a:solidFill>
                  <a:srgbClr val="00B050"/>
                </a:solidFill>
              </a:rPr>
              <a:t>данных</a:t>
            </a:r>
            <a:endParaRPr lang="ru-RU" dirty="0">
              <a:solidFill>
                <a:srgbClr val="00B050"/>
              </a:solidFill>
            </a:endParaRPr>
          </a:p>
          <a:p>
            <a:r>
              <a:rPr lang="ru-RU" dirty="0" smtClean="0">
                <a:solidFill>
                  <a:srgbClr val="00B050"/>
                </a:solidFill>
              </a:rPr>
              <a:t>3. Автоматическое </a:t>
            </a:r>
            <a:r>
              <a:rPr lang="ru-RU" dirty="0">
                <a:solidFill>
                  <a:srgbClr val="00B050"/>
                </a:solidFill>
              </a:rPr>
              <a:t>извлечение </a:t>
            </a:r>
            <a:r>
              <a:rPr lang="ru-RU" dirty="0" smtClean="0">
                <a:solidFill>
                  <a:srgbClr val="00B050"/>
                </a:solidFill>
              </a:rPr>
              <a:t>признаков</a:t>
            </a:r>
            <a:endParaRPr lang="ru-RU" dirty="0">
              <a:solidFill>
                <a:srgbClr val="00B050"/>
              </a:solidFill>
            </a:endParaRPr>
          </a:p>
          <a:p>
            <a:r>
              <a:rPr lang="ru-RU" dirty="0" smtClean="0">
                <a:solidFill>
                  <a:srgbClr val="00B050"/>
                </a:solidFill>
              </a:rPr>
              <a:t>4. Разнообразие архитектур</a:t>
            </a:r>
            <a:endParaRPr lang="ru-RU" dirty="0">
              <a:solidFill>
                <a:srgbClr val="00B050"/>
              </a:solidFill>
            </a:endParaRPr>
          </a:p>
          <a:p>
            <a:endParaRPr lang="ru-RU" dirty="0"/>
          </a:p>
          <a:p>
            <a:r>
              <a:rPr lang="ru-RU" dirty="0" smtClean="0">
                <a:solidFill>
                  <a:srgbClr val="C00000"/>
                </a:solidFill>
              </a:rPr>
              <a:t>1. Сложность </a:t>
            </a:r>
            <a:r>
              <a:rPr lang="ru-RU" dirty="0">
                <a:solidFill>
                  <a:srgbClr val="C00000"/>
                </a:solidFill>
              </a:rPr>
              <a:t>и </a:t>
            </a:r>
            <a:r>
              <a:rPr lang="ru-RU" dirty="0" smtClean="0">
                <a:solidFill>
                  <a:srgbClr val="C00000"/>
                </a:solidFill>
              </a:rPr>
              <a:t>непрозрачность</a:t>
            </a:r>
            <a:endParaRPr lang="ru-RU" dirty="0">
              <a:solidFill>
                <a:srgbClr val="C00000"/>
              </a:solidFill>
            </a:endParaRPr>
          </a:p>
          <a:p>
            <a:r>
              <a:rPr lang="en-US" dirty="0" smtClean="0">
                <a:solidFill>
                  <a:srgbClr val="C00000"/>
                </a:solidFill>
              </a:rPr>
              <a:t>2</a:t>
            </a:r>
            <a:r>
              <a:rPr lang="ru-RU" dirty="0" smtClean="0">
                <a:solidFill>
                  <a:srgbClr val="C00000"/>
                </a:solidFill>
              </a:rPr>
              <a:t>. Необходимость </a:t>
            </a:r>
            <a:r>
              <a:rPr lang="ru-RU" dirty="0">
                <a:solidFill>
                  <a:srgbClr val="C00000"/>
                </a:solidFill>
              </a:rPr>
              <a:t>в большом объеме данных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371475-214A-6C91-6EA2-6329640B4028}"/>
              </a:ext>
            </a:extLst>
          </p:cNvPr>
          <p:cNvSpPr txBox="1"/>
          <p:nvPr/>
        </p:nvSpPr>
        <p:spPr>
          <a:xfrm>
            <a:off x="7829109" y="3180021"/>
            <a:ext cx="363581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B050"/>
                </a:solidFill>
              </a:rPr>
              <a:t>1. Интерпретируемость</a:t>
            </a:r>
          </a:p>
          <a:p>
            <a:r>
              <a:rPr lang="ru-RU" dirty="0">
                <a:solidFill>
                  <a:srgbClr val="00B050"/>
                </a:solidFill>
              </a:rPr>
              <a:t>2. Не требует нормализации данных</a:t>
            </a:r>
          </a:p>
          <a:p>
            <a:r>
              <a:rPr lang="ru-RU" dirty="0">
                <a:solidFill>
                  <a:srgbClr val="00B050"/>
                </a:solidFill>
              </a:rPr>
              <a:t>3. Обработка как числовых, так и категориальных данных</a:t>
            </a:r>
          </a:p>
          <a:p>
            <a:r>
              <a:rPr lang="ru-RU" dirty="0">
                <a:solidFill>
                  <a:srgbClr val="00B050"/>
                </a:solidFill>
              </a:rPr>
              <a:t>4. Способность выявлять взаимодействия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dirty="0"/>
          </a:p>
          <a:p>
            <a:r>
              <a:rPr lang="ru-RU" dirty="0">
                <a:solidFill>
                  <a:srgbClr val="C00000"/>
                </a:solidFill>
              </a:rPr>
              <a:t>1. Переобучение</a:t>
            </a:r>
          </a:p>
          <a:p>
            <a:r>
              <a:rPr lang="ru-RU" dirty="0">
                <a:solidFill>
                  <a:srgbClr val="C00000"/>
                </a:solidFill>
              </a:rPr>
              <a:t>2. Чувствительность к изменениям в данных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35211" y="2637710"/>
            <a:ext cx="3632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>
                <a:solidFill>
                  <a:srgbClr val="0000FF"/>
                </a:solidFill>
                <a:latin typeface="TimesNewRomanPS-BoldMT"/>
              </a:rPr>
              <a:t>Нейронная сеть</a:t>
            </a:r>
            <a:endParaRPr lang="ru-RU" b="1" dirty="0">
              <a:solidFill>
                <a:srgbClr val="0000FF"/>
              </a:solidFill>
              <a:latin typeface="TimesNewRomanPS-BoldMT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831749" y="2637710"/>
            <a:ext cx="363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>
                <a:solidFill>
                  <a:srgbClr val="0000FF"/>
                </a:solidFill>
                <a:latin typeface="TimesNewRomanPS-BoldMT"/>
              </a:rPr>
              <a:t>Дерево решений</a:t>
            </a:r>
            <a:endParaRPr lang="ru-RU" b="1" dirty="0">
              <a:solidFill>
                <a:srgbClr val="0000FF"/>
              </a:solidFill>
              <a:latin typeface="TimesNewRomanPS-BoldMT"/>
            </a:endParaRPr>
          </a:p>
        </p:txBody>
      </p:sp>
    </p:spTree>
    <p:extLst>
      <p:ext uri="{BB962C8B-B14F-4D97-AF65-F5344CB8AC3E}">
        <p14:creationId xmlns:p14="http://schemas.microsoft.com/office/powerpoint/2010/main" val="2231965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0F55B-977B-0EBE-E0BF-28E365AB2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253058"/>
            <a:ext cx="5791200" cy="513297"/>
          </a:xfrm>
        </p:spPr>
        <p:txBody>
          <a:bodyPr>
            <a:normAutofit/>
          </a:bodyPr>
          <a:lstStyle/>
          <a:p>
            <a:r>
              <a:rPr lang="ru-RU" sz="2000" b="1" dirty="0">
                <a:latin typeface="TimesNewRomanPS-BoldMT"/>
                <a:ea typeface="+mn-ea"/>
                <a:cs typeface="+mn-cs"/>
              </a:rPr>
              <a:t>Что сделано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39199E-8B1C-CB78-B8E3-32113A33FB9A}"/>
              </a:ext>
            </a:extLst>
          </p:cNvPr>
          <p:cNvSpPr txBox="1"/>
          <p:nvPr/>
        </p:nvSpPr>
        <p:spPr>
          <a:xfrm>
            <a:off x="304800" y="306969"/>
            <a:ext cx="4445252" cy="538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3200" dirty="0">
                <a:latin typeface="+mj-lt"/>
                <a:ea typeface="+mj-ea"/>
                <a:cs typeface="+mj-cs"/>
              </a:rPr>
              <a:t>Статус работы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5798165-6207-E543-65F9-0E42485ADD5B}"/>
              </a:ext>
            </a:extLst>
          </p:cNvPr>
          <p:cNvSpPr txBox="1">
            <a:spLocks/>
          </p:cNvSpPr>
          <p:nvPr/>
        </p:nvSpPr>
        <p:spPr>
          <a:xfrm>
            <a:off x="6096000" y="1252351"/>
            <a:ext cx="5507736" cy="5132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latin typeface="TimesNewRomanPS-BoldMT"/>
                <a:ea typeface="+mn-ea"/>
                <a:cs typeface="+mn-cs"/>
              </a:rPr>
              <a:t>Что предстоит сделать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A969C0-006E-1436-DBB8-8F334DBD9C0E}"/>
              </a:ext>
            </a:extLst>
          </p:cNvPr>
          <p:cNvSpPr txBox="1"/>
          <p:nvPr/>
        </p:nvSpPr>
        <p:spPr>
          <a:xfrm>
            <a:off x="304800" y="1848121"/>
            <a:ext cx="57912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 smtClean="0"/>
              <a:t>Проанализированы данные </a:t>
            </a:r>
            <a:r>
              <a:rPr lang="ru-RU" sz="2000" dirty="0"/>
              <a:t>макроэкономических показателей (ВВП, инфляция, и др.) для Москвы.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Изучены подходы к моделированию кредитного портфеля</a:t>
            </a:r>
            <a:r>
              <a:rPr lang="en-US" sz="2000" dirty="0"/>
              <a:t>.</a:t>
            </a:r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Освоены способы численного решения оптимизационных задач средствами языка </a:t>
            </a:r>
            <a:r>
              <a:rPr lang="en-US" sz="2000" dirty="0"/>
              <a:t>Python (</a:t>
            </a:r>
            <a:r>
              <a:rPr lang="ru-RU" sz="2000" dirty="0"/>
              <a:t>библиотека </a:t>
            </a:r>
            <a:r>
              <a:rPr lang="en-US" sz="2000" dirty="0" err="1"/>
              <a:t>scipy</a:t>
            </a:r>
            <a:r>
              <a:rPr lang="en-US" sz="20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Изучены алгоритмы машинного обучения решения задачи бинарной  классификации</a:t>
            </a:r>
            <a:r>
              <a:rPr lang="en-US" sz="2000" dirty="0"/>
              <a:t>.</a:t>
            </a:r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15EBE5-79BC-BBD0-8818-314F358FAA69}"/>
              </a:ext>
            </a:extLst>
          </p:cNvPr>
          <p:cNvSpPr txBox="1"/>
          <p:nvPr/>
        </p:nvSpPr>
        <p:spPr>
          <a:xfrm>
            <a:off x="6096001" y="1766356"/>
            <a:ext cx="5507735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Сформулировать оптимизационную задачу, которая будет решаться в работе</a:t>
            </a:r>
            <a:r>
              <a:rPr lang="en-US" sz="2000" dirty="0"/>
              <a:t>.</a:t>
            </a:r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Произвести выбор компаний, которые будут включены в кредитный портфель</a:t>
            </a:r>
            <a:r>
              <a:rPr lang="en-US" sz="2000" dirty="0"/>
              <a:t>.</a:t>
            </a:r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Произвести прогноз макроэкономических показателей в будущее.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Провести моделирование кредитного портфеля</a:t>
            </a:r>
            <a:r>
              <a:rPr lang="en-US" sz="2000" dirty="0"/>
              <a:t>. </a:t>
            </a:r>
            <a:r>
              <a:rPr lang="ru-RU" sz="2000" dirty="0"/>
              <a:t>Изучить, как волатильность макроэкономических показателей влияет на волатильность портфеля.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853930-ECCE-62B1-DBD4-7C8F79CF98A8}"/>
              </a:ext>
            </a:extLst>
          </p:cNvPr>
          <p:cNvCxnSpPr/>
          <p:nvPr/>
        </p:nvCxnSpPr>
        <p:spPr>
          <a:xfrm flipH="1">
            <a:off x="304800" y="829877"/>
            <a:ext cx="11298936" cy="8641"/>
          </a:xfrm>
          <a:prstGeom prst="line">
            <a:avLst/>
          </a:prstGeom>
          <a:ln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7533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313" y="2728815"/>
            <a:ext cx="4115374" cy="14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92169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905.512"/>
  <p:tag name="ORIGINALWIDTH" val="4312.711"/>
  <p:tag name="LATEXADDIN" val="\documentclass{article}&#10;\usepackage{amsmath}&#10;\pagestyle{empty}&#10;\usepackage[utf8]{inputenc}    % Для кодировки UTF-8&#10;\usepackage[russian]{babel}    % Для русского языка&#10;\usepackage[T2A]{fontenc}      % Для шрифтов&#10;\begin{document}&#10;&#10;$$&#10;\begin{cases}&#10;\max \ Y = \sum_{i=1}^{N} y_i \cdot n_i \cdot w_i, \\[5pt]&#10;\sum_{i=1}^{N} w_i \cdot n_i \leq 1, \quad  \\[5pt]&#10;\sum_{i=1}^{N} PD_i \cdot n_i \cdot w_i \leq PD_{\text{допуст}}, \quad \\[5pt]&#10;n_i \in \{0, 1\}, \quad \forall i = 1, \dots, N, \\[5pt]&#10;\sum_{i \in \text{Группа } k} w_i \cdot n_i = \alpha_k, \quad \forall k \in \{A, B, C, D\}. \quad &#10;\end{cases}&#10;$$&#10;&#10;&#10;\end{document}"/>
  <p:tag name="IGUANATEXSIZE" val="20"/>
  <p:tag name="IGUANATEXCURSOR" val="0"/>
  <p:tag name="TRANSPARENCY" val="True"/>
  <p:tag name="FILENAME" val=""/>
  <p:tag name="LATEXENGINEID" val="0"/>
  <p:tag name="TEMPFOLDER" val=".\temp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311.2111"/>
  <p:tag name="ORIGINALWIDTH" val="2369.704"/>
  <p:tag name="LATEXADDIN" val="\documentclass{article}&#10;\usepackage{amsmath}&#10;\pagestyle{empty}&#10;\begin{document}&#10;$&#10;y_i = \frac{1 + r_f}{PD_i \cdot (1 - LGD) + (1 - PD_i)} &#10;$&#10;&#10;\end{document}"/>
  <p:tag name="IGUANATEXSIZE" val="18"/>
  <p:tag name="IGUANATEXCURSOR" val="140"/>
  <p:tag name="TRANSPARENCY" val="True"/>
  <p:tag name="FILENAME" val=""/>
  <p:tag name="LATEXENGINEID" val="0"/>
  <p:tag name="TEMPFOLDER" val=".\temp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58.7177"/>
  <p:tag name="ORIGINALWIDTH" val="677.9153"/>
  <p:tag name="LATEXADDIN" val="\documentclass{article}&#10;\usepackage{amsmath}&#10;\pagestyle{empty}&#10;\begin{document}&#10;&#10;&#10;$w_i = \frac{V_i}{V}$&#10;&#10;\end{document}"/>
  <p:tag name="IGUANATEXSIZE" val="18"/>
  <p:tag name="IGUANATEXCURSOR" val="102"/>
  <p:tag name="TRANSPARENCY" val="True"/>
  <p:tag name="FILENAME" val=""/>
  <p:tag name="LATEXENGINEID" val="0"/>
  <p:tag name="TEMPFOLDER" val=".\temp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01.7248"/>
  <p:tag name="ORIGINALWIDTH" val="1234.346"/>
  <p:tag name="LATEXADDIN" val="\documentclass{article}&#10;\usepackage{amsmath}&#10;\pagestyle{empty}&#10;\usepackage[utf8]{inputenc}    % Для кодировки UTF-8&#10;\usepackage[russian]{babel}    % Для русского языка&#10;\usepackage[T2A]{fontenc}      % Для шрифтов&#10;\begin{document}&#10;&#10;$&#10;PD_{\text{допустимый}} &#10;$&#10;\end{document}"/>
  <p:tag name="IGUANATEXSIZE" val="18"/>
  <p:tag name="IGUANATEXCURSOR" val="258"/>
  <p:tag name="TRANSPARENCY" val="True"/>
  <p:tag name="FILENAME" val=""/>
  <p:tag name="LATEXENGINEID" val="0"/>
  <p:tag name="TEMPFOLDER" val=".\temp\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23.7346"/>
  <p:tag name="ORIGINALWIDTH" val="206.9741"/>
  <p:tag name="LATEXADDIN" val="\documentclass{article}&#10;\usepackage{amsmath}&#10;\pagestyle{empty}&#10;\begin{document}&#10;&#10;$\alpha_k $&#10;&#10;&#10;\end{document}"/>
  <p:tag name="IGUANATEXSIZE" val="18"/>
  <p:tag name="IGUANATEXCURSOR" val="91"/>
  <p:tag name="TRANSPARENCY" val="True"/>
  <p:tag name="FILENAME" val=""/>
  <p:tag name="LATEXENGINEID" val="0"/>
  <p:tag name="TEMPFOLDER" val=".\temp\"/>
  <p:tag name="LATEXFORMHEIGHT" val="312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06.2243"/>
  <p:tag name="ORIGINALWIDTH" val="1242.595"/>
  <p:tag name="LATEXADDIN" val="\documentclass{article}&#10;\usepackage{amsmath}&#10;\pagestyle{empty}&#10;\begin{document}&#10;&#10;&#10;$PD_i, LGD, r_f $&#10;&#10;\end{document}"/>
  <p:tag name="IGUANATEXSIZE" val="18"/>
  <p:tag name="IGUANATEXCURSOR" val="98"/>
  <p:tag name="TRANSPARENCY" val="True"/>
  <p:tag name="FILENAME" val=""/>
  <p:tag name="LATEXENGINEID" val="0"/>
  <p:tag name="TEMPFOLDER" val=".\temp\"/>
  <p:tag name="LATEXFORMHEIGHT" val="312"/>
  <p:tag name="LATEXFORMWIDTH" val="38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24.072"/>
  <p:tag name="ORIGINALWIDTH" val="3943.007"/>
  <p:tag name="LATEXADDIN" val="\documentclass{article}&#10;\usepackage{amsmath}&#10;\pagestyle{empty}&#10;\begin{document}&#10;&#10;&#10;\[&#10;\left\{&#10;\begin{aligned}&#10;&amp;f_1(x) = \left(\sum_{k=1}^n r_k b_k x_k - \sum_{j=1}^n \sigma_j y_j\right) \to \max_x, \\&#10;&amp;f_2(x) = \sum_{k=1}^n g_k b_k x_k \to \min_x.&#10;\end{aligned}&#10;\right.&#10;\]&#10;&#10;\end{document}"/>
  <p:tag name="IGUANATEXSIZE" val="20"/>
  <p:tag name="IGUANATEXCURSOR" val="271"/>
  <p:tag name="TRANSPARENCY" val="True"/>
  <p:tag name="FILENAME" val=""/>
  <p:tag name="LATEXENGINEID" val="0"/>
  <p:tag name="TEMPFOLDER" val=".\temp\"/>
  <p:tag name="LATEXFORMHEIGHT" val="312"/>
  <p:tag name="LATEXFORMWIDTH" val="384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23.7346"/>
  <p:tag name="ORIGINALWIDTH" val="170.2287"/>
  <p:tag name="LATEXADDIN" val="\documentclass{article}&#10;\usepackage{amsmath}&#10;\pagestyle{empty}&#10;\begin{document}&#10;&#10;$r_k$&#10;&#10;&#10;\end{document}"/>
  <p:tag name="IGUANATEXSIZE" val="18"/>
  <p:tag name="IGUANATEXCURSOR" val="85"/>
  <p:tag name="TRANSPARENCY" val="True"/>
  <p:tag name="FILENAME" val=""/>
  <p:tag name="LATEXENGINEID" val="0"/>
  <p:tag name="TEMPFOLDER" val=".\temp\"/>
  <p:tag name="LATEXFORMHEIGHT" val="312"/>
  <p:tag name="LATEXFORMWIDTH" val="384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76.228"/>
  <p:tag name="ORIGINALWIDTH" val="162.7297"/>
  <p:tag name="LATEXADDIN" val="\documentclass{article}&#10;\usepackage{amsmath}&#10;\pagestyle{empty}&#10;\begin{document}&#10;&#10;$b_k$&#10;&#10;&#10;\end{document}"/>
  <p:tag name="IGUANATEXSIZE" val="18"/>
  <p:tag name="IGUANATEXCURSOR" val="85"/>
  <p:tag name="TRANSPARENCY" val="True"/>
  <p:tag name="FILENAME" val=""/>
  <p:tag name="LATEXENGINEID" val="0"/>
  <p:tag name="TEMPFOLDER" val=".\temp\"/>
  <p:tag name="LATEXFORMHEIGHT" val="312"/>
  <p:tag name="LATEXFORMWIDTH" val="384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23.7346"/>
  <p:tag name="ORIGINALWIDTH" val="194.9756"/>
  <p:tag name="LATEXADDIN" val="\documentclass{article}&#10;\usepackage{amsmath}&#10;\pagestyle{empty}&#10;\begin{document}&#10;&#10;$x_k$&#10;&#10;&#10;\end{document}"/>
  <p:tag name="IGUANATEXSIZE" val="18"/>
  <p:tag name="IGUANATEXCURSOR" val="85"/>
  <p:tag name="TRANSPARENCY" val="True"/>
  <p:tag name="FILENAME" val=""/>
  <p:tag name="LATEXENGINEID" val="0"/>
  <p:tag name="TEMPFOLDER" val=".\temp\"/>
  <p:tag name="LATEXFORMHEIGHT" val="312"/>
  <p:tag name="LATEXFORMWIDTH" val="384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51.4811"/>
  <p:tag name="ORIGINALWIDTH" val="159.73"/>
  <p:tag name="LATEXADDIN" val="\documentclass{article}&#10;\usepackage{amsmath}&#10;\pagestyle{empty}&#10;\begin{document}&#10;&#10;$y_j$&#10;&#10;&#10;\end{document}"/>
  <p:tag name="IGUANATEXSIZE" val="18"/>
  <p:tag name="IGUANATEXCURSOR" val="85"/>
  <p:tag name="TRANSPARENCY" val="True"/>
  <p:tag name="FILENAME" val=""/>
  <p:tag name="LATEXENGINEID" val="0"/>
  <p:tag name="TEMPFOLDER" val=".\temp\"/>
  <p:tag name="LATEXFORMHEIGHT" val="312"/>
  <p:tag name="LATEXFORMWIDTH" val="384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9.2313"/>
  <p:tag name="ORIGINALWIDTH" val="174.7282"/>
  <p:tag name="LATEXADDIN" val="\documentclass{article}&#10;\usepackage{amsmath}&#10;\pagestyle{empty}&#10;\begin{document}&#10;&#10;$\sigma_j$&#10;&#10;&#10;\end{document}"/>
  <p:tag name="IGUANATEXSIZE" val="18"/>
  <p:tag name="IGUANATEXCURSOR" val="90"/>
  <p:tag name="TRANSPARENCY" val="True"/>
  <p:tag name="FILENAME" val=""/>
  <p:tag name="LATEXENGINEID" val="0"/>
  <p:tag name="TEMPFOLDER" val=".\temp\"/>
  <p:tag name="LATEXFORMHEIGHT" val="312"/>
  <p:tag name="LATEXFORMWIDTH" val="384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25.7218"/>
  <p:tag name="ORIGINALWIDTH" val="2956.13"/>
  <p:tag name="LATEXADDIN" val="\documentclass{article}&#10;\usepackage{amsmath}&#10;\pagestyle{empty}&#10;\begin{document}&#10;$E = A \cdot N(d_1) - L \cdot e^{-rT}\cdot N(d_2)$&#10;&#10;&#10;&#10;\end{document}"/>
  <p:tag name="IGUANATEXSIZE" val="20"/>
  <p:tag name="IGUANATEXCURSOR" val="80"/>
  <p:tag name="TRANSPARENCY" val="True"/>
  <p:tag name="FILENAME" val=""/>
  <p:tag name="LATEXENGINEID" val="0"/>
  <p:tag name="TEMPFOLDER" val=".\temp\"/>
  <p:tag name="LATEXFORMHEIGHT" val="312"/>
  <p:tag name="LATEXFORMWIDTH" val="384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19.985"/>
  <p:tag name="ORIGINALWIDTH" val="228.7214"/>
  <p:tag name="LATEXADDIN" val="\documentclass{article}&#10;\usepackage{amsmath}&#10;\pagestyle{empty}&#10;\begin{document}&#10;&#10;$\sigma_A$&#10;&#10;&#10;\end{document}"/>
  <p:tag name="IGUANATEXSIZE" val="18"/>
  <p:tag name="IGUANATEXCURSOR" val="90"/>
  <p:tag name="TRANSPARENCY" val="True"/>
  <p:tag name="FILENAME" val=""/>
  <p:tag name="LATEXENGINEID" val="0"/>
  <p:tag name="TEMPFOLDER" val=".\temp\"/>
  <p:tag name="LATEXFORMHEIGHT" val="312"/>
  <p:tag name="LATEXFORMWIDTH" val="384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539.1826"/>
  <p:tag name="ORIGINALWIDTH" val="2567.679"/>
  <p:tag name="LATEXADDIN" val="\documentclass{article}&#10;\usepackage{amsmath}&#10;\pagestyle{empty}&#10;\begin{document}&#10;&#10;&#10;$$d_1 = \frac{\ln\left(\frac{A}{L}\right) + \left(r + 0.5\sigma_A^2\right)T}{\sigma_A \sqrt{T}}$$  &#10;\end{document}"/>
  <p:tag name="IGUANATEXSIZE" val="20"/>
  <p:tag name="IGUANATEXCURSOR" val="181"/>
  <p:tag name="TRANSPARENCY" val="True"/>
  <p:tag name="FILENAME" val=""/>
  <p:tag name="LATEXENGINEID" val="0"/>
  <p:tag name="TEMPFOLDER" val=".\temp\"/>
  <p:tag name="LATEXFORMHEIGHT" val="312"/>
  <p:tag name="LATEXFORMWIDTH" val="384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25.7218"/>
  <p:tag name="ORIGINALWIDTH" val="1501.312"/>
  <p:tag name="LATEXADDIN" val="\documentclass{article}&#10;\usepackage{amsmath}&#10;\pagestyle{empty}&#10;\begin{document}&#10;&#10;$$d_2 = d_1 - \sigma_A \sqrt{T}$$&#10;&#10;&#10;&#10;\end{document}"/>
  <p:tag name="IGUANATEXSIZE" val="20"/>
  <p:tag name="IGUANATEXCURSOR" val="115"/>
  <p:tag name="TRANSPARENCY" val="True"/>
  <p:tag name="FILENAME" val=""/>
  <p:tag name="LATEXENGINEID" val="0"/>
  <p:tag name="TEMPFOLDER" val=".\temp\"/>
  <p:tag name="LATEXFORMHEIGHT" val="312"/>
  <p:tag name="LATEXFORMWIDTH" val="384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31.1961"/>
  <p:tag name="ORIGINALWIDTH" val="1831.271"/>
  <p:tag name="LATEXADDIN" val="\documentclass{article}&#10;\usepackage{amsmath}&#10;\pagestyle{empty}&#10;\begin{document}&#10;&#10;$$\sigma_E = \frac{A}{E} \cdot N(d_1) \cdot \sigma_A$$  &#10;&#10;&#10;\end{document}"/>
  <p:tag name="IGUANATEXSIZE" val="18"/>
  <p:tag name="IGUANATEXCURSOR" val="137"/>
  <p:tag name="TRANSPARENCY" val="True"/>
  <p:tag name="FILENAME" val=""/>
  <p:tag name="LATEXENGINEID" val="0"/>
  <p:tag name="TEMPFOLDER" val=".\temp\"/>
  <p:tag name="LATEXFORMHEIGHT" val="312"/>
  <p:tag name="LATEXFORMWIDTH" val="384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539.1826"/>
  <p:tag name="ORIGINALWIDTH" val="2882.64"/>
  <p:tag name="LATEXADDIN" val="\documentclass{article}&#10;\usepackage{amsmath}&#10;\pagestyle{empty}&#10;\begin{document}&#10;&#10;$$DD = \frac{\ln\left(\frac{A}{L}\right) + \left(\mu_A - 0.5\sigma_A^2\right)T}{\sigma_A \sqrt{T}}$$  &#10;&#10;&#10;\end{document}"/>
  <p:tag name="IGUANATEXSIZE" val="18"/>
  <p:tag name="IGUANATEXCURSOR" val="183"/>
  <p:tag name="TRANSPARENCY" val="True"/>
  <p:tag name="FILENAME" val=""/>
  <p:tag name="LATEXENGINEID" val="0"/>
  <p:tag name="TEMPFOLDER" val=".\temp\"/>
  <p:tag name="LATEXFORMHEIGHT" val="312"/>
  <p:tag name="LATEXFORMWIDTH" val="384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07.724"/>
  <p:tag name="ORIGINALWIDTH" val="1650.544"/>
  <p:tag name="LATEXADDIN" val="\documentclass{article}&#10;\usepackage{amsmath}&#10;\pagestyle{empty}&#10;\begin{document}&#10;&#10;&#10;$$PD = 1 - N(DD)$$  &#10;&#10;\end{document}"/>
  <p:tag name="IGUANATEXSIZE" val="20"/>
  <p:tag name="IGUANATEXCURSOR" val="102"/>
  <p:tag name="TRANSPARENCY" val="True"/>
  <p:tag name="FILENAME" val=""/>
  <p:tag name="LATEXENGINEID" val="0"/>
  <p:tag name="TEMPFOLDER" val=".\temp\"/>
  <p:tag name="LATEXFORMHEIGHT" val="312"/>
  <p:tag name="LATEXFORMWIDTH" val="384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19.985"/>
  <p:tag name="ORIGINALWIDTH" val="233.9708"/>
  <p:tag name="LATEXADDIN" val="\documentclass{article}&#10;\usepackage{amsmath}&#10;\pagestyle{empty}&#10;\begin{document}&#10;&#10;$\sigma_E$&#10;&#10;&#10;\end{document}"/>
  <p:tag name="IGUANATEXSIZE" val="18"/>
  <p:tag name="IGUANATEXCURSOR" val="90"/>
  <p:tag name="TRANSPARENCY" val="True"/>
  <p:tag name="FILENAME" val=""/>
  <p:tag name="LATEXENGINEID" val="0"/>
  <p:tag name="TEMPFOLDER" val=".\temp\"/>
  <p:tag name="LATEXFORMHEIGHT" val="312"/>
  <p:tag name="LATEXFORMWIDTH" val="384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19.985"/>
  <p:tag name="ORIGINALWIDTH" val="228.7214"/>
  <p:tag name="LATEXADDIN" val="\documentclass{article}&#10;\usepackage{amsmath}&#10;\pagestyle{empty}&#10;\begin{document}&#10;&#10;$\sigma_A$&#10;&#10;&#10;\end{document}"/>
  <p:tag name="IGUANATEXSIZE" val="18"/>
  <p:tag name="IGUANATEXCURSOR" val="90"/>
  <p:tag name="TRANSPARENCY" val="True"/>
  <p:tag name="FILENAME" val=""/>
  <p:tag name="LATEXENGINEID" val="0"/>
  <p:tag name="TEMPFOLDER" val=".\temp\"/>
  <p:tag name="LATEXFORMHEIGHT" val="312"/>
  <p:tag name="LATEXFORMWIDTH" val="384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56.468"/>
  <p:tag name="ORIGINALWIDTH" val="130.4837"/>
  <p:tag name="LATEXADDIN" val="\documentclass{article}&#10;\usepackage{amsmath}&#10;\pagestyle{empty}&#10;\begin{document}&#10;&#10;$\frac{A}{E}$&#10;&#10;&#10;\end{document}"/>
  <p:tag name="IGUANATEXSIZE" val="18"/>
  <p:tag name="IGUANATEXCURSOR" val="93"/>
  <p:tag name="TRANSPARENCY" val="True"/>
  <p:tag name="FILENAME" val=""/>
  <p:tag name="LATEXENGINEID" val="0"/>
  <p:tag name="TEMPFOLDER" val=".\temp\"/>
  <p:tag name="LATEXFORMHEIGHT" val="312"/>
  <p:tag name="LATEXFORMWIDTH" val="384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36.4829"/>
  <p:tag name="ORIGINALWIDTH" val="236.9704"/>
  <p:tag name="LATEXADDIN" val="\documentclass{article}&#10;\usepackage{amsmath}&#10;\pagestyle{empty}&#10;\begin{document}&#10;&#10;&#10;$\mu_A$&#10;&#10;\end{document}"/>
  <p:tag name="IGUANATEXSIZE" val="18"/>
  <p:tag name="IGUANATEXCURSOR" val="88"/>
  <p:tag name="TRANSPARENCY" val="True"/>
  <p:tag name="FILENAME" val=""/>
  <p:tag name="LATEXENGINEID" val="0"/>
  <p:tag name="TEMPFOLDER" val=".\temp\"/>
  <p:tag name="LATEXFORMHEIGHT" val="312"/>
  <p:tag name="LATEXFORMWIDTH" val="384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574.4282"/>
  <p:tag name="ORIGINALWIDTH" val="2998.875"/>
  <p:tag name="LATEXADDIN" val="\documentclass{article}&#10;\usepackage{amsmath}&#10;\pagestyle{empty}&#10;\begin{document}&#10;&#10;&#10;$$DD_{i,t} = \beta_{i,0} + \sum_{k=1}^{m} \beta_{i,k}\, M_{k,t} + \varepsilon_{i,t}$$&#10;&#10;\end{document}"/>
  <p:tag name="IGUANATEXSIZE" val="20"/>
  <p:tag name="IGUANATEXCURSOR" val="167"/>
  <p:tag name="TRANSPARENCY" val="True"/>
  <p:tag name="FILENAME" val=""/>
  <p:tag name="LATEXENGINEID" val="0"/>
  <p:tag name="TEMPFOLDER" val=".\temp\"/>
  <p:tag name="LATEXFORMHEIGHT" val="312"/>
  <p:tag name="LATEXFORMWIDTH" val="384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601.4248"/>
  <p:tag name="ORIGINALWIDTH" val="7320.584"/>
  <p:tag name="LATEXADDIN" val="\documentclass{article}&#10;\usepackage{amsmath}&#10;\pagestyle{empty}&#10;\begin{document}&#10;&#10;&#10;$$\underbrace{\text{Inflation, Interest Rate, Unemployment, USD/RUB}}_{M_t} \;\xrightarrow{\text{OLS}}\; DD_{i,t} \;\xrightarrow{\Phi(-DD)}\; PD_i$$&#10;&#10;\end{document}"/>
  <p:tag name="IGUANATEXSIZE" val="20"/>
  <p:tag name="IGUANATEXCURSOR" val="230"/>
  <p:tag name="TRANSPARENCY" val="True"/>
  <p:tag name="FILENAME" val=""/>
  <p:tag name="LATEXENGINEID" val="0"/>
  <p:tag name="TEMPFOLDER" val=".\temp\"/>
  <p:tag name="LATEXFORMHEIGHT" val="312"/>
  <p:tag name="LATEXFORMWIDTH" val="384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07.724"/>
  <p:tag name="ORIGINALWIDTH" val="945.6318"/>
  <p:tag name="LATEXADDIN" val="\documentclass{article}&#10;\usepackage{amsmath}&#10;\pagestyle{empty}&#10;\begin{document}&#10;($V$, $L$, $\sigma_V$)&#10;&#10;&#10;&#10;\end{document}"/>
  <p:tag name="IGUANATEXSIZE" val="18"/>
  <p:tag name="IGUANATEXCURSOR" val="102"/>
  <p:tag name="TRANSPARENCY" val="True"/>
  <p:tag name="FILENAME" val=""/>
  <p:tag name="LATEXENGINEID" val="0"/>
  <p:tag name="TEMPFOLDER" val=".\temp\"/>
  <p:tag name="LATEXFORMHEIGHT" val="312"/>
  <p:tag name="LATEXFORMWIDTH" val="384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7.4765"/>
  <p:tag name="ORIGINALWIDTH" val="862.3922"/>
  <p:tag name="LATEXADDIN" val="\documentclass{article}&#10;\usepackage{amsmath}&#10;\pagestyle{empty}&#10;\begin{document}&#10;&#10;$\beta = 0.073$&#10;&#10;&#10;\end{document}"/>
  <p:tag name="IGUANATEXSIZE" val="18"/>
  <p:tag name="IGUANATEXCURSOR" val="96"/>
  <p:tag name="TRANSPARENCY" val="True"/>
  <p:tag name="FILENAME" val=""/>
  <p:tag name="LATEXENGINEID" val="0"/>
  <p:tag name="TEMPFOLDER" val=".\temp\"/>
  <p:tag name="LATEXFORMHEIGHT" val="312"/>
  <p:tag name="LATEXFORMWIDTH" val="384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07.724"/>
  <p:tag name="ORIGINALWIDTH" val="4555.681"/>
  <p:tag name="LATEXADDIN" val="\documentclass{article}&#10;\usepackage{amsmath}&#10;\pagestyle{empty}&#10;\begin{document}&#10;&#10;$$M_t = \nu + A_1 M_{t-1} + A_2 M_{t-2} + \dots + A_p M_{t-p} + u_t$$&#10;&#10;&#10;\end{document}"/>
  <p:tag name="IGUANATEXSIZE" val="20"/>
  <p:tag name="IGUANATEXCURSOR" val="150"/>
  <p:tag name="TRANSPARENCY" val="True"/>
  <p:tag name="FILENAME" val=""/>
  <p:tag name="LATEXENGINEID" val="0"/>
  <p:tag name="TEMPFOLDER" val=".\"/>
  <p:tag name="LATEXFORMHEIGHT" val="312"/>
  <p:tag name="LATEXFORMWIDTH" val="384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07.724"/>
  <p:tag name="ORIGINALWIDTH" val="2561.68"/>
  <p:tag name="LATEXADDIN" val="\documentclass{article}&#10;\usepackage{amsmath}&#10;\pagestyle{empty}&#10;\begin{document}&#10;&#10;$$y(t) = g(t) + s(t) + h(t) + \varepsilon_t$$&#10;&#10;&#10;\end{document}"/>
  <p:tag name="IGUANATEXSIZE" val="20"/>
  <p:tag name="IGUANATEXCURSOR" val="126"/>
  <p:tag name="TRANSPARENCY" val="True"/>
  <p:tag name="FILENAME" val=""/>
  <p:tag name="LATEXENGINEID" val="0"/>
  <p:tag name="TEMPFOLDER" val=".\temp\"/>
  <p:tag name="LATEXFORMHEIGHT" val="312"/>
  <p:tag name="LATEXFORMWIDTH" val="384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521.9348"/>
  <p:tag name="ORIGINALWIDTH" val="5349.831"/>
  <p:tag name="LATEXADDIN" val="\documentclass{article}&#10;\usepackage{amsmath}&#10;\pagestyle{empty}&#10;\begin{document}&#10;&#10;$$y_t = \underbrace{\text{AR}(p)}_{\text{memory}} + \underbrace{\text{MA}(q)}_{\text{errors}} + \underbrace{\text{Seasonal}(s{=}12)}_{\text{yearly cycles}} + \underbrace{X_t \beta}_{\text{exogenous factors}} + \varepsilon_t$$&#10;&#10;&#10;\end{document}"/>
  <p:tag name="IGUANATEXSIZE" val="20"/>
  <p:tag name="IGUANATEXCURSOR" val="306"/>
  <p:tag name="TRANSPARENCY" val="True"/>
  <p:tag name="FILENAME" val=""/>
  <p:tag name="LATEXENGINEID" val="0"/>
  <p:tag name="TEMPFOLDER" val=".\temp\"/>
  <p:tag name="LATEXFORMHEIGHT" val="312"/>
  <p:tag name="LATEXFORMWIDTH" val="384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953.8808"/>
  <p:tag name="ORIGINALWIDTH" val="5985.001"/>
  <p:tag name="LATEXADDIN" val="\documentclass{article}&#10;\usepackage{amsmath}&#10;\pagestyle{empty}&#10;\begin{document}&#10;&#10;$$J(w) = \lambda \cdot \underbrace{\sqrt{w^T \Sigma_V w}}_{\text{market risk}} + (1 - \lambda) \cdot \underbrace{\sum_{i=1}^{N} w_i \cdot PD_{i,\text{forecast}} \cdot LGD_i}_{\text{ (EL)}} \to \min_w$$&#10;&#10;&#10;\end{document}"/>
  <p:tag name="IGUANATEXSIZE" val="20"/>
  <p:tag name="IGUANATEXCURSOR" val="157"/>
  <p:tag name="TRANSPARENCY" val="True"/>
  <p:tag name="FILENAME" val=""/>
  <p:tag name="LATEXENGINEID" val="0"/>
  <p:tag name="TEMPFOLDER" val=".\temp\"/>
  <p:tag name="LATEXFORMHEIGHT" val="312"/>
  <p:tag name="LATEXFORMWIDTH" val="384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605.1743"/>
  <p:tag name="ORIGINALWIDTH" val="2719.91"/>
  <p:tag name="LATEXADDIN" val="\documentclass{article}&#10;\usepackage{amsmath}&#10;\pagestyle{empty}&#10;\begin{document}&#10;&#10;$$\sum_{i=1}^{N} w_i = 1, \quad 0.02 \leq w_i \leq 0.25$$&#10;&#10;&#10;\end{document}"/>
  <p:tag name="IGUANATEXSIZE" val="20"/>
  <p:tag name="IGUANATEXCURSOR" val="138"/>
  <p:tag name="TRANSPARENCY" val="True"/>
  <p:tag name="FILENAME" val=""/>
  <p:tag name="LATEXENGINEID" val="0"/>
  <p:tag name="TEMPFOLDER" val=".\temp\"/>
  <p:tag name="LATEXFORMHEIGHT" val="312"/>
  <p:tag name="LATEXFORMWIDTH" val="384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48.9689"/>
  <p:tag name="ORIGINALWIDTH" val="3827.521"/>
  <p:tag name="LATEXADDIN" val="\documentclass{article}&#10;\usepackage{amsmath}&#10;\pagestyle{empty}&#10;\begin{document}&#10;&#10;$$CVaR_\alpha(w) = E\bigl[L(w) \mid L(w) \geq VaR_\alpha(w)\bigr]$$&#10;&#10;&#10;\end{document}"/>
  <p:tag name="IGUANATEXSIZE" val="20"/>
  <p:tag name="IGUANATEXCURSOR" val="148"/>
  <p:tag name="TRANSPARENCY" val="True"/>
  <p:tag name="FILENAME" val=""/>
  <p:tag name="LATEXENGINEID" val="0"/>
  <p:tag name="TEMPFOLDER" val=".\temp\"/>
  <p:tag name="LATEXFORMHEIGHT" val="312"/>
  <p:tag name="LATEXFORMWIDTH" val="384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33.4458"/>
  <p:tag name="ORIGINALWIDTH" val="2220.472"/>
  <p:tag name="LATEXADDIN" val="\documentclass{article}&#10;\usepackage{amsmath}&#10;\pagestyle{empty}&#10;\begin{document}&#10;&#10;&#10;$$\tilde{r}_i^{(s)} = r_i^{(s)} - \frac{PD_i \cdot LGD}{252}$$&#10;&#10;\end{document}"/>
  <p:tag name="IGUANATEXSIZE" val="20"/>
  <p:tag name="IGUANATEXCURSOR" val="144"/>
  <p:tag name="TRANSPARENCY" val="True"/>
  <p:tag name="FILENAME" val=""/>
  <p:tag name="LATEXENGINEID" val="0"/>
  <p:tag name="TEMPFOLDER" val=".\temp\"/>
  <p:tag name="LATEXFORMHEIGHT" val="312"/>
  <p:tag name="LATEXFORMWIDTH" val="384"/>
  <p:tag name="LATEXFORMWRAP" val="Tru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605.1743"/>
  <p:tag name="ORIGINALWIDTH" val="2431.946"/>
  <p:tag name="LATEXADDIN" val="\documentclass{article}&#10;\usepackage{amsmath}&#10;\pagestyle{empty}&#10;\begin{document}&#10;&#10;$$\min_{w, \zeta, u} \quad \zeta + \frac{1}{(1-\alpha)\,S} \sum_{s=1}^{S} u_s$$&#10;&#10;&#10;\end{document}"/>
  <p:tag name="IGUANATEXSIZE" val="20"/>
  <p:tag name="IGUANATEXCURSOR" val="160"/>
  <p:tag name="TRANSPARENCY" val="True"/>
  <p:tag name="FILENAME" val=""/>
  <p:tag name="LATEXENGINEID" val="0"/>
  <p:tag name="TEMPFOLDER" val=".\temp\"/>
  <p:tag name="LATEXFORMHEIGHT" val="312"/>
  <p:tag name="LATEXFORMWIDTH" val="384"/>
  <p:tag name="LATEXFORMWRAP" val="Tru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43.1946"/>
  <p:tag name="ORIGINALWIDTH" val="6032.996"/>
  <p:tag name="LATEXADDIN" val="\documentclass{article}&#10;\usepackage{amsmath}&#10;\pagestyle{empty}&#10;\begin{document}&#10;&#10;$$\text{for:} \quad u_s \geq -w^T \tilde{r}^{(s)} - \zeta, \quad u_s \geq 0, \quad \sum_i w_i = 1, \quad 0.02 \leq w_i \leq 0.25$$&#10;&#10;&#10;\end{document}"/>
  <p:tag name="IGUANATEXSIZE" val="20"/>
  <p:tag name="IGUANATEXCURSOR" val="92"/>
  <p:tag name="TRANSPARENCY" val="True"/>
  <p:tag name="FILENAME" val=""/>
  <p:tag name="LATEXENGINEID" val="0"/>
  <p:tag name="TEMPFOLDER" val=".\temp\"/>
  <p:tag name="LATEXFORMHEIGHT" val="312"/>
  <p:tag name="LATEXFORMWIDTH" val="384"/>
  <p:tag name="LATEXFORMWRAP" val="True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776.9029"/>
  <p:tag name="ORIGINALWIDTH" val="3748.781"/>
  <p:tag name="LATEXADDIN" val="\documentclass{article}&#10;\usepackage{amsmath}&#10;\pagestyle{empty}&#10;&#10;\begin{document}&#10;&#10;&#10;$$CRC_i(w) = \underbrace{w_i \cdot \frac{(\Sigma\, w)_i}{\sigma(w)}}_{{\text{market term}}} + \underbrace{w_i \cdot PD_i \cdot LGD}_{{\text{credit term}}}$$&#10;&#10;&#10;\end{document}"/>
  <p:tag name="IGUANATEXSIZE" val="20"/>
  <p:tag name="IGUANATEXCURSOR" val="153"/>
  <p:tag name="TRANSPARENCY" val="True"/>
  <p:tag name="FILENAME" val=""/>
  <p:tag name="LATEXENGINEID" val="0"/>
  <p:tag name="TEMPFOLDER" val=".\temp\"/>
  <p:tag name="LATEXFORMHEIGHT" val="312"/>
  <p:tag name="LATEXFORMWIDTH" val="384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307.837"/>
  <p:tag name="ORIGINALWIDTH" val="3271.841"/>
  <p:tag name="LATEXADDIN" val="\documentclass{article}&#10;\usepackage{amsmath}&#10;\pagestyle{empty}&#10;\begin{document}&#10;&#10;$$\min_w \sum_{i &lt; j} \bigl( CRC_i(w) - CRC_j(w) \bigr)^2$$&#10;&#10;$$\text{for:} \quad \sum_{i=1}^{N} w_i = 1, \quad 0.02 \leq w_i \leq 0.25$$&#10;&#10;&#10;\end{document}"/>
  <p:tag name="IGUANATEXSIZE" val="20"/>
  <p:tag name="IGUANATEXCURSOR" val="153"/>
  <p:tag name="TRANSPARENCY" val="True"/>
  <p:tag name="FILENAME" val=""/>
  <p:tag name="LATEXENGINEID" val="0"/>
  <p:tag name="TEMPFOLDER" val=".\temp\"/>
  <p:tag name="LATEXFORMHEIGHT" val="312"/>
  <p:tag name="LATEXFORMWIDTH" val="384"/>
  <p:tag name="LATEXFORMWRAP" val="True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03.2246"/>
  <p:tag name="ORIGINALWIDTH" val="4150.731"/>
  <p:tag name="LATEXADDIN" val="\documentclass{article}&#10;\usepackage{amsmath}&#10;\pagestyle{empty}&#10;\begin{document}&#10;&#10;&#10;$$Y_t = c + \phi_1 Y_{t-1} + \phi_2 Y_{t-2} + \dots + \phi_p Y_{t-p} + \varepsilon_t,$$  &#10;&#10;\end{document}"/>
  <p:tag name="IGUANATEXSIZE" val="20"/>
  <p:tag name="IGUANATEXCURSOR" val="171"/>
  <p:tag name="TRANSPARENCY" val="True"/>
  <p:tag name="FILENAME" val=""/>
  <p:tag name="LATEXENGINEID" val="0"/>
  <p:tag name="TEMPFOLDER" val=".\temp\"/>
  <p:tag name="LATEXFORMHEIGHT" val="312"/>
  <p:tag name="LATEXFORMWIDTH" val="384"/>
  <p:tag name="LATEXFORMWRAP" val="Tru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24.222"/>
  <p:tag name="ORIGINALWIDTH" val="1558.305"/>
  <p:tag name="LATEXADDIN" val="\documentclass{article}&#10;\usepackage{amsmath}&#10;\pagestyle{empty}&#10;\begin{document}&#10;&#10;$( \varepsilon_t \sim WN(0, \sigma^2) ) $&#10;&#10;&#10;\end{document}"/>
  <p:tag name="IGUANATEXSIZE" val="18"/>
  <p:tag name="IGUANATEXCURSOR" val="119"/>
  <p:tag name="TRANSPARENCY" val="True"/>
  <p:tag name="FILENAME" val=""/>
  <p:tag name="LATEXENGINEID" val="0"/>
  <p:tag name="TEMPFOLDER" val=".\temp\"/>
  <p:tag name="LATEXFORMHEIGHT" val="312"/>
  <p:tag name="LATEXFORMWIDTH" val="384"/>
  <p:tag name="LATEXFORMWRAP" val="Tru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6.7267"/>
  <p:tag name="ORIGINALWIDTH" val="164.9794"/>
  <p:tag name="LATEXADDIN" val="\documentclass{article}&#10;\usepackage{amsmath}&#10;\pagestyle{empty}&#10;\begin{document}&#10;&#10;&#10;$\phi_i $&#10;&#10;\end{document}"/>
  <p:tag name="IGUANATEXSIZE" val="18"/>
  <p:tag name="IGUANATEXCURSOR" val="83"/>
  <p:tag name="TRANSPARENCY" val="True"/>
  <p:tag name="FILENAME" val=""/>
  <p:tag name="LATEXENGINEID" val="0"/>
  <p:tag name="TEMPFOLDER" val=".\temp\"/>
  <p:tag name="LATEXFORMHEIGHT" val="312"/>
  <p:tag name="LATEXFORMWIDTH" val="384"/>
  <p:tag name="LATEXFORMWRAP" val="Tru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64.192"/>
  <p:tag name="ORIGINALWIDTH" val="2071.991"/>
  <p:tag name="LATEXADDIN" val="\documentclass{article}&#10;\usepackage{amsmath}&#10;\pagestyle{empty}&#10;\begin{document}&#10;&#10;&#10;$$IRF(s) = \psi_s = \frac{\partial Y_{t+s}}{\partial \varepsilon_t},$$  &#10;&#10;\end{document}"/>
  <p:tag name="IGUANATEXSIZE" val="20"/>
  <p:tag name="IGUANATEXCURSOR" val="154"/>
  <p:tag name="TRANSPARENCY" val="True"/>
  <p:tag name="FILENAME" val=""/>
  <p:tag name="LATEXENGINEID" val="0"/>
  <p:tag name="TEMPFOLDER" val=".\temp\"/>
  <p:tag name="LATEXFORMHEIGHT" val="312"/>
  <p:tag name="LATEXFORMWIDTH" val="384"/>
  <p:tag name="LATEXFORMWRAP" val="True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70.2287"/>
  <p:tag name="ORIGINALWIDTH" val="528.684"/>
  <p:tag name="LATEXADDIN" val="\documentclass{article}&#10;\usepackage{amsmath}&#10;\pagestyle{empty}&#10;\begin{document}&#10;&#10;$\varepsilon_t = 1 $&#10;&#10;&#10;\end{document}"/>
  <p:tag name="IGUANATEXSIZE" val="20"/>
  <p:tag name="IGUANATEXCURSOR" val="100"/>
  <p:tag name="TRANSPARENCY" val="True"/>
  <p:tag name="FILENAME" val=""/>
  <p:tag name="LATEXENGINEID" val="0"/>
  <p:tag name="TEMPFOLDER" val=".\temp\"/>
  <p:tag name="LATEXFORMHEIGHT" val="312"/>
  <p:tag name="LATEXFORMWIDTH" val="384"/>
  <p:tag name="LATEXFORMWRAP" val="True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9.7263"/>
  <p:tag name="ORIGINALWIDTH" val="372.7034"/>
  <p:tag name="LATEXADDIN" val="\documentclass{article}&#10;\usepackage{amsmath}&#10;\pagestyle{empty}&#10;\begin{document}&#10;&#10;&#10;$Y_{t+s} $&#10;&#10;\end{document}"/>
  <p:tag name="IGUANATEXSIZE" val="20"/>
  <p:tag name="IGUANATEXCURSOR" val="91"/>
  <p:tag name="TRANSPARENCY" val="True"/>
  <p:tag name="FILENAME" val=""/>
  <p:tag name="LATEXENGINEID" val="0"/>
  <p:tag name="TEMPFOLDER" val=".\temp\"/>
  <p:tag name="LATEXFORMHEIGHT" val="312"/>
  <p:tag name="LATEXFORMWIDTH" val="384"/>
  <p:tag name="LATEXFORMWRAP" val="True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70.2287"/>
  <p:tag name="ORIGINALWIDTH" val="528.684"/>
  <p:tag name="LATEXADDIN" val="\documentclass{article}&#10;\usepackage{amsmath}&#10;\pagestyle{empty}&#10;\begin{document}&#10;&#10;$\varepsilon_t = 1 $&#10;&#10;&#10;\end{document}"/>
  <p:tag name="IGUANATEXSIZE" val="20"/>
  <p:tag name="IGUANATEXCURSOR" val="100"/>
  <p:tag name="TRANSPARENCY" val="True"/>
  <p:tag name="FILENAME" val=""/>
  <p:tag name="LATEXENGINEID" val="0"/>
  <p:tag name="TEMPFOLDER" val=".\temp\"/>
  <p:tag name="LATEXFORMHEIGHT" val="312"/>
  <p:tag name="LATEXFORMWIDTH" val="384"/>
  <p:tag name="LATEXFORMWRAP" val="True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9.7263"/>
  <p:tag name="ORIGINALWIDTH" val="372.7034"/>
  <p:tag name="LATEXADDIN" val="\documentclass{article}&#10;\usepackage{amsmath}&#10;\pagestyle{empty}&#10;\begin{document}&#10;&#10;&#10;$Y_{t+s} $&#10;&#10;\end{document}"/>
  <p:tag name="IGUANATEXSIZE" val="20"/>
  <p:tag name="IGUANATEXCURSOR" val="91"/>
  <p:tag name="TRANSPARENCY" val="True"/>
  <p:tag name="FILENAME" val=""/>
  <p:tag name="LATEXENGINEID" val="0"/>
  <p:tag name="TEMPFOLDER" val=".\temp\"/>
  <p:tag name="LATEXFORMHEIGHT" val="312"/>
  <p:tag name="LATEXFORMWIDTH" val="384"/>
  <p:tag name="LATEXFORMWRAP" val="True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6.7267"/>
  <p:tag name="ORIGINALWIDTH" val="197.2254"/>
  <p:tag name="LATEXADDIN" val="\documentclass{article}&#10;\usepackage{amsmath}&#10;\pagestyle{empty}&#10;\begin{document}&#10;&#10;$\psi_s $&#10;&#10;&#10;\end{document}"/>
  <p:tag name="IGUANATEXSIZE" val="20"/>
  <p:tag name="IGUANATEXCURSOR" val="89"/>
  <p:tag name="TRANSPARENCY" val="True"/>
  <p:tag name="FILENAME" val=""/>
  <p:tag name="LATEXENGINEID" val="0"/>
  <p:tag name="TEMPFOLDER" val=".\temp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20484</TotalTime>
  <Words>2375</Words>
  <Application>Microsoft Office PowerPoint</Application>
  <PresentationFormat>Широкоэкранный</PresentationFormat>
  <Paragraphs>527</Paragraphs>
  <Slides>31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41" baseType="lpstr">
      <vt:lpstr>Aptos</vt:lpstr>
      <vt:lpstr>Aptos Display</vt:lpstr>
      <vt:lpstr>Arial</vt:lpstr>
      <vt:lpstr>Calibri</vt:lpstr>
      <vt:lpstr>Cambria Math</vt:lpstr>
      <vt:lpstr>Consolas</vt:lpstr>
      <vt:lpstr>Times New Roman</vt:lpstr>
      <vt:lpstr>TimesNewRomanPS-BoldMT</vt:lpstr>
      <vt:lpstr>Wingdings</vt:lpstr>
      <vt:lpstr>Office Theme</vt:lpstr>
      <vt:lpstr>Презентация PowerPoint</vt:lpstr>
      <vt:lpstr>Виды риска</vt:lpstr>
      <vt:lpstr>Модели портфельного риска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Оптимизация портфеля: стратегия Mean-EL</vt:lpstr>
      <vt:lpstr>Стратегии управления. CVaR</vt:lpstr>
      <vt:lpstr>Презентация PowerPoint</vt:lpstr>
      <vt:lpstr>Risk Parity: равный вклад в кредитно-рыночный риск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Приложения</vt:lpstr>
      <vt:lpstr>Обзор методов моделирования управления кредитным портфелем банка</vt:lpstr>
      <vt:lpstr>Презентация PowerPoint</vt:lpstr>
      <vt:lpstr>Обзор методов моделирования управления кредитным портфелем банка</vt:lpstr>
      <vt:lpstr>Презентация PowerPoint</vt:lpstr>
      <vt:lpstr>Виды риска</vt:lpstr>
      <vt:lpstr>Что сделано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Максим Кирякин</dc:creator>
  <cp:lastModifiedBy>Maxim</cp:lastModifiedBy>
  <cp:revision>83</cp:revision>
  <dcterms:created xsi:type="dcterms:W3CDTF">2024-12-01T17:15:46Z</dcterms:created>
  <dcterms:modified xsi:type="dcterms:W3CDTF">2026-03-07T22:27:14Z</dcterms:modified>
</cp:coreProperties>
</file>